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56" r:id="rId2"/>
    <p:sldId id="257" r:id="rId3"/>
    <p:sldId id="258" r:id="rId4"/>
    <p:sldId id="263" r:id="rId5"/>
    <p:sldId id="274" r:id="rId6"/>
    <p:sldId id="264" r:id="rId7"/>
    <p:sldId id="265" r:id="rId8"/>
    <p:sldId id="266" r:id="rId9"/>
    <p:sldId id="267" r:id="rId10"/>
    <p:sldId id="270" r:id="rId11"/>
    <p:sldId id="271" r:id="rId12"/>
    <p:sldId id="269" r:id="rId13"/>
    <p:sldId id="288" r:id="rId14"/>
    <p:sldId id="259" r:id="rId15"/>
    <p:sldId id="260" r:id="rId16"/>
    <p:sldId id="261" r:id="rId17"/>
    <p:sldId id="262" r:id="rId18"/>
    <p:sldId id="287" r:id="rId19"/>
    <p:sldId id="283" r:id="rId20"/>
    <p:sldId id="291" r:id="rId21"/>
    <p:sldId id="284" r:id="rId22"/>
    <p:sldId id="290" r:id="rId23"/>
    <p:sldId id="285" r:id="rId24"/>
    <p:sldId id="289" r:id="rId25"/>
    <p:sldId id="286" r:id="rId26"/>
    <p:sldId id="272" r:id="rId27"/>
    <p:sldId id="273" r:id="rId2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A2A003AD-6CD0-4B66-A4BE-F8B436935D7C}">
          <p14:sldIdLst>
            <p14:sldId id="256"/>
            <p14:sldId id="257"/>
            <p14:sldId id="258"/>
            <p14:sldId id="263"/>
            <p14:sldId id="274"/>
            <p14:sldId id="264"/>
            <p14:sldId id="265"/>
            <p14:sldId id="266"/>
            <p14:sldId id="267"/>
            <p14:sldId id="270"/>
            <p14:sldId id="271"/>
            <p14:sldId id="269"/>
            <p14:sldId id="288"/>
            <p14:sldId id="259"/>
            <p14:sldId id="260"/>
            <p14:sldId id="261"/>
            <p14:sldId id="262"/>
            <p14:sldId id="287"/>
            <p14:sldId id="283"/>
            <p14:sldId id="291"/>
            <p14:sldId id="284"/>
            <p14:sldId id="290"/>
            <p14:sldId id="285"/>
            <p14:sldId id="289"/>
            <p14:sldId id="286"/>
            <p14:sldId id="272"/>
            <p14:sldId id="273"/>
          </p14:sldIdLst>
        </p14:section>
      </p14:sectionLst>
    </p:ex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hhR1aLYUKw8uPyuqMv0N0ejbFO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0BD25F-960E-4EDE-841B-6BAD378992E6}">
  <a:tblStyle styleId="{F90BD25F-960E-4EDE-841B-6BAD378992E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1CDC17D-0BAF-49D1-A989-1BA96F3E33D5}"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EEEF"/>
          </a:solidFill>
        </a:fill>
      </a:tcStyle>
    </a:wholeTbl>
    <a:band1H>
      <a:tcTxStyle/>
      <a:tcStyle>
        <a:tcBdr/>
        <a:fill>
          <a:solidFill>
            <a:srgbClr val="D5DBDE"/>
          </a:solidFill>
        </a:fill>
      </a:tcStyle>
    </a:band1H>
    <a:band2H>
      <a:tcTxStyle/>
      <a:tcStyle>
        <a:tcBdr/>
      </a:tcStyle>
    </a:band2H>
    <a:band1V>
      <a:tcTxStyle/>
      <a:tcStyle>
        <a:tcBdr/>
        <a:fill>
          <a:solidFill>
            <a:srgbClr val="D5DBDE"/>
          </a:solidFill>
        </a:fill>
      </a:tcStyle>
    </a:band1V>
    <a:band2V>
      <a:tcTxStyle/>
      <a:tcStyle>
        <a:tcBdr/>
      </a:tcStyle>
    </a:band2V>
    <a:lastCol>
      <a:tcTxStyle b="on" i="off">
        <a:font>
          <a:latin typeface="Arial"/>
          <a:ea typeface="Arial"/>
          <a:cs typeface="Arial"/>
        </a:font>
        <a:schemeClr val="lt1"/>
      </a:tcTxStyle>
      <a:tcStyle>
        <a:tcBdr/>
        <a:fill>
          <a:solidFill>
            <a:schemeClr val="accent3"/>
          </a:solidFill>
        </a:fill>
      </a:tcStyle>
    </a:lastCol>
    <a:firstCol>
      <a:tcTxStyle b="on" i="off">
        <a:font>
          <a:latin typeface="Arial"/>
          <a:ea typeface="Arial"/>
          <a:cs typeface="Arial"/>
        </a:font>
        <a:schemeClr val="lt1"/>
      </a:tcTxStyle>
      <a:tcStyle>
        <a:tcBdr/>
        <a:fill>
          <a:solidFill>
            <a:schemeClr val="accent3"/>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 name="Google Shape;5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 name="Google Shape;7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2"/>
          <p:cNvSpPr txBox="1">
            <a:spLocks noGrp="1"/>
          </p:cNvSpPr>
          <p:nvPr>
            <p:ph type="title"/>
          </p:nvPr>
        </p:nvSpPr>
        <p:spPr>
          <a:xfrm>
            <a:off x="311708" y="744574"/>
            <a:ext cx="8520601" cy="2052601"/>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000000"/>
              </a:buClr>
              <a:buSzPts val="5200"/>
              <a:buFont typeface="Arial"/>
              <a:buNone/>
              <a:defRPr sz="52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11" name="Google Shape;11;p22"/>
          <p:cNvSpPr txBox="1">
            <a:spLocks noGrp="1"/>
          </p:cNvSpPr>
          <p:nvPr>
            <p:ph type="body" idx="1"/>
          </p:nvPr>
        </p:nvSpPr>
        <p:spPr>
          <a:xfrm>
            <a:off x="311699" y="2834125"/>
            <a:ext cx="8520602" cy="792601"/>
          </a:xfrm>
          <a:prstGeom prst="rect">
            <a:avLst/>
          </a:prstGeom>
          <a:noFill/>
          <a:ln>
            <a:noFill/>
          </a:ln>
        </p:spPr>
        <p:txBody>
          <a:bodyPr spcFirstLastPara="1" wrap="square" lIns="91400" tIns="91400" rIns="91400" bIns="91400" anchor="t" anchorCtr="0">
            <a:normAutofit/>
          </a:bodyPr>
          <a:lstStyle>
            <a:lvl1pPr marL="457200" lvl="0" indent="-228600" algn="ctr">
              <a:lnSpc>
                <a:spcPct val="100000"/>
              </a:lnSpc>
              <a:spcBef>
                <a:spcPts val="0"/>
              </a:spcBef>
              <a:spcAft>
                <a:spcPts val="0"/>
              </a:spcAft>
              <a:buClr>
                <a:srgbClr val="585858"/>
              </a:buClr>
              <a:buSzPts val="2800"/>
              <a:buFont typeface="Arial"/>
              <a:buNone/>
              <a:defRPr sz="2800"/>
            </a:lvl1pPr>
            <a:lvl2pPr marL="914400" lvl="1" indent="-228600" algn="ctr">
              <a:lnSpc>
                <a:spcPct val="100000"/>
              </a:lnSpc>
              <a:spcBef>
                <a:spcPts val="0"/>
              </a:spcBef>
              <a:spcAft>
                <a:spcPts val="0"/>
              </a:spcAft>
              <a:buClr>
                <a:srgbClr val="585858"/>
              </a:buClr>
              <a:buSzPts val="2800"/>
              <a:buFont typeface="Arial"/>
              <a:buNone/>
              <a:defRPr sz="2800"/>
            </a:lvl2pPr>
            <a:lvl3pPr marL="1371600" lvl="2" indent="-228600" algn="ctr">
              <a:lnSpc>
                <a:spcPct val="100000"/>
              </a:lnSpc>
              <a:spcBef>
                <a:spcPts val="0"/>
              </a:spcBef>
              <a:spcAft>
                <a:spcPts val="0"/>
              </a:spcAft>
              <a:buClr>
                <a:srgbClr val="585858"/>
              </a:buClr>
              <a:buSzPts val="2800"/>
              <a:buFont typeface="Arial"/>
              <a:buNone/>
              <a:defRPr sz="2800"/>
            </a:lvl3pPr>
            <a:lvl4pPr marL="1828800" lvl="3" indent="-228600" algn="ctr">
              <a:lnSpc>
                <a:spcPct val="100000"/>
              </a:lnSpc>
              <a:spcBef>
                <a:spcPts val="0"/>
              </a:spcBef>
              <a:spcAft>
                <a:spcPts val="0"/>
              </a:spcAft>
              <a:buClr>
                <a:srgbClr val="585858"/>
              </a:buClr>
              <a:buSzPts val="2800"/>
              <a:buFont typeface="Arial"/>
              <a:buNone/>
              <a:defRPr sz="2800"/>
            </a:lvl4pPr>
            <a:lvl5pPr marL="2286000" lvl="4" indent="-228600" algn="ctr">
              <a:lnSpc>
                <a:spcPct val="100000"/>
              </a:lnSpc>
              <a:spcBef>
                <a:spcPts val="0"/>
              </a:spcBef>
              <a:spcAft>
                <a:spcPts val="0"/>
              </a:spcAft>
              <a:buClr>
                <a:srgbClr val="585858"/>
              </a:buClr>
              <a:buSzPts val="2800"/>
              <a:buFont typeface="Arial"/>
              <a:buNone/>
              <a:defRPr sz="2800"/>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12" name="Google Shape;12;p22"/>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_AND_BODY">
  <p:cSld name="TITLE_AND_BODY 2">
    <p:spTree>
      <p:nvGrpSpPr>
        <p:cNvPr id="1" name="Shape 13"/>
        <p:cNvGrpSpPr/>
        <p:nvPr/>
      </p:nvGrpSpPr>
      <p:grpSpPr>
        <a:xfrm>
          <a:off x="0" y="0"/>
          <a:ext cx="0" cy="0"/>
          <a:chOff x="0" y="0"/>
          <a:chExt cx="0" cy="0"/>
        </a:xfrm>
      </p:grpSpPr>
      <p:sp>
        <p:nvSpPr>
          <p:cNvPr id="14" name="Google Shape;14;p23"/>
          <p:cNvSpPr txBox="1">
            <a:spLocks noGrp="1"/>
          </p:cNvSpPr>
          <p:nvPr>
            <p:ph type="title"/>
          </p:nvPr>
        </p:nvSpPr>
        <p:spPr>
          <a:xfrm>
            <a:off x="311699" y="445025"/>
            <a:ext cx="8520602" cy="572701"/>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15" name="Google Shape;15;p23"/>
          <p:cNvSpPr txBox="1">
            <a:spLocks noGrp="1"/>
          </p:cNvSpPr>
          <p:nvPr>
            <p:ph type="body" idx="1"/>
          </p:nvPr>
        </p:nvSpPr>
        <p:spPr>
          <a:xfrm>
            <a:off x="311699" y="1152475"/>
            <a:ext cx="8520602" cy="3416400"/>
          </a:xfrm>
          <a:prstGeom prst="rect">
            <a:avLst/>
          </a:prstGeom>
          <a:noFill/>
          <a:ln>
            <a:noFill/>
          </a:ln>
        </p:spPr>
        <p:txBody>
          <a:bodyPr spcFirstLastPara="1" wrap="square" lIns="91400" tIns="91400" rIns="91400" bIns="91400" anchor="t"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16" name="Google Shape;16;p23"/>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BLANK" type="tx">
  <p:cSld name="TITLE_AND_BODY">
    <p:spTree>
      <p:nvGrpSpPr>
        <p:cNvPr id="1" name="Shape 17"/>
        <p:cNvGrpSpPr/>
        <p:nvPr/>
      </p:nvGrpSpPr>
      <p:grpSpPr>
        <a:xfrm>
          <a:off x="0" y="0"/>
          <a:ext cx="0" cy="0"/>
          <a:chOff x="0" y="0"/>
          <a:chExt cx="0" cy="0"/>
        </a:xfrm>
      </p:grpSpPr>
      <p:sp>
        <p:nvSpPr>
          <p:cNvPr id="18" name="Google Shape;18;p24"/>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a:lvl1pPr>
            <a:lvl2pPr marL="0" marR="0" lvl="1" indent="0" algn="r">
              <a:lnSpc>
                <a:spcPct val="100000"/>
              </a:lnSpc>
              <a:spcBef>
                <a:spcPts val="0"/>
              </a:spcBef>
              <a:spcAft>
                <a:spcPts val="0"/>
              </a:spcAft>
              <a:buClr>
                <a:srgbClr val="585858"/>
              </a:buClr>
              <a:buSzPts val="1000"/>
              <a:buFont typeface="Arial"/>
              <a:buNone/>
              <a:defRPr/>
            </a:lvl2pPr>
            <a:lvl3pPr marL="0" marR="0" lvl="2" indent="0" algn="r">
              <a:lnSpc>
                <a:spcPct val="100000"/>
              </a:lnSpc>
              <a:spcBef>
                <a:spcPts val="0"/>
              </a:spcBef>
              <a:spcAft>
                <a:spcPts val="0"/>
              </a:spcAft>
              <a:buClr>
                <a:srgbClr val="585858"/>
              </a:buClr>
              <a:buSzPts val="1000"/>
              <a:buFont typeface="Arial"/>
              <a:buNone/>
              <a:defRPr/>
            </a:lvl3pPr>
            <a:lvl4pPr marL="0" marR="0" lvl="3" indent="0" algn="r">
              <a:lnSpc>
                <a:spcPct val="100000"/>
              </a:lnSpc>
              <a:spcBef>
                <a:spcPts val="0"/>
              </a:spcBef>
              <a:spcAft>
                <a:spcPts val="0"/>
              </a:spcAft>
              <a:buClr>
                <a:srgbClr val="585858"/>
              </a:buClr>
              <a:buSzPts val="1000"/>
              <a:buFont typeface="Arial"/>
              <a:buNone/>
              <a:defRPr/>
            </a:lvl4pPr>
            <a:lvl5pPr marL="0" marR="0" lvl="4" indent="0" algn="r">
              <a:lnSpc>
                <a:spcPct val="100000"/>
              </a:lnSpc>
              <a:spcBef>
                <a:spcPts val="0"/>
              </a:spcBef>
              <a:spcAft>
                <a:spcPts val="0"/>
              </a:spcAft>
              <a:buClr>
                <a:srgbClr val="585858"/>
              </a:buClr>
              <a:buSzPts val="1000"/>
              <a:buFont typeface="Arial"/>
              <a:buNone/>
              <a:defRPr/>
            </a:lvl5pPr>
            <a:lvl6pPr marL="0" marR="0" lvl="5" indent="0" algn="r">
              <a:lnSpc>
                <a:spcPct val="100000"/>
              </a:lnSpc>
              <a:spcBef>
                <a:spcPts val="0"/>
              </a:spcBef>
              <a:spcAft>
                <a:spcPts val="0"/>
              </a:spcAft>
              <a:buClr>
                <a:srgbClr val="585858"/>
              </a:buClr>
              <a:buSzPts val="1000"/>
              <a:buFont typeface="Arial"/>
              <a:buNone/>
              <a:defRPr/>
            </a:lvl6pPr>
            <a:lvl7pPr marL="0" marR="0" lvl="6" indent="0" algn="r">
              <a:lnSpc>
                <a:spcPct val="100000"/>
              </a:lnSpc>
              <a:spcBef>
                <a:spcPts val="0"/>
              </a:spcBef>
              <a:spcAft>
                <a:spcPts val="0"/>
              </a:spcAft>
              <a:buClr>
                <a:srgbClr val="585858"/>
              </a:buClr>
              <a:buSzPts val="1000"/>
              <a:buFont typeface="Arial"/>
              <a:buNone/>
              <a:defRPr/>
            </a:lvl7pPr>
            <a:lvl8pPr marL="0" marR="0" lvl="7" indent="0" algn="r">
              <a:lnSpc>
                <a:spcPct val="100000"/>
              </a:lnSpc>
              <a:spcBef>
                <a:spcPts val="0"/>
              </a:spcBef>
              <a:spcAft>
                <a:spcPts val="0"/>
              </a:spcAft>
              <a:buClr>
                <a:srgbClr val="585858"/>
              </a:buClr>
              <a:buSzPts val="1000"/>
              <a:buFont typeface="Arial"/>
              <a:buNone/>
              <a:defRPr/>
            </a:lvl8pPr>
            <a:lvl9pPr marL="0" marR="0" lvl="8" indent="0" algn="r">
              <a:lnSpc>
                <a:spcPct val="100000"/>
              </a:lnSpc>
              <a:spcBef>
                <a:spcPts val="0"/>
              </a:spcBef>
              <a:spcAft>
                <a:spcPts val="0"/>
              </a:spcAft>
              <a:buClr>
                <a:srgbClr val="585858"/>
              </a:buClr>
              <a:buSzPts val="1000"/>
              <a:buFont typeface="Aria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_HEADER">
  <p:cSld name="TITLE_AND_BODY 3">
    <p:spTree>
      <p:nvGrpSpPr>
        <p:cNvPr id="1" name="Shape 19"/>
        <p:cNvGrpSpPr/>
        <p:nvPr/>
      </p:nvGrpSpPr>
      <p:grpSpPr>
        <a:xfrm>
          <a:off x="0" y="0"/>
          <a:ext cx="0" cy="0"/>
          <a:chOff x="0" y="0"/>
          <a:chExt cx="0" cy="0"/>
        </a:xfrm>
      </p:grpSpPr>
      <p:sp>
        <p:nvSpPr>
          <p:cNvPr id="20" name="Google Shape;20;p25"/>
          <p:cNvSpPr txBox="1">
            <a:spLocks noGrp="1"/>
          </p:cNvSpPr>
          <p:nvPr>
            <p:ph type="title"/>
          </p:nvPr>
        </p:nvSpPr>
        <p:spPr>
          <a:xfrm>
            <a:off x="311699" y="2150849"/>
            <a:ext cx="8520602" cy="841801"/>
          </a:xfrm>
          <a:prstGeom prst="rect">
            <a:avLst/>
          </a:prstGeom>
          <a:noFill/>
          <a:ln>
            <a:noFill/>
          </a:ln>
        </p:spPr>
        <p:txBody>
          <a:bodyPr spcFirstLastPara="1" wrap="square" lIns="91400" tIns="91400" rIns="91400" bIns="91400" anchor="ctr" anchorCtr="0">
            <a:normAutofit/>
          </a:bodyPr>
          <a:lstStyle>
            <a:lvl1pPr lvl="0" algn="ctr">
              <a:lnSpc>
                <a:spcPct val="100000"/>
              </a:lnSpc>
              <a:spcBef>
                <a:spcPts val="0"/>
              </a:spcBef>
              <a:spcAft>
                <a:spcPts val="0"/>
              </a:spcAft>
              <a:buClr>
                <a:srgbClr val="000000"/>
              </a:buClr>
              <a:buSzPts val="3600"/>
              <a:buFont typeface="Arial"/>
              <a:buNone/>
              <a:defRPr sz="36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21" name="Google Shape;21;p25"/>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spTree>
      <p:nvGrpSpPr>
        <p:cNvPr id="1" name="Shape 22"/>
        <p:cNvGrpSpPr/>
        <p:nvPr/>
      </p:nvGrpSpPr>
      <p:grpSpPr>
        <a:xfrm>
          <a:off x="0" y="0"/>
          <a:ext cx="0" cy="0"/>
          <a:chOff x="0" y="0"/>
          <a:chExt cx="0" cy="0"/>
        </a:xfrm>
      </p:grpSpPr>
      <p:sp>
        <p:nvSpPr>
          <p:cNvPr id="23" name="Google Shape;23;p26"/>
          <p:cNvSpPr txBox="1">
            <a:spLocks noGrp="1"/>
          </p:cNvSpPr>
          <p:nvPr>
            <p:ph type="title"/>
          </p:nvPr>
        </p:nvSpPr>
        <p:spPr>
          <a:xfrm>
            <a:off x="311699" y="445025"/>
            <a:ext cx="8520602" cy="572701"/>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24" name="Google Shape;24;p26"/>
          <p:cNvSpPr txBox="1">
            <a:spLocks noGrp="1"/>
          </p:cNvSpPr>
          <p:nvPr>
            <p:ph type="body" idx="1"/>
          </p:nvPr>
        </p:nvSpPr>
        <p:spPr>
          <a:xfrm>
            <a:off x="311699" y="1152475"/>
            <a:ext cx="3999902" cy="3416400"/>
          </a:xfrm>
          <a:prstGeom prst="rect">
            <a:avLst/>
          </a:prstGeom>
          <a:noFill/>
          <a:ln>
            <a:noFill/>
          </a:ln>
        </p:spPr>
        <p:txBody>
          <a:bodyPr spcFirstLastPara="1" wrap="square" lIns="91400" tIns="91400" rIns="91400" bIns="91400" anchor="t" anchorCtr="0">
            <a:normAutofit/>
          </a:bodyPr>
          <a:lstStyle>
            <a:lvl1pPr marL="457200" lvl="0" indent="-317500" algn="l">
              <a:lnSpc>
                <a:spcPct val="115000"/>
              </a:lnSpc>
              <a:spcBef>
                <a:spcPts val="0"/>
              </a:spcBef>
              <a:spcAft>
                <a:spcPts val="0"/>
              </a:spcAft>
              <a:buSzPts val="1400"/>
              <a:buChar char="●"/>
              <a:defRPr sz="1400"/>
            </a:lvl1pPr>
            <a:lvl2pPr marL="914400" lvl="1" indent="-317500" algn="l">
              <a:lnSpc>
                <a:spcPct val="115000"/>
              </a:lnSpc>
              <a:spcBef>
                <a:spcPts val="0"/>
              </a:spcBef>
              <a:spcAft>
                <a:spcPts val="0"/>
              </a:spcAft>
              <a:buSzPts val="1400"/>
              <a:buChar char="○"/>
              <a:defRPr sz="1400"/>
            </a:lvl2pPr>
            <a:lvl3pPr marL="1371600" lvl="2" indent="-317500" algn="l">
              <a:lnSpc>
                <a:spcPct val="115000"/>
              </a:lnSpc>
              <a:spcBef>
                <a:spcPts val="0"/>
              </a:spcBef>
              <a:spcAft>
                <a:spcPts val="0"/>
              </a:spcAft>
              <a:buSzPts val="1400"/>
              <a:buChar char="■"/>
              <a:defRPr sz="1400"/>
            </a:lvl3pPr>
            <a:lvl4pPr marL="1828800" lvl="3" indent="-317500" algn="l">
              <a:lnSpc>
                <a:spcPct val="115000"/>
              </a:lnSpc>
              <a:spcBef>
                <a:spcPts val="0"/>
              </a:spcBef>
              <a:spcAft>
                <a:spcPts val="0"/>
              </a:spcAft>
              <a:buSzPts val="1400"/>
              <a:buChar char="●"/>
              <a:defRPr sz="1400"/>
            </a:lvl4pPr>
            <a:lvl5pPr marL="2286000" lvl="4" indent="-317500" algn="l">
              <a:lnSpc>
                <a:spcPct val="115000"/>
              </a:lnSpc>
              <a:spcBef>
                <a:spcPts val="0"/>
              </a:spcBef>
              <a:spcAft>
                <a:spcPts val="0"/>
              </a:spcAft>
              <a:buSzPts val="1400"/>
              <a:buChar char="○"/>
              <a:defRPr sz="1400"/>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25" name="Google Shape;25;p26"/>
          <p:cNvSpPr txBox="1">
            <a:spLocks noGrp="1"/>
          </p:cNvSpPr>
          <p:nvPr>
            <p:ph type="body" idx="2"/>
          </p:nvPr>
        </p:nvSpPr>
        <p:spPr>
          <a:xfrm>
            <a:off x="4832399" y="1152475"/>
            <a:ext cx="3999902" cy="3416400"/>
          </a:xfrm>
          <a:prstGeom prst="rect">
            <a:avLst/>
          </a:prstGeom>
          <a:noFill/>
          <a:ln>
            <a:noFill/>
          </a:ln>
        </p:spPr>
        <p:txBody>
          <a:bodyPr spcFirstLastPara="1" wrap="square" lIns="91400" tIns="91400" rIns="91400" bIns="91400" anchor="t"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26" name="Google Shape;26;p26"/>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27"/>
        <p:cNvGrpSpPr/>
        <p:nvPr/>
      </p:nvGrpSpPr>
      <p:grpSpPr>
        <a:xfrm>
          <a:off x="0" y="0"/>
          <a:ext cx="0" cy="0"/>
          <a:chOff x="0" y="0"/>
          <a:chExt cx="0" cy="0"/>
        </a:xfrm>
      </p:grpSpPr>
      <p:sp>
        <p:nvSpPr>
          <p:cNvPr id="28" name="Google Shape;28;p27"/>
          <p:cNvSpPr txBox="1">
            <a:spLocks noGrp="1"/>
          </p:cNvSpPr>
          <p:nvPr>
            <p:ph type="title"/>
          </p:nvPr>
        </p:nvSpPr>
        <p:spPr>
          <a:xfrm>
            <a:off x="311699" y="445025"/>
            <a:ext cx="8520602" cy="572701"/>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29" name="Google Shape;29;p27"/>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_COLUMN_TEXT">
  <p:cSld name="ONE_COLUMN_TEXT">
    <p:spTree>
      <p:nvGrpSpPr>
        <p:cNvPr id="1" name="Shape 30"/>
        <p:cNvGrpSpPr/>
        <p:nvPr/>
      </p:nvGrpSpPr>
      <p:grpSpPr>
        <a:xfrm>
          <a:off x="0" y="0"/>
          <a:ext cx="0" cy="0"/>
          <a:chOff x="0" y="0"/>
          <a:chExt cx="0" cy="0"/>
        </a:xfrm>
      </p:grpSpPr>
      <p:sp>
        <p:nvSpPr>
          <p:cNvPr id="31" name="Google Shape;31;p28"/>
          <p:cNvSpPr txBox="1">
            <a:spLocks noGrp="1"/>
          </p:cNvSpPr>
          <p:nvPr>
            <p:ph type="title"/>
          </p:nvPr>
        </p:nvSpPr>
        <p:spPr>
          <a:xfrm>
            <a:off x="311699" y="555600"/>
            <a:ext cx="2808001" cy="755700"/>
          </a:xfrm>
          <a:prstGeom prst="rect">
            <a:avLst/>
          </a:prstGeom>
          <a:noFill/>
          <a:ln>
            <a:noFill/>
          </a:ln>
        </p:spPr>
        <p:txBody>
          <a:bodyPr spcFirstLastPara="1" wrap="square" lIns="91400" tIns="91400" rIns="91400" bIns="91400" anchor="b" anchorCtr="0">
            <a:normAutofit/>
          </a:bodyPr>
          <a:lstStyle>
            <a:lvl1pPr lvl="0" algn="l">
              <a:lnSpc>
                <a:spcPct val="100000"/>
              </a:lnSpc>
              <a:spcBef>
                <a:spcPts val="0"/>
              </a:spcBef>
              <a:spcAft>
                <a:spcPts val="0"/>
              </a:spcAft>
              <a:buClr>
                <a:srgbClr val="000000"/>
              </a:buClr>
              <a:buSzPts val="2400"/>
              <a:buFont typeface="Arial"/>
              <a:buNone/>
              <a:defRPr sz="24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32" name="Google Shape;32;p28"/>
          <p:cNvSpPr txBox="1">
            <a:spLocks noGrp="1"/>
          </p:cNvSpPr>
          <p:nvPr>
            <p:ph type="body" idx="1"/>
          </p:nvPr>
        </p:nvSpPr>
        <p:spPr>
          <a:xfrm>
            <a:off x="311699" y="1389599"/>
            <a:ext cx="2808001" cy="3179401"/>
          </a:xfrm>
          <a:prstGeom prst="rect">
            <a:avLst/>
          </a:prstGeom>
          <a:noFill/>
          <a:ln>
            <a:noFill/>
          </a:ln>
        </p:spPr>
        <p:txBody>
          <a:bodyPr spcFirstLastPara="1" wrap="square" lIns="91400" tIns="91400" rIns="91400" bIns="91400"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33" name="Google Shape;33;p28"/>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_TITLE_AND_DESCRIPTION">
  <p:cSld name="SECTION_TITLE_AND_DESCRIPTION">
    <p:spTree>
      <p:nvGrpSpPr>
        <p:cNvPr id="1" name="Shape 34"/>
        <p:cNvGrpSpPr/>
        <p:nvPr/>
      </p:nvGrpSpPr>
      <p:grpSpPr>
        <a:xfrm>
          <a:off x="0" y="0"/>
          <a:ext cx="0" cy="0"/>
          <a:chOff x="0" y="0"/>
          <a:chExt cx="0" cy="0"/>
        </a:xfrm>
      </p:grpSpPr>
      <p:sp>
        <p:nvSpPr>
          <p:cNvPr id="35" name="Google Shape;35;p29"/>
          <p:cNvSpPr/>
          <p:nvPr/>
        </p:nvSpPr>
        <p:spPr>
          <a:xfrm>
            <a:off x="4572000" y="-125"/>
            <a:ext cx="4572000" cy="5143501"/>
          </a:xfrm>
          <a:prstGeom prst="rect">
            <a:avLst/>
          </a:prstGeom>
          <a:solidFill>
            <a:srgbClr val="EEEEEE"/>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29"/>
          <p:cNvSpPr txBox="1">
            <a:spLocks noGrp="1"/>
          </p:cNvSpPr>
          <p:nvPr>
            <p:ph type="title"/>
          </p:nvPr>
        </p:nvSpPr>
        <p:spPr>
          <a:xfrm>
            <a:off x="265500" y="1233175"/>
            <a:ext cx="4045200" cy="1482301"/>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000000"/>
              </a:buClr>
              <a:buSzPts val="4200"/>
              <a:buFont typeface="Arial"/>
              <a:buNone/>
              <a:defRPr sz="42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37" name="Google Shape;37;p29"/>
          <p:cNvSpPr txBox="1">
            <a:spLocks noGrp="1"/>
          </p:cNvSpPr>
          <p:nvPr>
            <p:ph type="body" idx="1"/>
          </p:nvPr>
        </p:nvSpPr>
        <p:spPr>
          <a:xfrm>
            <a:off x="265500" y="2803075"/>
            <a:ext cx="4045200" cy="1235101"/>
          </a:xfrm>
          <a:prstGeom prst="rect">
            <a:avLst/>
          </a:prstGeom>
          <a:noFill/>
          <a:ln>
            <a:noFill/>
          </a:ln>
        </p:spPr>
        <p:txBody>
          <a:bodyPr spcFirstLastPara="1" wrap="square" lIns="91400" tIns="91400" rIns="91400" bIns="91400" anchor="t" anchorCtr="0">
            <a:normAutofit/>
          </a:bodyPr>
          <a:lstStyle>
            <a:lvl1pPr marL="457200" lvl="0" indent="-228600" algn="ctr">
              <a:lnSpc>
                <a:spcPct val="100000"/>
              </a:lnSpc>
              <a:spcBef>
                <a:spcPts val="0"/>
              </a:spcBef>
              <a:spcAft>
                <a:spcPts val="0"/>
              </a:spcAft>
              <a:buClr>
                <a:srgbClr val="585858"/>
              </a:buClr>
              <a:buSzPts val="2100"/>
              <a:buFont typeface="Arial"/>
              <a:buNone/>
              <a:defRPr sz="2100"/>
            </a:lvl1pPr>
            <a:lvl2pPr marL="914400" lvl="1" indent="-228600" algn="ctr">
              <a:lnSpc>
                <a:spcPct val="100000"/>
              </a:lnSpc>
              <a:spcBef>
                <a:spcPts val="0"/>
              </a:spcBef>
              <a:spcAft>
                <a:spcPts val="0"/>
              </a:spcAft>
              <a:buClr>
                <a:srgbClr val="585858"/>
              </a:buClr>
              <a:buSzPts val="2100"/>
              <a:buFont typeface="Arial"/>
              <a:buNone/>
              <a:defRPr sz="2100"/>
            </a:lvl2pPr>
            <a:lvl3pPr marL="1371600" lvl="2" indent="-228600" algn="ctr">
              <a:lnSpc>
                <a:spcPct val="100000"/>
              </a:lnSpc>
              <a:spcBef>
                <a:spcPts val="0"/>
              </a:spcBef>
              <a:spcAft>
                <a:spcPts val="0"/>
              </a:spcAft>
              <a:buClr>
                <a:srgbClr val="585858"/>
              </a:buClr>
              <a:buSzPts val="2100"/>
              <a:buFont typeface="Arial"/>
              <a:buNone/>
              <a:defRPr sz="2100"/>
            </a:lvl3pPr>
            <a:lvl4pPr marL="1828800" lvl="3" indent="-228600" algn="ctr">
              <a:lnSpc>
                <a:spcPct val="100000"/>
              </a:lnSpc>
              <a:spcBef>
                <a:spcPts val="0"/>
              </a:spcBef>
              <a:spcAft>
                <a:spcPts val="0"/>
              </a:spcAft>
              <a:buClr>
                <a:srgbClr val="585858"/>
              </a:buClr>
              <a:buSzPts val="2100"/>
              <a:buFont typeface="Arial"/>
              <a:buNone/>
              <a:defRPr sz="2100"/>
            </a:lvl4pPr>
            <a:lvl5pPr marL="2286000" lvl="4" indent="-228600" algn="ctr">
              <a:lnSpc>
                <a:spcPct val="100000"/>
              </a:lnSpc>
              <a:spcBef>
                <a:spcPts val="0"/>
              </a:spcBef>
              <a:spcAft>
                <a:spcPts val="0"/>
              </a:spcAft>
              <a:buClr>
                <a:srgbClr val="585858"/>
              </a:buClr>
              <a:buSzPts val="2100"/>
              <a:buFont typeface="Arial"/>
              <a:buNone/>
              <a:defRPr sz="2100"/>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38" name="Google Shape;38;p29"/>
          <p:cNvSpPr txBox="1">
            <a:spLocks noGrp="1"/>
          </p:cNvSpPr>
          <p:nvPr>
            <p:ph type="body" idx="2"/>
          </p:nvPr>
        </p:nvSpPr>
        <p:spPr>
          <a:xfrm>
            <a:off x="4939500" y="724074"/>
            <a:ext cx="3837000" cy="3695102"/>
          </a:xfrm>
          <a:prstGeom prst="rect">
            <a:avLst/>
          </a:prstGeom>
          <a:noFill/>
          <a:ln>
            <a:noFill/>
          </a:ln>
        </p:spPr>
        <p:txBody>
          <a:bodyPr spcFirstLastPara="1" wrap="square" lIns="91400" tIns="91400" rIns="91400" bIns="91400" anchor="ctr"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39" name="Google Shape;39;p29"/>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_ONLY">
  <p:cSld name="CAPTION_ONLY">
    <p:spTree>
      <p:nvGrpSpPr>
        <p:cNvPr id="1" name="Shape 40"/>
        <p:cNvGrpSpPr/>
        <p:nvPr/>
      </p:nvGrpSpPr>
      <p:grpSpPr>
        <a:xfrm>
          <a:off x="0" y="0"/>
          <a:ext cx="0" cy="0"/>
          <a:chOff x="0" y="0"/>
          <a:chExt cx="0" cy="0"/>
        </a:xfrm>
      </p:grpSpPr>
      <p:sp>
        <p:nvSpPr>
          <p:cNvPr id="41" name="Google Shape;41;p30"/>
          <p:cNvSpPr txBox="1">
            <a:spLocks noGrp="1"/>
          </p:cNvSpPr>
          <p:nvPr>
            <p:ph type="body" idx="1"/>
          </p:nvPr>
        </p:nvSpPr>
        <p:spPr>
          <a:xfrm>
            <a:off x="311699" y="4230575"/>
            <a:ext cx="5998802" cy="605101"/>
          </a:xfrm>
          <a:prstGeom prst="rect">
            <a:avLst/>
          </a:prstGeom>
          <a:noFill/>
          <a:ln>
            <a:noFill/>
          </a:ln>
        </p:spPr>
        <p:txBody>
          <a:bodyPr spcFirstLastPara="1" wrap="square" lIns="91400" tIns="91400" rIns="91400" bIns="91400" anchor="ctr" anchorCtr="0">
            <a:normAutofit/>
          </a:bodyPr>
          <a:lstStyle>
            <a:lvl1pPr marL="457200" lvl="0" indent="-228600" algn="l">
              <a:lnSpc>
                <a:spcPct val="100000"/>
              </a:lnSpc>
              <a:spcBef>
                <a:spcPts val="0"/>
              </a:spcBef>
              <a:spcAft>
                <a:spcPts val="0"/>
              </a:spcAft>
              <a:buClr>
                <a:srgbClr val="585858"/>
              </a:buClr>
              <a:buSzPts val="1800"/>
              <a:buNone/>
              <a:defRPr/>
            </a:lvl1pPr>
          </a:lstStyle>
          <a:p>
            <a:endParaRPr/>
          </a:p>
        </p:txBody>
      </p:sp>
      <p:sp>
        <p:nvSpPr>
          <p:cNvPr id="42" name="Google Shape;42;p30"/>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_NUMBER">
  <p:cSld name="BIG_NUMBER">
    <p:spTree>
      <p:nvGrpSpPr>
        <p:cNvPr id="1" name="Shape 43"/>
        <p:cNvGrpSpPr/>
        <p:nvPr/>
      </p:nvGrpSpPr>
      <p:grpSpPr>
        <a:xfrm>
          <a:off x="0" y="0"/>
          <a:ext cx="0" cy="0"/>
          <a:chOff x="0" y="0"/>
          <a:chExt cx="0" cy="0"/>
        </a:xfrm>
      </p:grpSpPr>
      <p:sp>
        <p:nvSpPr>
          <p:cNvPr id="44" name="Google Shape;44;p31"/>
          <p:cNvSpPr txBox="1">
            <a:spLocks noGrp="1"/>
          </p:cNvSpPr>
          <p:nvPr>
            <p:ph type="title" hasCustomPrompt="1"/>
          </p:nvPr>
        </p:nvSpPr>
        <p:spPr>
          <a:xfrm>
            <a:off x="311699" y="1106125"/>
            <a:ext cx="8520602" cy="1963500"/>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000000"/>
              </a:buClr>
              <a:buSzPts val="12000"/>
              <a:buFont typeface="Arial"/>
              <a:buNone/>
              <a:defRPr sz="120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r>
              <a:t>xx%</a:t>
            </a:r>
          </a:p>
        </p:txBody>
      </p:sp>
      <p:sp>
        <p:nvSpPr>
          <p:cNvPr id="45" name="Google Shape;45;p31"/>
          <p:cNvSpPr txBox="1">
            <a:spLocks noGrp="1"/>
          </p:cNvSpPr>
          <p:nvPr>
            <p:ph type="body" idx="1"/>
          </p:nvPr>
        </p:nvSpPr>
        <p:spPr>
          <a:xfrm>
            <a:off x="311699" y="3152225"/>
            <a:ext cx="8520602" cy="1300800"/>
          </a:xfrm>
          <a:prstGeom prst="rect">
            <a:avLst/>
          </a:prstGeom>
          <a:noFill/>
          <a:ln>
            <a:noFill/>
          </a:ln>
        </p:spPr>
        <p:txBody>
          <a:bodyPr spcFirstLastPara="1" wrap="square" lIns="91400" tIns="91400" rIns="91400" bIns="91400" anchor="t" anchorCtr="0">
            <a:normAutofit/>
          </a:bodyPr>
          <a:lstStyle>
            <a:lvl1pPr marL="457200" lvl="0" indent="-342900" algn="ctr">
              <a:lnSpc>
                <a:spcPct val="115000"/>
              </a:lnSpc>
              <a:spcBef>
                <a:spcPts val="0"/>
              </a:spcBef>
              <a:spcAft>
                <a:spcPts val="0"/>
              </a:spcAft>
              <a:buSzPts val="1800"/>
              <a:buChar char="●"/>
              <a:defRPr/>
            </a:lvl1pPr>
            <a:lvl2pPr marL="914400" lvl="1" indent="-342900" algn="ctr">
              <a:lnSpc>
                <a:spcPct val="115000"/>
              </a:lnSpc>
              <a:spcBef>
                <a:spcPts val="0"/>
              </a:spcBef>
              <a:spcAft>
                <a:spcPts val="0"/>
              </a:spcAft>
              <a:buSzPts val="1800"/>
              <a:buChar char="○"/>
              <a:defRPr/>
            </a:lvl2pPr>
            <a:lvl3pPr marL="1371600" lvl="2" indent="-342900" algn="ctr">
              <a:lnSpc>
                <a:spcPct val="115000"/>
              </a:lnSpc>
              <a:spcBef>
                <a:spcPts val="0"/>
              </a:spcBef>
              <a:spcAft>
                <a:spcPts val="0"/>
              </a:spcAft>
              <a:buSzPts val="1800"/>
              <a:buChar char="■"/>
              <a:defRPr/>
            </a:lvl3pPr>
            <a:lvl4pPr marL="1828800" lvl="3" indent="-342900" algn="ctr">
              <a:lnSpc>
                <a:spcPct val="115000"/>
              </a:lnSpc>
              <a:spcBef>
                <a:spcPts val="0"/>
              </a:spcBef>
              <a:spcAft>
                <a:spcPts val="0"/>
              </a:spcAft>
              <a:buSzPts val="1800"/>
              <a:buChar char="●"/>
              <a:defRPr/>
            </a:lvl4pPr>
            <a:lvl5pPr marL="2286000" lvl="4" indent="-342900" algn="ctr">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46" name="Google Shape;46;p31"/>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7"/>
        <p:cNvGrpSpPr/>
        <p:nvPr/>
      </p:nvGrpSpPr>
      <p:grpSpPr>
        <a:xfrm>
          <a:off x="0" y="0"/>
          <a:ext cx="0" cy="0"/>
          <a:chOff x="0" y="0"/>
          <a:chExt cx="0" cy="0"/>
        </a:xfrm>
      </p:grpSpPr>
      <p:sp>
        <p:nvSpPr>
          <p:cNvPr id="48" name="Google Shape;48;p32"/>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B1EED-DE85-2CA1-D22E-8DE59EC5BD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B07E45D-C15F-389F-90F0-B85A2F5D4B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548336-E2C2-4582-DC59-640E93E5F0D4}"/>
              </a:ext>
            </a:extLst>
          </p:cNvPr>
          <p:cNvSpPr>
            <a:spLocks noGrp="1"/>
          </p:cNvSpPr>
          <p:nvPr>
            <p:ph type="dt" sz="half" idx="10"/>
          </p:nvPr>
        </p:nvSpPr>
        <p:spPr/>
        <p:txBody>
          <a:bodyPr/>
          <a:lstStyle/>
          <a:p>
            <a:fld id="{E202F4CF-03FD-4E57-8729-EB5115A2E373}" type="datetimeFigureOut">
              <a:rPr lang="en-IN" smtClean="0"/>
              <a:t>05-12-2025</a:t>
            </a:fld>
            <a:endParaRPr lang="en-IN"/>
          </a:p>
        </p:txBody>
      </p:sp>
      <p:sp>
        <p:nvSpPr>
          <p:cNvPr id="5" name="Footer Placeholder 4">
            <a:extLst>
              <a:ext uri="{FF2B5EF4-FFF2-40B4-BE49-F238E27FC236}">
                <a16:creationId xmlns:a16="http://schemas.microsoft.com/office/drawing/2014/main" id="{706420D4-522E-924E-2879-7967BFDC63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13582B-D96F-D008-2049-ECDC80060C46}"/>
              </a:ext>
            </a:extLst>
          </p:cNvPr>
          <p:cNvSpPr>
            <a:spLocks noGrp="1"/>
          </p:cNvSpPr>
          <p:nvPr>
            <p:ph type="sldNum" sz="quarter" idx="12"/>
          </p:nvPr>
        </p:nvSpPr>
        <p:spPr/>
        <p:txBody>
          <a:bodyPr/>
          <a:lstStyle/>
          <a:p>
            <a:fld id="{ADDC40F6-F103-423D-8CC8-CD906C71C837}" type="slidenum">
              <a:rPr lang="en-IN" smtClean="0"/>
              <a:t>‹#›</a:t>
            </a:fld>
            <a:endParaRPr lang="en-IN"/>
          </a:p>
        </p:txBody>
      </p:sp>
    </p:spTree>
    <p:extLst>
      <p:ext uri="{BB962C8B-B14F-4D97-AF65-F5344CB8AC3E}">
        <p14:creationId xmlns:p14="http://schemas.microsoft.com/office/powerpoint/2010/main" val="2935097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311699" y="445025"/>
            <a:ext cx="8520602" cy="572701"/>
          </a:xfrm>
          <a:prstGeom prst="rect">
            <a:avLst/>
          </a:prstGeom>
          <a:noFill/>
          <a:ln>
            <a:noFill/>
          </a:ln>
        </p:spPr>
        <p:txBody>
          <a:bodyPr spcFirstLastPara="1" wrap="square" lIns="91400" tIns="91400" rIns="91400" bIns="91400" anchor="t" anchorCtr="0">
            <a:normAutofit/>
          </a:bodyPr>
          <a:lstStyle>
            <a:lvl1pPr marR="0" lvl="0"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311699" y="1152475"/>
            <a:ext cx="8520602" cy="3416400"/>
          </a:xfrm>
          <a:prstGeom prst="rect">
            <a:avLst/>
          </a:prstGeom>
          <a:noFill/>
          <a:ln>
            <a:noFill/>
          </a:ln>
        </p:spPr>
        <p:txBody>
          <a:bodyPr spcFirstLastPara="1" wrap="square" lIns="91400" tIns="91400" rIns="91400" bIns="91400" anchor="t" anchorCtr="0">
            <a:normAutofit/>
          </a:bodyPr>
          <a:lstStyle>
            <a:lvl1pPr marL="457200" marR="0" lvl="0"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1pPr>
            <a:lvl2pPr marL="914400" marR="0" lvl="1"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2pPr>
            <a:lvl3pPr marL="1371600" marR="0" lvl="2"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3pPr>
            <a:lvl4pPr marL="1828800" marR="0" lvl="3"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4pPr>
            <a:lvl5pPr marL="2286000" marR="0" lvl="4"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5pPr>
            <a:lvl6pPr marL="2743200" marR="0" lvl="5"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6pPr>
            <a:lvl7pPr marL="3200400" marR="0" lvl="6"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7pPr>
            <a:lvl8pPr marL="3657600" marR="0" lvl="7"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8pPr>
            <a:lvl9pPr marL="4114800" marR="0" lvl="8"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9pPr>
          </a:lstStyle>
          <a:p>
            <a:endParaRPr/>
          </a:p>
        </p:txBody>
      </p:sp>
      <p:sp>
        <p:nvSpPr>
          <p:cNvPr id="8" name="Google Shape;8;p21"/>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a:bodyPr>
          <a:lstStyle>
            <a:lvl1pPr marL="0" marR="0" lvl="0"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drive.google.com/file/d/1Xr8vUJxsH3Rt6Qmowzwv2nb_KSspjqLi/view?usp=sharing"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doi.org/10.1109/IATMSI60426.2024.10503420" TargetMode="External"/><Relationship Id="rId7" Type="http://schemas.openxmlformats.org/officeDocument/2006/relationships/hyperlink" Target="https://ceur-ws.org/Vol-3681/T6-2.pdf"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proceedings.neurips.cc/paper_files/paper/2022/file/a7c4163b33286261b24c72fd3d1707c9-Paper-Datasets_and_Benchmarks.pdf" TargetMode="External"/><Relationship Id="rId5" Type="http://schemas.openxmlformats.org/officeDocument/2006/relationships/hyperlink" Target="https://doi.org/10.1109/InC457730.2023.10263218" TargetMode="External"/><Relationship Id="rId4" Type="http://schemas.openxmlformats.org/officeDocument/2006/relationships/hyperlink" Target="https://doi.org/10.1109/ICI60088.2023.10421672"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dl.acm.org/doi/10.1145/3632754.3633277" TargetMode="External"/><Relationship Id="rId7" Type="http://schemas.openxmlformats.org/officeDocument/2006/relationships/hyperlink" Target="https://aclanthology.org/2022.dravidianlangtech-1.44.pdf"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aclanthology.org/2025.dravidianlangtech-1.62.pdf" TargetMode="External"/><Relationship Id="rId5" Type="http://schemas.openxmlformats.org/officeDocument/2006/relationships/hyperlink" Target="https://arxiv.org/abs/2312.05671" TargetMode="External"/><Relationship Id="rId4" Type="http://schemas.openxmlformats.org/officeDocument/2006/relationships/hyperlink" Target="https://digitalcommons.isical.ac.in/conf-articles/54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1"/>
          <p:cNvSpPr txBox="1">
            <a:spLocks noGrp="1"/>
          </p:cNvSpPr>
          <p:nvPr>
            <p:ph type="ctrTitle" idx="4294967295"/>
          </p:nvPr>
        </p:nvSpPr>
        <p:spPr>
          <a:xfrm>
            <a:off x="0" y="397156"/>
            <a:ext cx="9144000" cy="1299641"/>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5200"/>
              <a:buFont typeface="Arial"/>
              <a:buNone/>
            </a:pPr>
            <a:br>
              <a:rPr lang="en-US" sz="2000" b="1" i="0" u="none" strike="noStrike" cap="none" dirty="0">
                <a:solidFill>
                  <a:srgbClr val="000000"/>
                </a:solidFill>
                <a:latin typeface="Times New Roman"/>
                <a:ea typeface="Times New Roman"/>
                <a:cs typeface="Times New Roman"/>
                <a:sym typeface="Times New Roman"/>
              </a:rPr>
            </a:br>
            <a:br>
              <a:rPr lang="en-US" sz="2000" b="1" i="0" u="none" strike="noStrike" cap="none" dirty="0">
                <a:solidFill>
                  <a:srgbClr val="000000"/>
                </a:solidFill>
                <a:latin typeface="Times New Roman"/>
                <a:ea typeface="Times New Roman"/>
                <a:cs typeface="Times New Roman"/>
                <a:sym typeface="Times New Roman"/>
              </a:rPr>
            </a:br>
            <a:br>
              <a:rPr lang="en-US" sz="2000" b="1" i="0" u="none" strike="noStrike" cap="none" dirty="0">
                <a:solidFill>
                  <a:srgbClr val="000000"/>
                </a:solidFill>
                <a:latin typeface="Times New Roman"/>
                <a:ea typeface="Times New Roman"/>
                <a:cs typeface="Times New Roman"/>
                <a:sym typeface="Times New Roman"/>
              </a:rPr>
            </a:br>
            <a:r>
              <a:rPr lang="en-US" sz="2000" b="1" i="0" u="none" strike="noStrike" cap="none" dirty="0">
                <a:solidFill>
                  <a:srgbClr val="000000"/>
                </a:solidFill>
                <a:latin typeface="Times New Roman"/>
                <a:ea typeface="Times New Roman"/>
                <a:cs typeface="Times New Roman"/>
                <a:sym typeface="Times New Roman"/>
              </a:rPr>
              <a:t>Gokaraju </a:t>
            </a:r>
            <a:r>
              <a:rPr lang="en-US" sz="2000" b="1" i="0" u="none" strike="noStrike" cap="none" dirty="0" err="1">
                <a:solidFill>
                  <a:srgbClr val="000000"/>
                </a:solidFill>
                <a:latin typeface="Times New Roman"/>
                <a:ea typeface="Times New Roman"/>
                <a:cs typeface="Times New Roman"/>
                <a:sym typeface="Times New Roman"/>
              </a:rPr>
              <a:t>Rangaraju</a:t>
            </a:r>
            <a:r>
              <a:rPr lang="en-US" sz="2000" b="1" i="0" u="none" strike="noStrike" cap="none" dirty="0">
                <a:solidFill>
                  <a:srgbClr val="000000"/>
                </a:solidFill>
                <a:latin typeface="Times New Roman"/>
                <a:ea typeface="Times New Roman"/>
                <a:cs typeface="Times New Roman"/>
                <a:sym typeface="Times New Roman"/>
              </a:rPr>
              <a:t> Institute of Engineering and Technology </a:t>
            </a:r>
            <a:br>
              <a:rPr lang="en-US" sz="2000" b="1" i="0" u="none" strike="noStrike" cap="none" dirty="0">
                <a:solidFill>
                  <a:srgbClr val="000000"/>
                </a:solidFill>
                <a:latin typeface="Times New Roman"/>
                <a:ea typeface="Times New Roman"/>
                <a:cs typeface="Times New Roman"/>
                <a:sym typeface="Times New Roman"/>
              </a:rPr>
            </a:br>
            <a:r>
              <a:rPr lang="en-US" sz="2000" b="1" i="0" u="none" strike="noStrike" cap="none" dirty="0">
                <a:solidFill>
                  <a:srgbClr val="000000"/>
                </a:solidFill>
                <a:latin typeface="Times New Roman"/>
                <a:ea typeface="Times New Roman"/>
                <a:cs typeface="Times New Roman"/>
                <a:sym typeface="Times New Roman"/>
              </a:rPr>
              <a:t>(Autonomous)</a:t>
            </a:r>
            <a:br>
              <a:rPr lang="en-US" sz="2000" b="1" i="0" u="none" strike="noStrike" cap="none" dirty="0">
                <a:solidFill>
                  <a:srgbClr val="000000"/>
                </a:solidFill>
                <a:latin typeface="Times New Roman"/>
                <a:ea typeface="Times New Roman"/>
                <a:cs typeface="Times New Roman"/>
                <a:sym typeface="Times New Roman"/>
              </a:rPr>
            </a:br>
            <a:r>
              <a:rPr lang="en-US" sz="1800" b="1" i="0" u="none" strike="noStrike" cap="none" dirty="0">
                <a:solidFill>
                  <a:srgbClr val="000000"/>
                </a:solidFill>
                <a:latin typeface="Times New Roman"/>
                <a:ea typeface="Times New Roman"/>
                <a:cs typeface="Times New Roman"/>
                <a:sym typeface="Times New Roman"/>
              </a:rPr>
              <a:t>Department of C</a:t>
            </a:r>
            <a:r>
              <a:rPr lang="en-US" sz="1800" b="1" dirty="0">
                <a:latin typeface="Times New Roman"/>
                <a:ea typeface="Times New Roman"/>
                <a:cs typeface="Times New Roman"/>
                <a:sym typeface="Times New Roman"/>
              </a:rPr>
              <a:t>SE(AI&amp;ML) </a:t>
            </a:r>
            <a:endParaRPr sz="1800" b="1" dirty="0">
              <a:latin typeface="Times New Roman"/>
              <a:ea typeface="Times New Roman"/>
              <a:cs typeface="Times New Roman"/>
              <a:sym typeface="Times New Roman"/>
            </a:endParaRPr>
          </a:p>
          <a:p>
            <a:pPr lvl="0" algn="ctr">
              <a:buSzPts val="5200"/>
            </a:pPr>
            <a:r>
              <a:rPr lang="en-US" sz="1800" b="1" i="0" u="none" strike="noStrike" cap="none" dirty="0">
                <a:solidFill>
                  <a:srgbClr val="000000"/>
                </a:solidFill>
                <a:latin typeface="Times New Roman"/>
                <a:ea typeface="Times New Roman"/>
                <a:cs typeface="Times New Roman"/>
                <a:sym typeface="Times New Roman"/>
              </a:rPr>
              <a:t>PROJECT WORK PHASE-</a:t>
            </a:r>
            <a:r>
              <a:rPr lang="en-US" sz="1800" b="1" dirty="0">
                <a:latin typeface="Times New Roman"/>
                <a:ea typeface="Times New Roman"/>
                <a:cs typeface="Times New Roman"/>
                <a:sym typeface="Times New Roman"/>
              </a:rPr>
              <a:t>1  </a:t>
            </a:r>
            <a:r>
              <a:rPr lang="en-IN" sz="1800" b="1" dirty="0">
                <a:latin typeface="Times New Roman" panose="02020603050405020304" pitchFamily="18" charset="0"/>
                <a:cs typeface="Times New Roman" panose="02020603050405020304" pitchFamily="18" charset="0"/>
              </a:rPr>
              <a:t>(GR22A4082)</a:t>
            </a: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Academic Year 2025-2026</a:t>
            </a:r>
            <a:endParaRPr sz="1800" b="1" i="0" u="none" strike="noStrike" cap="none" dirty="0">
              <a:solidFill>
                <a:srgbClr val="000000"/>
              </a:solidFill>
              <a:latin typeface="Times New Roman"/>
              <a:ea typeface="Times New Roman"/>
              <a:cs typeface="Times New Roman"/>
              <a:sym typeface="Times New Roman"/>
            </a:endParaRPr>
          </a:p>
        </p:txBody>
      </p:sp>
      <p:sp>
        <p:nvSpPr>
          <p:cNvPr id="54" name="Google Shape;54;p1"/>
          <p:cNvSpPr txBox="1">
            <a:spLocks noGrp="1"/>
          </p:cNvSpPr>
          <p:nvPr>
            <p:ph type="subTitle" idx="4294967295"/>
          </p:nvPr>
        </p:nvSpPr>
        <p:spPr>
          <a:xfrm>
            <a:off x="311700" y="2614380"/>
            <a:ext cx="8520600" cy="634149"/>
          </a:xfrm>
          <a:prstGeom prst="rect">
            <a:avLst/>
          </a:prstGeom>
          <a:noFill/>
          <a:ln>
            <a:noFill/>
          </a:ln>
        </p:spPr>
        <p:txBody>
          <a:bodyPr spcFirstLastPara="1" wrap="square" lIns="91425" tIns="91425" rIns="91425" bIns="91425" anchor="t" anchorCtr="0">
            <a:normAutofit/>
          </a:bodyPr>
          <a:lstStyle/>
          <a:p>
            <a:pPr marL="0" marR="0" lvl="0" indent="0" algn="ctr" rtl="0">
              <a:lnSpc>
                <a:spcPct val="100000"/>
              </a:lnSpc>
              <a:spcBef>
                <a:spcPts val="0"/>
              </a:spcBef>
              <a:spcAft>
                <a:spcPts val="0"/>
              </a:spcAft>
              <a:buClr>
                <a:srgbClr val="585858"/>
              </a:buClr>
              <a:buSzPts val="3027"/>
              <a:buFont typeface="Arial"/>
              <a:buNone/>
            </a:pPr>
            <a:r>
              <a:rPr lang="en-US" sz="2400" b="1" dirty="0">
                <a:solidFill>
                  <a:schemeClr val="dk1"/>
                </a:solidFill>
                <a:latin typeface="Times New Roman"/>
                <a:ea typeface="Times New Roman"/>
                <a:cs typeface="Times New Roman"/>
                <a:sym typeface="Times New Roman"/>
              </a:rPr>
              <a:t>AI Guardian for Content </a:t>
            </a:r>
            <a:r>
              <a:rPr lang="en-US" sz="2400" b="1">
                <a:solidFill>
                  <a:schemeClr val="dk1"/>
                </a:solidFill>
                <a:latin typeface="Times New Roman"/>
                <a:ea typeface="Times New Roman"/>
                <a:cs typeface="Times New Roman"/>
                <a:sym typeface="Times New Roman"/>
              </a:rPr>
              <a:t>Creators using BERT </a:t>
            </a:r>
            <a:endParaRPr dirty="0"/>
          </a:p>
        </p:txBody>
      </p:sp>
      <p:pic>
        <p:nvPicPr>
          <p:cNvPr id="55" name="Google Shape;55;p1" descr="Untitled-1 copy"/>
          <p:cNvPicPr preferRelativeResize="0"/>
          <p:nvPr/>
        </p:nvPicPr>
        <p:blipFill rotWithShape="1">
          <a:blip r:embed="rId3">
            <a:alphaModFix/>
          </a:blip>
          <a:srcRect l="25562" t="23018" r="26994" b="21857"/>
          <a:stretch/>
        </p:blipFill>
        <p:spPr>
          <a:xfrm>
            <a:off x="4089400" y="1731433"/>
            <a:ext cx="965200" cy="882947"/>
          </a:xfrm>
          <a:prstGeom prst="rect">
            <a:avLst/>
          </a:prstGeom>
          <a:noFill/>
          <a:ln>
            <a:noFill/>
          </a:ln>
        </p:spPr>
      </p:pic>
      <p:sp>
        <p:nvSpPr>
          <p:cNvPr id="56" name="Google Shape;56;p1"/>
          <p:cNvSpPr txBox="1"/>
          <p:nvPr/>
        </p:nvSpPr>
        <p:spPr>
          <a:xfrm>
            <a:off x="446421" y="3317801"/>
            <a:ext cx="3272548" cy="1343377"/>
          </a:xfrm>
          <a:prstGeom prst="rect">
            <a:avLst/>
          </a:prstGeom>
          <a:noFill/>
          <a:ln>
            <a:noFill/>
          </a:ln>
        </p:spPr>
        <p:txBody>
          <a:bodyPr spcFirstLastPara="1" wrap="square" lIns="121900" tIns="121900" rIns="121900" bIns="121900" anchor="t" anchorCtr="0">
            <a:normAutofit fontScale="92500" lnSpcReduction="10000"/>
          </a:bodyPr>
          <a:lstStyle/>
          <a:p>
            <a:pPr marL="0" marR="0" lvl="0" indent="0" algn="l" rtl="0">
              <a:lnSpc>
                <a:spcPct val="100000"/>
              </a:lnSpc>
              <a:spcBef>
                <a:spcPts val="0"/>
              </a:spcBef>
              <a:spcAft>
                <a:spcPts val="0"/>
              </a:spcAft>
              <a:buClr>
                <a:srgbClr val="44546A"/>
              </a:buClr>
              <a:buSzPts val="2800"/>
              <a:buFont typeface="Arial"/>
              <a:buNone/>
            </a:pPr>
            <a:r>
              <a:rPr lang="en-US" sz="2000" b="1" i="0" u="none" strike="noStrike" cap="none" dirty="0">
                <a:solidFill>
                  <a:srgbClr val="000000"/>
                </a:solidFill>
                <a:latin typeface="Times New Roman"/>
                <a:ea typeface="Times New Roman"/>
                <a:cs typeface="Times New Roman"/>
                <a:sym typeface="Times New Roman"/>
              </a:rPr>
              <a:t>Under the Guidance of:</a:t>
            </a:r>
            <a:endParaRPr dirty="0"/>
          </a:p>
          <a:p>
            <a:pPr marL="0" marR="0" lvl="0" indent="0" algn="l" rtl="0">
              <a:lnSpc>
                <a:spcPct val="100000"/>
              </a:lnSpc>
              <a:spcBef>
                <a:spcPts val="0"/>
              </a:spcBef>
              <a:spcAft>
                <a:spcPts val="0"/>
              </a:spcAft>
              <a:buClr>
                <a:srgbClr val="44546A"/>
              </a:buClr>
              <a:buSzPts val="2800"/>
              <a:buFont typeface="Arial"/>
              <a:buNone/>
            </a:pPr>
            <a:r>
              <a:rPr lang="en-US" sz="2000" b="0" i="0" u="none" strike="noStrike" cap="none" dirty="0">
                <a:solidFill>
                  <a:srgbClr val="000000"/>
                </a:solidFill>
                <a:latin typeface="Times New Roman"/>
                <a:ea typeface="Times New Roman"/>
                <a:cs typeface="Times New Roman"/>
                <a:sym typeface="Times New Roman"/>
              </a:rPr>
              <a:t>Mr. N. </a:t>
            </a:r>
            <a:r>
              <a:rPr lang="en-US" sz="2000" b="0" i="0" u="none" strike="noStrike" cap="none" dirty="0" err="1">
                <a:solidFill>
                  <a:srgbClr val="000000"/>
                </a:solidFill>
                <a:latin typeface="Times New Roman"/>
                <a:ea typeface="Times New Roman"/>
                <a:cs typeface="Times New Roman"/>
                <a:sym typeface="Times New Roman"/>
              </a:rPr>
              <a:t>Devendhar</a:t>
            </a:r>
            <a:endParaRPr lang="en-US" sz="20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44546A"/>
              </a:buClr>
              <a:buSzPts val="2800"/>
              <a:buFont typeface="Arial"/>
              <a:buNone/>
            </a:pPr>
            <a:r>
              <a:rPr lang="en-US" sz="2000" b="0" i="0" u="none" strike="noStrike" cap="none" dirty="0">
                <a:solidFill>
                  <a:srgbClr val="000000"/>
                </a:solidFill>
                <a:latin typeface="Times New Roman"/>
                <a:ea typeface="Times New Roman"/>
                <a:cs typeface="Times New Roman"/>
                <a:sym typeface="Times New Roman"/>
              </a:rPr>
              <a:t>Assistant Professor</a:t>
            </a:r>
          </a:p>
          <a:p>
            <a:pPr marL="0" marR="0" lvl="0" indent="0" algn="l" rtl="0">
              <a:lnSpc>
                <a:spcPct val="100000"/>
              </a:lnSpc>
              <a:spcBef>
                <a:spcPts val="0"/>
              </a:spcBef>
              <a:spcAft>
                <a:spcPts val="0"/>
              </a:spcAft>
              <a:buClr>
                <a:srgbClr val="44546A"/>
              </a:buClr>
              <a:buSzPts val="2800"/>
              <a:buFont typeface="Arial"/>
              <a:buNone/>
            </a:pPr>
            <a:r>
              <a:rPr lang="en-US" sz="2000" b="0" i="0" u="none" strike="noStrike" cap="none" dirty="0">
                <a:solidFill>
                  <a:srgbClr val="000000"/>
                </a:solidFill>
                <a:latin typeface="Times New Roman"/>
                <a:ea typeface="Times New Roman"/>
                <a:cs typeface="Times New Roman"/>
                <a:sym typeface="Times New Roman"/>
              </a:rPr>
              <a:t>AIML</a:t>
            </a:r>
          </a:p>
        </p:txBody>
      </p:sp>
      <p:sp>
        <p:nvSpPr>
          <p:cNvPr id="57" name="Google Shape;57;p1"/>
          <p:cNvSpPr txBox="1"/>
          <p:nvPr/>
        </p:nvSpPr>
        <p:spPr>
          <a:xfrm>
            <a:off x="4344088" y="3229367"/>
            <a:ext cx="4488212" cy="1495033"/>
          </a:xfrm>
          <a:prstGeom prst="rect">
            <a:avLst/>
          </a:prstGeom>
          <a:noFill/>
          <a:ln>
            <a:noFill/>
          </a:ln>
        </p:spPr>
        <p:txBody>
          <a:bodyPr spcFirstLastPara="1" wrap="square" lIns="121900" tIns="121900" rIns="121900" bIns="121900" anchor="t" anchorCtr="0">
            <a:normAutofit fontScale="92500"/>
          </a:bodyPr>
          <a:lstStyle/>
          <a:p>
            <a:pPr marL="0" marR="0" lvl="0" indent="0" algn="l" rtl="0">
              <a:lnSpc>
                <a:spcPct val="100000"/>
              </a:lnSpc>
              <a:spcBef>
                <a:spcPts val="0"/>
              </a:spcBef>
              <a:spcAft>
                <a:spcPts val="0"/>
              </a:spcAft>
              <a:buClr>
                <a:schemeClr val="dk2"/>
              </a:buClr>
              <a:buSzPts val="2800"/>
              <a:buFont typeface="Arial"/>
              <a:buNone/>
            </a:pPr>
            <a:r>
              <a:rPr lang="en-US" sz="2000" b="1" i="0" u="none" strike="noStrike" cap="none" dirty="0">
                <a:solidFill>
                  <a:schemeClr val="dk1"/>
                </a:solidFill>
                <a:latin typeface="Times New Roman"/>
                <a:ea typeface="Times New Roman"/>
                <a:cs typeface="Times New Roman"/>
                <a:sym typeface="Times New Roman"/>
              </a:rPr>
              <a:t>Presented by: </a:t>
            </a:r>
            <a:r>
              <a:rPr lang="en-US" sz="2000" i="0" u="none" strike="noStrike" cap="none" dirty="0">
                <a:solidFill>
                  <a:schemeClr val="dk1"/>
                </a:solidFill>
                <a:latin typeface="Times New Roman"/>
                <a:ea typeface="Times New Roman"/>
                <a:cs typeface="Times New Roman"/>
                <a:sym typeface="Times New Roman"/>
              </a:rPr>
              <a:t>Batch AB04</a:t>
            </a:r>
            <a:endParaRPr dirty="0"/>
          </a:p>
          <a:p>
            <a:pPr marL="0" marR="0" lvl="0" indent="0" algn="l" rtl="0">
              <a:lnSpc>
                <a:spcPct val="100000"/>
              </a:lnSpc>
              <a:spcBef>
                <a:spcPts val="0"/>
              </a:spcBef>
              <a:spcAft>
                <a:spcPts val="0"/>
              </a:spcAft>
              <a:buClr>
                <a:schemeClr val="dk2"/>
              </a:buClr>
              <a:buSzPts val="2800"/>
              <a:buFont typeface="Arial"/>
              <a:buNone/>
            </a:pPr>
            <a:r>
              <a:rPr lang="en-US" sz="2000" b="0" i="0" u="none" strike="noStrike" cap="none" dirty="0">
                <a:solidFill>
                  <a:schemeClr val="dk1"/>
                </a:solidFill>
                <a:latin typeface="Times New Roman"/>
                <a:ea typeface="Times New Roman"/>
                <a:cs typeface="Times New Roman"/>
                <a:sym typeface="Times New Roman"/>
              </a:rPr>
              <a:t>1. R Ravi Kumar               (22241A66B5)</a:t>
            </a:r>
            <a:endParaRPr dirty="0"/>
          </a:p>
          <a:p>
            <a:pPr marL="0" marR="0" lvl="0" indent="0" algn="l" rtl="0">
              <a:lnSpc>
                <a:spcPct val="100000"/>
              </a:lnSpc>
              <a:spcBef>
                <a:spcPts val="0"/>
              </a:spcBef>
              <a:spcAft>
                <a:spcPts val="0"/>
              </a:spcAft>
              <a:buClr>
                <a:schemeClr val="dk2"/>
              </a:buClr>
              <a:buSzPts val="2800"/>
              <a:buFont typeface="Arial"/>
              <a:buNone/>
            </a:pPr>
            <a:r>
              <a:rPr lang="en-US" sz="2000" b="0" i="0" u="none" strike="noStrike" cap="none" dirty="0">
                <a:solidFill>
                  <a:schemeClr val="dk1"/>
                </a:solidFill>
                <a:latin typeface="Times New Roman"/>
                <a:ea typeface="Times New Roman"/>
                <a:cs typeface="Times New Roman"/>
                <a:sym typeface="Times New Roman"/>
              </a:rPr>
              <a:t>2. P Harshavardhan Reddy(22241A66B1)</a:t>
            </a:r>
            <a:endParaRPr dirty="0"/>
          </a:p>
          <a:p>
            <a:pPr marL="0" marR="0" lvl="0" indent="0" algn="l" rtl="0">
              <a:lnSpc>
                <a:spcPct val="100000"/>
              </a:lnSpc>
              <a:spcBef>
                <a:spcPts val="0"/>
              </a:spcBef>
              <a:spcAft>
                <a:spcPts val="0"/>
              </a:spcAft>
              <a:buClr>
                <a:schemeClr val="dk2"/>
              </a:buClr>
              <a:buSzPts val="2800"/>
              <a:buFont typeface="Arial"/>
              <a:buNone/>
            </a:pPr>
            <a:r>
              <a:rPr lang="en-US" sz="2000" b="0" i="0" u="none" strike="noStrike" cap="none" dirty="0">
                <a:solidFill>
                  <a:schemeClr val="dk1"/>
                </a:solidFill>
                <a:latin typeface="Times New Roman"/>
                <a:ea typeface="Times New Roman"/>
                <a:cs typeface="Times New Roman"/>
                <a:sym typeface="Times New Roman"/>
              </a:rPr>
              <a:t>3. B Pavan Sai                    (22241A6673)</a:t>
            </a:r>
            <a:endParaRPr dirty="0"/>
          </a:p>
          <a:p>
            <a:pPr marL="457200" marR="0" lvl="0" indent="-279400" algn="l" rtl="0">
              <a:lnSpc>
                <a:spcPct val="100000"/>
              </a:lnSpc>
              <a:spcBef>
                <a:spcPts val="0"/>
              </a:spcBef>
              <a:spcAft>
                <a:spcPts val="0"/>
              </a:spcAft>
              <a:buClr>
                <a:schemeClr val="dk2"/>
              </a:buClr>
              <a:buSzPts val="2800"/>
              <a:buFont typeface="Arial"/>
              <a:buNone/>
            </a:pPr>
            <a:endParaRPr sz="20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2"/>
              </a:buClr>
              <a:buSzPts val="2800"/>
              <a:buFont typeface="Arial"/>
              <a:buNone/>
            </a:pPr>
            <a:endParaRPr sz="2000" b="1" i="0" u="none" strike="noStrike" cap="none" dirty="0">
              <a:solidFill>
                <a:schemeClr val="dk1"/>
              </a:solidFill>
              <a:latin typeface="Times New Roman"/>
              <a:ea typeface="Times New Roman"/>
              <a:cs typeface="Times New Roman"/>
              <a:sym typeface="Times New Roman"/>
            </a:endParaRPr>
          </a:p>
        </p:txBody>
      </p:sp>
      <p:sp>
        <p:nvSpPr>
          <p:cNvPr id="58" name="Google Shape;58;p1"/>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2"/>
          <p:cNvSpPr txBox="1">
            <a:spLocks noGrp="1"/>
          </p:cNvSpPr>
          <p:nvPr>
            <p:ph type="title"/>
          </p:nvPr>
        </p:nvSpPr>
        <p:spPr>
          <a:xfrm>
            <a:off x="311699" y="179287"/>
            <a:ext cx="8520602" cy="572701"/>
          </a:xfrm>
          <a:prstGeom prst="rect">
            <a:avLst/>
          </a:prstGeom>
          <a:noFill/>
          <a:ln>
            <a:noFill/>
          </a:ln>
        </p:spPr>
        <p:txBody>
          <a:bodyPr spcFirstLastPara="1" wrap="square" lIns="91400" tIns="91400" rIns="91400" bIns="91400" anchor="t" anchorCtr="0">
            <a:normAutofit fontScale="90000"/>
          </a:bodyPr>
          <a:lstStyle/>
          <a:p>
            <a:pPr marL="0" lvl="0" indent="0" algn="ctr" rtl="0">
              <a:lnSpc>
                <a:spcPct val="100000"/>
              </a:lnSpc>
              <a:spcBef>
                <a:spcPts val="0"/>
              </a:spcBef>
              <a:spcAft>
                <a:spcPts val="0"/>
              </a:spcAft>
              <a:buSzPct val="56258"/>
              <a:buNone/>
            </a:pPr>
            <a:r>
              <a:rPr lang="en-US" sz="3555" dirty="0">
                <a:latin typeface="Times New Roman"/>
                <a:ea typeface="Times New Roman"/>
                <a:cs typeface="Times New Roman"/>
                <a:sym typeface="Times New Roman"/>
              </a:rPr>
              <a:t>1. Introduction</a:t>
            </a:r>
            <a:endParaRPr dirty="0"/>
          </a:p>
        </p:txBody>
      </p:sp>
      <p:sp>
        <p:nvSpPr>
          <p:cNvPr id="10" name="Text Placeholder 9">
            <a:extLst>
              <a:ext uri="{FF2B5EF4-FFF2-40B4-BE49-F238E27FC236}">
                <a16:creationId xmlns:a16="http://schemas.microsoft.com/office/drawing/2014/main" id="{7301B783-48A7-829E-F13E-5F0C89341B7C}"/>
              </a:ext>
            </a:extLst>
          </p:cNvPr>
          <p:cNvSpPr>
            <a:spLocks noGrp="1"/>
          </p:cNvSpPr>
          <p:nvPr>
            <p:ph type="body" idx="1"/>
          </p:nvPr>
        </p:nvSpPr>
        <p:spPr>
          <a:xfrm>
            <a:off x="311699" y="930032"/>
            <a:ext cx="8372646" cy="1187938"/>
          </a:xfrm>
        </p:spPr>
        <p:txBody>
          <a:bodyPr>
            <a:normAutofit/>
          </a:bodyPr>
          <a:lstStyle/>
          <a:p>
            <a:pPr marL="114300" lvl="0" indent="0">
              <a:buSzPts val="1800"/>
              <a:buNone/>
            </a:pPr>
            <a:r>
              <a:rPr lang="en-US" sz="1600" b="1" dirty="0">
                <a:solidFill>
                  <a:schemeClr val="dk1"/>
                </a:solidFill>
                <a:latin typeface="Times New Roman"/>
                <a:ea typeface="Times New Roman"/>
                <a:cs typeface="Times New Roman"/>
                <a:sym typeface="Times New Roman"/>
              </a:rPr>
              <a:t>Artificial Intelligence &amp; Social Communities</a:t>
            </a:r>
          </a:p>
          <a:p>
            <a:r>
              <a:rPr lang="en-US" sz="1600" dirty="0">
                <a:solidFill>
                  <a:schemeClr val="dk1"/>
                </a:solidFill>
                <a:latin typeface="Times New Roman"/>
                <a:ea typeface="Times New Roman"/>
                <a:cs typeface="Times New Roman"/>
                <a:sym typeface="Times New Roman"/>
              </a:rPr>
              <a:t>Artificial Intelligence (AI) refers to computer systems capable of performing tasks that normally require human intelligence such as perception, reasoning, and decision-making.</a:t>
            </a:r>
          </a:p>
        </p:txBody>
      </p:sp>
      <p:sp>
        <p:nvSpPr>
          <p:cNvPr id="11" name="Text Placeholder 10">
            <a:extLst>
              <a:ext uri="{FF2B5EF4-FFF2-40B4-BE49-F238E27FC236}">
                <a16:creationId xmlns:a16="http://schemas.microsoft.com/office/drawing/2014/main" id="{ACF02B81-E161-D5FC-65A5-814AB3DAB47B}"/>
              </a:ext>
            </a:extLst>
          </p:cNvPr>
          <p:cNvSpPr>
            <a:spLocks noGrp="1"/>
          </p:cNvSpPr>
          <p:nvPr>
            <p:ph type="body" idx="2"/>
          </p:nvPr>
        </p:nvSpPr>
        <p:spPr>
          <a:xfrm>
            <a:off x="375138" y="1852613"/>
            <a:ext cx="5158154" cy="1992556"/>
          </a:xfrm>
        </p:spPr>
        <p:txBody>
          <a:bodyPr>
            <a:noAutofit/>
          </a:bodyPr>
          <a:lstStyle/>
          <a:p>
            <a:r>
              <a:rPr lang="en-US" sz="1600" dirty="0">
                <a:solidFill>
                  <a:schemeClr val="dk1"/>
                </a:solidFill>
                <a:latin typeface="Times New Roman"/>
                <a:ea typeface="Times New Roman"/>
                <a:cs typeface="Times New Roman"/>
                <a:sym typeface="Times New Roman"/>
              </a:rPr>
              <a:t>Social creator communities are digital spaces where individuals share content, collaborate, and engage with audiences.</a:t>
            </a:r>
          </a:p>
          <a:p>
            <a:r>
              <a:rPr lang="en-US" sz="1600" dirty="0">
                <a:solidFill>
                  <a:schemeClr val="dk1"/>
                </a:solidFill>
                <a:latin typeface="Times New Roman"/>
                <a:ea typeface="Times New Roman"/>
                <a:cs typeface="Times New Roman"/>
                <a:sym typeface="Times New Roman"/>
              </a:rPr>
              <a:t>These communities face challenges like misinformation, plagiarism, online harassment, and unverified content spread.</a:t>
            </a:r>
          </a:p>
          <a:p>
            <a:r>
              <a:rPr lang="en-US" sz="1600" dirty="0">
                <a:solidFill>
                  <a:schemeClr val="dk1"/>
                </a:solidFill>
                <a:latin typeface="Times New Roman"/>
                <a:ea typeface="Times New Roman"/>
                <a:cs typeface="Times New Roman"/>
                <a:sym typeface="Times New Roman"/>
              </a:rPr>
              <a:t>AI can act as a guardian, monitoring, assisting, and protecting creators while ensuring a safer and more productive environment.</a:t>
            </a:r>
          </a:p>
        </p:txBody>
      </p:sp>
      <p:sp>
        <p:nvSpPr>
          <p:cNvPr id="66" name="Google Shape;66;p2"/>
          <p:cNvSpPr txBox="1">
            <a:spLocks noGrp="1"/>
          </p:cNvSpPr>
          <p:nvPr>
            <p:ph type="sldNum" idx="12"/>
          </p:nvPr>
        </p:nvSpPr>
        <p:spPr>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2</a:t>
            </a:fld>
            <a:endParaRPr/>
          </a:p>
        </p:txBody>
      </p:sp>
      <p:sp>
        <p:nvSpPr>
          <p:cNvPr id="67" name="Google Shape;67;p2" descr="Everything You Need to Know About IoT | Checkbox Technology"/>
          <p:cNvSpPr/>
          <p:nvPr/>
        </p:nvSpPr>
        <p:spPr>
          <a:xfrm>
            <a:off x="4419600" y="241935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1035" name="Picture 11" descr="Sing Like Their Favorite Artists ...">
            <a:extLst>
              <a:ext uri="{FF2B5EF4-FFF2-40B4-BE49-F238E27FC236}">
                <a16:creationId xmlns:a16="http://schemas.microsoft.com/office/drawing/2014/main" id="{B483160D-9E15-C79F-4B1A-F0B1EA5A0E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9131" y="2419350"/>
            <a:ext cx="2619375" cy="17430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3"/>
          <p:cNvSpPr txBox="1">
            <a:spLocks noGrp="1"/>
          </p:cNvSpPr>
          <p:nvPr>
            <p:ph type="body" idx="1"/>
          </p:nvPr>
        </p:nvSpPr>
        <p:spPr>
          <a:xfrm>
            <a:off x="411520" y="778944"/>
            <a:ext cx="8320960" cy="4029276"/>
          </a:xfrm>
          <a:prstGeom prst="rect">
            <a:avLst/>
          </a:prstGeom>
          <a:noFill/>
          <a:ln>
            <a:noFill/>
          </a:ln>
        </p:spPr>
        <p:txBody>
          <a:bodyPr spcFirstLastPara="1" wrap="square" lIns="91400" tIns="91400" rIns="91400" bIns="91400" anchor="t" anchorCtr="0">
            <a:noAutofit/>
          </a:bodyPr>
          <a:lstStyle/>
          <a:p>
            <a:pPr marL="114300" lvl="0" indent="0" algn="just" rtl="0">
              <a:lnSpc>
                <a:spcPct val="115000"/>
              </a:lnSpc>
              <a:spcBef>
                <a:spcPts val="0"/>
              </a:spcBef>
              <a:spcAft>
                <a:spcPts val="0"/>
              </a:spcAft>
              <a:buSzPts val="1800"/>
              <a:buNone/>
            </a:pPr>
            <a:r>
              <a:rPr lang="en-US" sz="1600" b="1" dirty="0">
                <a:solidFill>
                  <a:schemeClr val="dk1"/>
                </a:solidFill>
                <a:latin typeface="Times New Roman"/>
                <a:ea typeface="Times New Roman"/>
                <a:cs typeface="Times New Roman"/>
                <a:sym typeface="Times New Roman"/>
              </a:rPr>
              <a:t>Benefits of AI in Creator Communities Content </a:t>
            </a:r>
          </a:p>
          <a:p>
            <a:pPr algn="just"/>
            <a:r>
              <a:rPr lang="en-US" sz="1600" b="1" dirty="0">
                <a:solidFill>
                  <a:schemeClr val="dk1"/>
                </a:solidFill>
                <a:latin typeface="Times New Roman"/>
                <a:ea typeface="Times New Roman"/>
                <a:cs typeface="Times New Roman"/>
                <a:sym typeface="Times New Roman"/>
              </a:rPr>
              <a:t>Protection: </a:t>
            </a:r>
            <a:r>
              <a:rPr lang="en-US" sz="1600" dirty="0">
                <a:solidFill>
                  <a:schemeClr val="dk1"/>
                </a:solidFill>
                <a:latin typeface="Times New Roman"/>
                <a:ea typeface="Times New Roman"/>
                <a:cs typeface="Times New Roman"/>
                <a:sym typeface="Times New Roman"/>
              </a:rPr>
              <a:t>Detects plagiarism, copyright violations, and content theft.</a:t>
            </a:r>
          </a:p>
          <a:p>
            <a:pPr algn="just"/>
            <a:r>
              <a:rPr lang="en-US" sz="1600" b="1" dirty="0">
                <a:solidFill>
                  <a:schemeClr val="dk1"/>
                </a:solidFill>
                <a:latin typeface="Times New Roman"/>
                <a:ea typeface="Times New Roman"/>
                <a:cs typeface="Times New Roman"/>
                <a:sym typeface="Times New Roman"/>
              </a:rPr>
              <a:t>Improved Safety: </a:t>
            </a:r>
            <a:r>
              <a:rPr lang="en-US" sz="1600" dirty="0">
                <a:solidFill>
                  <a:schemeClr val="dk1"/>
                </a:solidFill>
                <a:latin typeface="Times New Roman"/>
                <a:ea typeface="Times New Roman"/>
                <a:cs typeface="Times New Roman"/>
                <a:sym typeface="Times New Roman"/>
              </a:rPr>
              <a:t>Monitors and filters harmful or abusive interactions.</a:t>
            </a:r>
          </a:p>
          <a:p>
            <a:pPr algn="just"/>
            <a:r>
              <a:rPr lang="en-US" sz="1600" b="1" dirty="0">
                <a:solidFill>
                  <a:schemeClr val="dk1"/>
                </a:solidFill>
                <a:latin typeface="Times New Roman"/>
                <a:ea typeface="Times New Roman"/>
                <a:cs typeface="Times New Roman"/>
                <a:sym typeface="Times New Roman"/>
              </a:rPr>
              <a:t>Enhanced Productivity: </a:t>
            </a:r>
            <a:r>
              <a:rPr lang="en-US" sz="1600" dirty="0">
                <a:solidFill>
                  <a:schemeClr val="dk1"/>
                </a:solidFill>
                <a:latin typeface="Times New Roman"/>
                <a:ea typeface="Times New Roman"/>
                <a:cs typeface="Times New Roman"/>
                <a:sym typeface="Times New Roman"/>
              </a:rPr>
              <a:t>Provides AI-driven assistance for editing, summarizing, and content optimization.</a:t>
            </a:r>
          </a:p>
          <a:p>
            <a:pPr algn="just"/>
            <a:r>
              <a:rPr lang="en-US" sz="1600" b="1" dirty="0">
                <a:solidFill>
                  <a:schemeClr val="dk1"/>
                </a:solidFill>
                <a:latin typeface="Times New Roman"/>
                <a:ea typeface="Times New Roman"/>
                <a:cs typeface="Times New Roman"/>
                <a:sym typeface="Times New Roman"/>
              </a:rPr>
              <a:t>Trust &amp; Credibility: </a:t>
            </a:r>
            <a:r>
              <a:rPr lang="en-US" sz="1600" dirty="0">
                <a:solidFill>
                  <a:schemeClr val="dk1"/>
                </a:solidFill>
                <a:latin typeface="Times New Roman"/>
                <a:ea typeface="Times New Roman"/>
                <a:cs typeface="Times New Roman"/>
                <a:sym typeface="Times New Roman"/>
              </a:rPr>
              <a:t>Ensures authenticity of shared information.</a:t>
            </a:r>
          </a:p>
          <a:p>
            <a:pPr algn="just"/>
            <a:r>
              <a:rPr lang="en-US" sz="1600" b="1" dirty="0">
                <a:solidFill>
                  <a:schemeClr val="dk1"/>
                </a:solidFill>
                <a:latin typeface="Times New Roman"/>
                <a:ea typeface="Times New Roman"/>
                <a:cs typeface="Times New Roman"/>
                <a:sym typeface="Times New Roman"/>
              </a:rPr>
              <a:t>Community Growth: </a:t>
            </a:r>
            <a:r>
              <a:rPr lang="en-US" sz="1600" dirty="0">
                <a:solidFill>
                  <a:schemeClr val="dk1"/>
                </a:solidFill>
                <a:latin typeface="Times New Roman"/>
                <a:ea typeface="Times New Roman"/>
                <a:cs typeface="Times New Roman"/>
                <a:sym typeface="Times New Roman"/>
              </a:rPr>
              <a:t>Encourages positive engagement and collaboration.</a:t>
            </a:r>
          </a:p>
          <a:p>
            <a:pPr marL="114300" indent="0" algn="just">
              <a:buNone/>
            </a:pPr>
            <a:r>
              <a:rPr lang="en-US" sz="1600" b="1" dirty="0">
                <a:solidFill>
                  <a:schemeClr val="dk1"/>
                </a:solidFill>
                <a:latin typeface="Times New Roman"/>
                <a:ea typeface="Times New Roman"/>
                <a:cs typeface="Times New Roman"/>
                <a:sym typeface="Times New Roman"/>
              </a:rPr>
              <a:t>Applications of AI-Powered Guardian</a:t>
            </a:r>
            <a:endParaRPr lang="en-US" sz="1600" dirty="0">
              <a:solidFill>
                <a:schemeClr val="dk1"/>
              </a:solidFill>
              <a:latin typeface="Times New Roman"/>
              <a:ea typeface="Times New Roman"/>
              <a:cs typeface="Times New Roman"/>
              <a:sym typeface="Times New Roman"/>
            </a:endParaRPr>
          </a:p>
          <a:p>
            <a:pPr algn="just"/>
            <a:r>
              <a:rPr lang="en-US" sz="1600" b="1" dirty="0">
                <a:solidFill>
                  <a:schemeClr val="dk1"/>
                </a:solidFill>
                <a:latin typeface="Times New Roman"/>
                <a:ea typeface="Times New Roman"/>
                <a:cs typeface="Times New Roman"/>
                <a:sym typeface="Times New Roman"/>
              </a:rPr>
              <a:t>Content Verification: </a:t>
            </a:r>
            <a:r>
              <a:rPr lang="en-US" sz="1600" dirty="0">
                <a:solidFill>
                  <a:schemeClr val="dk1"/>
                </a:solidFill>
                <a:latin typeface="Times New Roman"/>
                <a:ea typeface="Times New Roman"/>
                <a:cs typeface="Times New Roman"/>
                <a:sym typeface="Times New Roman"/>
              </a:rPr>
              <a:t>Checks originality and sources of shared content.</a:t>
            </a:r>
          </a:p>
          <a:p>
            <a:pPr algn="just"/>
            <a:r>
              <a:rPr lang="en-US" sz="1600" b="1" dirty="0">
                <a:solidFill>
                  <a:schemeClr val="dk1"/>
                </a:solidFill>
                <a:latin typeface="Times New Roman"/>
                <a:ea typeface="Times New Roman"/>
                <a:cs typeface="Times New Roman"/>
                <a:sym typeface="Times New Roman"/>
              </a:rPr>
              <a:t>Automated Moderation: </a:t>
            </a:r>
            <a:r>
              <a:rPr lang="en-US" sz="1600" dirty="0">
                <a:solidFill>
                  <a:schemeClr val="dk1"/>
                </a:solidFill>
                <a:latin typeface="Times New Roman"/>
                <a:ea typeface="Times New Roman"/>
                <a:cs typeface="Times New Roman"/>
                <a:sym typeface="Times New Roman"/>
              </a:rPr>
              <a:t>Detects hate speech, spam, or harmful comments.</a:t>
            </a:r>
          </a:p>
          <a:p>
            <a:pPr algn="just"/>
            <a:r>
              <a:rPr lang="en-US" sz="1600" b="1" dirty="0">
                <a:solidFill>
                  <a:schemeClr val="dk1"/>
                </a:solidFill>
                <a:latin typeface="Times New Roman"/>
                <a:ea typeface="Times New Roman"/>
                <a:cs typeface="Times New Roman"/>
                <a:sym typeface="Times New Roman"/>
              </a:rPr>
              <a:t>Skill Assistance: </a:t>
            </a:r>
            <a:r>
              <a:rPr lang="en-US" sz="1600" dirty="0">
                <a:solidFill>
                  <a:schemeClr val="dk1"/>
                </a:solidFill>
                <a:latin typeface="Times New Roman"/>
                <a:ea typeface="Times New Roman"/>
                <a:cs typeface="Times New Roman"/>
                <a:sym typeface="Times New Roman"/>
              </a:rPr>
              <a:t>Daily AI-based learning support for creators (summarization, idea generation, etc.).</a:t>
            </a:r>
          </a:p>
          <a:p>
            <a:pPr algn="just"/>
            <a:r>
              <a:rPr lang="en-US" sz="1600" b="1" dirty="0">
                <a:solidFill>
                  <a:schemeClr val="dk1"/>
                </a:solidFill>
                <a:latin typeface="Times New Roman"/>
                <a:ea typeface="Times New Roman"/>
                <a:cs typeface="Times New Roman"/>
                <a:sym typeface="Times New Roman"/>
              </a:rPr>
              <a:t>Well-being Monitoring: </a:t>
            </a:r>
            <a:r>
              <a:rPr lang="en-US" sz="1600" dirty="0">
                <a:solidFill>
                  <a:schemeClr val="dk1"/>
                </a:solidFill>
                <a:latin typeface="Times New Roman"/>
                <a:ea typeface="Times New Roman"/>
                <a:cs typeface="Times New Roman"/>
                <a:sym typeface="Times New Roman"/>
              </a:rPr>
              <a:t>Encourages healthy digital habits and reduces burnout.</a:t>
            </a:r>
          </a:p>
          <a:p>
            <a:pPr algn="just"/>
            <a:r>
              <a:rPr lang="en-US" sz="1600" b="1" dirty="0">
                <a:solidFill>
                  <a:schemeClr val="dk1"/>
                </a:solidFill>
                <a:latin typeface="Times New Roman"/>
                <a:ea typeface="Times New Roman"/>
                <a:cs typeface="Times New Roman"/>
                <a:sym typeface="Times New Roman"/>
              </a:rPr>
              <a:t>Reputation Management: </a:t>
            </a:r>
            <a:r>
              <a:rPr lang="en-US" sz="1600" dirty="0">
                <a:solidFill>
                  <a:schemeClr val="dk1"/>
                </a:solidFill>
                <a:latin typeface="Times New Roman"/>
                <a:ea typeface="Times New Roman"/>
                <a:cs typeface="Times New Roman"/>
                <a:sym typeface="Times New Roman"/>
              </a:rPr>
              <a:t>Identifies and prevents reputation-damaging trends.</a:t>
            </a:r>
          </a:p>
          <a:p>
            <a:pPr marL="114300" indent="0" algn="just">
              <a:buNone/>
            </a:pPr>
            <a:endParaRPr sz="1600" dirty="0">
              <a:solidFill>
                <a:schemeClr val="dk1"/>
              </a:solidFill>
              <a:latin typeface="Times New Roman"/>
              <a:ea typeface="Times New Roman"/>
              <a:cs typeface="Times New Roman"/>
              <a:sym typeface="Times New Roman"/>
            </a:endParaRPr>
          </a:p>
        </p:txBody>
      </p:sp>
      <p:sp>
        <p:nvSpPr>
          <p:cNvPr id="74" name="Google Shape;74;p3"/>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3</a:t>
            </a:fld>
            <a:endParaRPr/>
          </a:p>
        </p:txBody>
      </p:sp>
      <p:sp>
        <p:nvSpPr>
          <p:cNvPr id="75" name="Google Shape;75;p3"/>
          <p:cNvSpPr txBox="1">
            <a:spLocks noGrp="1"/>
          </p:cNvSpPr>
          <p:nvPr>
            <p:ph type="title"/>
          </p:nvPr>
        </p:nvSpPr>
        <p:spPr>
          <a:xfrm>
            <a:off x="311699" y="97133"/>
            <a:ext cx="8520602" cy="681811"/>
          </a:xfrm>
          <a:prstGeom prst="rect">
            <a:avLst/>
          </a:prstGeom>
          <a:noFill/>
          <a:ln>
            <a:noFill/>
          </a:ln>
        </p:spPr>
        <p:txBody>
          <a:bodyPr spcFirstLastPara="1" wrap="square" lIns="91400" tIns="91400" rIns="91400" bIns="91400" anchor="t" anchorCtr="0">
            <a:normAutofit fontScale="90000"/>
          </a:bodyPr>
          <a:lstStyle/>
          <a:p>
            <a:pPr marL="0" lvl="0" indent="0" algn="ctr" rtl="0">
              <a:lnSpc>
                <a:spcPct val="100000"/>
              </a:lnSpc>
              <a:spcBef>
                <a:spcPts val="0"/>
              </a:spcBef>
              <a:spcAft>
                <a:spcPts val="0"/>
              </a:spcAft>
              <a:buSzPct val="56258"/>
              <a:buNone/>
            </a:pPr>
            <a:r>
              <a:rPr lang="en-US" sz="3555">
                <a:latin typeface="Times New Roman"/>
                <a:ea typeface="Times New Roman"/>
                <a:cs typeface="Times New Roman"/>
                <a:sym typeface="Times New Roman"/>
              </a:rPr>
              <a:t>1. Introduction (contd…)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8"/>
          <p:cNvSpPr txBox="1">
            <a:spLocks noGrp="1"/>
          </p:cNvSpPr>
          <p:nvPr>
            <p:ph type="title"/>
          </p:nvPr>
        </p:nvSpPr>
        <p:spPr>
          <a:xfrm>
            <a:off x="311699" y="173880"/>
            <a:ext cx="8520602" cy="737345"/>
          </a:xfrm>
          <a:prstGeom prst="rect">
            <a:avLst/>
          </a:prstGeom>
          <a:noFill/>
          <a:ln>
            <a:noFill/>
          </a:ln>
        </p:spPr>
        <p:txBody>
          <a:bodyPr spcFirstLastPara="1" wrap="square" lIns="91400" tIns="91400" rIns="91400" bIns="91400" anchor="t" anchorCtr="0">
            <a:normAutofit/>
          </a:bodyPr>
          <a:lstStyle/>
          <a:p>
            <a:pPr marL="0" lvl="0" indent="0" algn="ctr" rtl="0">
              <a:lnSpc>
                <a:spcPct val="100000"/>
              </a:lnSpc>
              <a:spcBef>
                <a:spcPts val="0"/>
              </a:spcBef>
              <a:spcAft>
                <a:spcPts val="0"/>
              </a:spcAft>
              <a:buSzPts val="1800"/>
              <a:buNone/>
            </a:pPr>
            <a:r>
              <a:rPr lang="en-US" sz="3200">
                <a:latin typeface="Times New Roman"/>
                <a:ea typeface="Times New Roman"/>
                <a:cs typeface="Times New Roman"/>
                <a:sym typeface="Times New Roman"/>
              </a:rPr>
              <a:t>2. Problem Statement</a:t>
            </a:r>
            <a:endParaRPr/>
          </a:p>
        </p:txBody>
      </p:sp>
      <p:sp>
        <p:nvSpPr>
          <p:cNvPr id="113" name="Google Shape;113;p8"/>
          <p:cNvSpPr txBox="1">
            <a:spLocks noGrp="1"/>
          </p:cNvSpPr>
          <p:nvPr>
            <p:ph type="body" idx="1"/>
          </p:nvPr>
        </p:nvSpPr>
        <p:spPr>
          <a:xfrm>
            <a:off x="311785" y="911225"/>
            <a:ext cx="8520430" cy="3811270"/>
          </a:xfrm>
          <a:prstGeom prst="rect">
            <a:avLst/>
          </a:prstGeom>
          <a:noFill/>
          <a:ln>
            <a:noFill/>
          </a:ln>
        </p:spPr>
        <p:txBody>
          <a:bodyPr spcFirstLastPara="1" wrap="square" lIns="91400" tIns="91400" rIns="91400" bIns="91400" anchor="t" anchorCtr="0">
            <a:normAutofit fontScale="92500"/>
          </a:bodyPr>
          <a:lstStyle/>
          <a:p>
            <a:pPr algn="just">
              <a:buSzPct val="88235"/>
            </a:pPr>
            <a:r>
              <a:rPr lang="en-US" sz="2400" dirty="0">
                <a:solidFill>
                  <a:schemeClr val="tx1"/>
                </a:solidFill>
                <a:latin typeface="Times New Roman" panose="02020603050405020304" pitchFamily="18" charset="0"/>
                <a:cs typeface="Times New Roman" panose="02020603050405020304" pitchFamily="18" charset="0"/>
              </a:rPr>
              <a:t>Online content creators struggle with toxic, hateful, and spam comments, while existing moderation tools are too generic and fail to handle community-specific culture, slang, and context.</a:t>
            </a:r>
          </a:p>
          <a:p>
            <a:pPr algn="just">
              <a:buSzPct val="88235"/>
            </a:pPr>
            <a:r>
              <a:rPr lang="en-US" sz="2400" dirty="0">
                <a:solidFill>
                  <a:schemeClr val="tx1"/>
                </a:solidFill>
                <a:latin typeface="Times New Roman" panose="02020603050405020304" pitchFamily="18" charset="0"/>
                <a:cs typeface="Times New Roman" panose="02020603050405020304" pitchFamily="18" charset="0"/>
              </a:rPr>
              <a:t>Ineffective moderation leads to high false positives and negatives, forcing creators into mentally exhausting manual review, which causes burnout, lowers engagement, and reduces community trust.</a:t>
            </a:r>
          </a:p>
          <a:p>
            <a:pPr algn="just">
              <a:buSzPct val="88235"/>
            </a:pPr>
            <a:r>
              <a:rPr lang="en-US" sz="2400" dirty="0">
                <a:solidFill>
                  <a:schemeClr val="tx1"/>
                </a:solidFill>
                <a:latin typeface="Times New Roman" panose="02020603050405020304" pitchFamily="18" charset="0"/>
                <a:cs typeface="Times New Roman" panose="02020603050405020304" pitchFamily="18" charset="0"/>
              </a:rPr>
              <a:t>An intelligent, adaptable AI-driven system is required to learn from each creator’s unique audience, accurately detect harmful content, automate moderation, and preserve genuine community expression.</a:t>
            </a: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114" name="Google Shape;114;p8"/>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9"/>
          <p:cNvSpPr txBox="1">
            <a:spLocks noGrp="1"/>
          </p:cNvSpPr>
          <p:nvPr>
            <p:ph type="title"/>
          </p:nvPr>
        </p:nvSpPr>
        <p:spPr>
          <a:xfrm>
            <a:off x="311699" y="95250"/>
            <a:ext cx="8520602" cy="681811"/>
          </a:xfrm>
          <a:prstGeom prst="rect">
            <a:avLst/>
          </a:prstGeom>
          <a:noFill/>
          <a:ln>
            <a:noFill/>
          </a:ln>
        </p:spPr>
        <p:txBody>
          <a:bodyPr spcFirstLastPara="1" wrap="square" lIns="91400" tIns="91400" rIns="91400" bIns="91400" anchor="t" anchorCtr="0">
            <a:normAutofit fontScale="90000"/>
          </a:bodyPr>
          <a:lstStyle/>
          <a:p>
            <a:pPr marL="0" lvl="0" indent="0" algn="ctr" rtl="0">
              <a:lnSpc>
                <a:spcPct val="100000"/>
              </a:lnSpc>
              <a:spcBef>
                <a:spcPts val="0"/>
              </a:spcBef>
              <a:spcAft>
                <a:spcPts val="0"/>
              </a:spcAft>
              <a:buSzPct val="56258"/>
              <a:buNone/>
            </a:pPr>
            <a:r>
              <a:rPr lang="en-US" sz="3555" dirty="0">
                <a:latin typeface="Times New Roman"/>
                <a:ea typeface="Times New Roman"/>
                <a:cs typeface="Times New Roman"/>
                <a:sym typeface="Times New Roman"/>
              </a:rPr>
              <a:t>3. Abstract</a:t>
            </a:r>
            <a:endParaRPr dirty="0"/>
          </a:p>
        </p:txBody>
      </p:sp>
      <p:sp>
        <p:nvSpPr>
          <p:cNvPr id="191" name="Google Shape;191;p19"/>
          <p:cNvSpPr txBox="1">
            <a:spLocks noGrp="1"/>
          </p:cNvSpPr>
          <p:nvPr>
            <p:ph type="body" idx="1"/>
          </p:nvPr>
        </p:nvSpPr>
        <p:spPr>
          <a:xfrm>
            <a:off x="311699" y="1273908"/>
            <a:ext cx="8520602" cy="3649784"/>
          </a:xfrm>
          <a:prstGeom prst="rect">
            <a:avLst/>
          </a:prstGeom>
          <a:noFill/>
          <a:ln>
            <a:noFill/>
          </a:ln>
        </p:spPr>
        <p:txBody>
          <a:bodyPr spcFirstLastPara="1" wrap="square" lIns="91400" tIns="91400" rIns="91400" bIns="91400" anchor="t" anchorCtr="0">
            <a:noAutofit/>
          </a:bodyPr>
          <a:lstStyle/>
          <a:p>
            <a:pPr marL="114300" indent="0">
              <a:buNone/>
            </a:pPr>
            <a:r>
              <a:rPr lang="en-US" dirty="0">
                <a:solidFill>
                  <a:schemeClr val="tx1"/>
                </a:solidFill>
                <a:latin typeface="Times New Roman" panose="02020603050405020304" pitchFamily="18" charset="0"/>
                <a:cs typeface="Times New Roman" panose="02020603050405020304" pitchFamily="18" charset="0"/>
              </a:rPr>
              <a:t>The AI-Powered Guardian for Creator Communities is an intelligent moderation system aimed at improving the online environment for content creators and their audiences. By employing a custom-trained deep learning model, the system automatically detects and manages toxic, hateful, and spam comments on platforms like YouTube. Unlike generic moderation tools, its novelty lies in its ability to be fine-tuned on a creator's specific comment data, allowing it to understand community-specific nuances and slang, leading to higher accuracy and fewer false positives. This system helps prevent creator burnout by automating a mentally draining task and fosters healthier, more inclusive online communities, ensuring the long-term sustainability and economic viability of a creator's channel.</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192" name="Google Shape;192;p19"/>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9"/>
          <p:cNvSpPr txBox="1">
            <a:spLocks noGrp="1"/>
          </p:cNvSpPr>
          <p:nvPr>
            <p:ph type="title"/>
          </p:nvPr>
        </p:nvSpPr>
        <p:spPr>
          <a:xfrm>
            <a:off x="71856" y="153363"/>
            <a:ext cx="9072144" cy="682461"/>
          </a:xfrm>
          <a:prstGeom prst="rect">
            <a:avLst/>
          </a:prstGeom>
          <a:noFill/>
          <a:ln>
            <a:noFill/>
          </a:ln>
        </p:spPr>
        <p:txBody>
          <a:bodyPr spcFirstLastPara="1" wrap="square" lIns="91400" tIns="91400" rIns="91400" bIns="91400" anchor="t" anchorCtr="0">
            <a:noAutofit/>
          </a:bodyPr>
          <a:lstStyle/>
          <a:p>
            <a:pPr marL="0" lvl="0" indent="0" algn="ctr" rtl="0">
              <a:lnSpc>
                <a:spcPct val="100000"/>
              </a:lnSpc>
              <a:spcBef>
                <a:spcPts val="0"/>
              </a:spcBef>
              <a:spcAft>
                <a:spcPts val="0"/>
              </a:spcAft>
              <a:buClr>
                <a:srgbClr val="000000"/>
              </a:buClr>
              <a:buSzPts val="2500"/>
              <a:buFont typeface="Arial"/>
              <a:buNone/>
            </a:pPr>
            <a:r>
              <a:rPr lang="en-US" sz="3200" dirty="0">
                <a:latin typeface="Times New Roman"/>
                <a:ea typeface="Times New Roman"/>
                <a:cs typeface="Times New Roman"/>
                <a:sym typeface="Times New Roman"/>
              </a:rPr>
              <a:t>4. Objectives of the Project</a:t>
            </a:r>
            <a:br>
              <a:rPr lang="en-US" sz="3200" b="1" dirty="0">
                <a:latin typeface="Times New Roman"/>
                <a:ea typeface="Times New Roman"/>
                <a:cs typeface="Times New Roman"/>
                <a:sym typeface="Times New Roman"/>
              </a:rPr>
            </a:br>
            <a:endParaRPr dirty="0"/>
          </a:p>
        </p:txBody>
      </p:sp>
      <p:sp>
        <p:nvSpPr>
          <p:cNvPr id="120" name="Google Shape;120;p9"/>
          <p:cNvSpPr txBox="1">
            <a:spLocks noGrp="1"/>
          </p:cNvSpPr>
          <p:nvPr>
            <p:ph type="body" idx="1"/>
          </p:nvPr>
        </p:nvSpPr>
        <p:spPr>
          <a:xfrm>
            <a:off x="411448" y="1015949"/>
            <a:ext cx="8321104" cy="3598161"/>
          </a:xfrm>
          <a:prstGeom prst="rect">
            <a:avLst/>
          </a:prstGeom>
          <a:noFill/>
          <a:ln>
            <a:noFill/>
          </a:ln>
        </p:spPr>
        <p:txBody>
          <a:bodyPr spcFirstLastPara="1" wrap="square" lIns="91400" tIns="91400" rIns="91400" bIns="91400" anchor="t" anchorCtr="0">
            <a:noAutofit/>
          </a:bodyPr>
          <a:lstStyle/>
          <a:p>
            <a:pPr algn="just"/>
            <a:r>
              <a:rPr lang="en-US" sz="2400" dirty="0">
                <a:solidFill>
                  <a:schemeClr val="tx1"/>
                </a:solidFill>
                <a:latin typeface="Times New Roman" panose="02020603050405020304" pitchFamily="18" charset="0"/>
                <a:cs typeface="Times New Roman" panose="02020603050405020304" pitchFamily="18" charset="0"/>
              </a:rPr>
              <a:t>To develop an intelligent moderation system for a YouTuber's channel.</a:t>
            </a:r>
          </a:p>
          <a:p>
            <a:pPr algn="just"/>
            <a:r>
              <a:rPr lang="en-US" sz="2400" dirty="0">
                <a:solidFill>
                  <a:schemeClr val="tx1"/>
                </a:solidFill>
                <a:latin typeface="Times New Roman" panose="02020603050405020304" pitchFamily="18" charset="0"/>
                <a:cs typeface="Times New Roman" panose="02020603050405020304" pitchFamily="18" charset="0"/>
              </a:rPr>
              <a:t>To automatically detect and manage toxic, hateful, and spam comments using a custom-trained deep learning model.</a:t>
            </a:r>
          </a:p>
          <a:p>
            <a:pPr algn="just"/>
            <a:r>
              <a:rPr lang="en-IN" sz="2400" dirty="0">
                <a:solidFill>
                  <a:schemeClr val="tx1"/>
                </a:solidFill>
                <a:latin typeface="Times New Roman" panose="02020603050405020304" pitchFamily="18" charset="0"/>
                <a:cs typeface="Times New Roman" panose="02020603050405020304" pitchFamily="18" charset="0"/>
              </a:rPr>
              <a:t>To understand the specific slang and context of a creator’s community.</a:t>
            </a:r>
          </a:p>
          <a:p>
            <a:pPr algn="just"/>
            <a:r>
              <a:rPr lang="en-US" sz="2400" dirty="0">
                <a:solidFill>
                  <a:schemeClr val="tx1"/>
                </a:solidFill>
                <a:latin typeface="Times New Roman" panose="02020603050405020304" pitchFamily="18" charset="0"/>
                <a:cs typeface="Times New Roman" panose="02020603050405020304" pitchFamily="18" charset="0"/>
              </a:rPr>
              <a:t>To provide a highly accurate filter that protects both the creator and their audience from harmful content.</a:t>
            </a: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121" name="Google Shape;121;p9"/>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0"/>
          <p:cNvSpPr txBox="1"/>
          <p:nvPr/>
        </p:nvSpPr>
        <p:spPr>
          <a:xfrm>
            <a:off x="988700" y="152400"/>
            <a:ext cx="7374772" cy="584771"/>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None/>
            </a:pPr>
            <a:r>
              <a:rPr lang="en-US" sz="3200" dirty="0">
                <a:latin typeface="Times New Roman"/>
                <a:ea typeface="Times New Roman"/>
                <a:cs typeface="Times New Roman"/>
                <a:sym typeface="Times New Roman"/>
              </a:rPr>
              <a:t>5</a:t>
            </a:r>
            <a:r>
              <a:rPr lang="en-US" sz="3200" b="0" i="0" u="none" strike="noStrike" cap="none" dirty="0">
                <a:solidFill>
                  <a:srgbClr val="000000"/>
                </a:solidFill>
                <a:latin typeface="Times New Roman"/>
                <a:ea typeface="Times New Roman"/>
                <a:cs typeface="Times New Roman"/>
                <a:sym typeface="Times New Roman"/>
              </a:rPr>
              <a:t>. Literature Survey (Existing Approaches)</a:t>
            </a:r>
            <a:endParaRPr sz="3200" b="0" i="0" u="none" strike="noStrike" cap="none" dirty="0">
              <a:solidFill>
                <a:srgbClr val="000000"/>
              </a:solidFill>
              <a:latin typeface="Times New Roman"/>
              <a:ea typeface="Times New Roman"/>
              <a:cs typeface="Times New Roman"/>
              <a:sym typeface="Times New Roman"/>
            </a:endParaRPr>
          </a:p>
        </p:txBody>
      </p:sp>
      <p:graphicFrame>
        <p:nvGraphicFramePr>
          <p:cNvPr id="127" name="Google Shape;127;p10"/>
          <p:cNvGraphicFramePr/>
          <p:nvPr>
            <p:extLst>
              <p:ext uri="{D42A27DB-BD31-4B8C-83A1-F6EECF244321}">
                <p14:modId xmlns:p14="http://schemas.microsoft.com/office/powerpoint/2010/main" val="552277586"/>
              </p:ext>
            </p:extLst>
          </p:nvPr>
        </p:nvGraphicFramePr>
        <p:xfrm>
          <a:off x="164123" y="912312"/>
          <a:ext cx="8817952" cy="3594700"/>
        </p:xfrm>
        <a:graphic>
          <a:graphicData uri="http://schemas.openxmlformats.org/drawingml/2006/table">
            <a:tbl>
              <a:tblPr>
                <a:noFill/>
                <a:tableStyleId>{F90BD25F-960E-4EDE-841B-6BAD378992E6}</a:tableStyleId>
              </a:tblPr>
              <a:tblGrid>
                <a:gridCol w="1178727">
                  <a:extLst>
                    <a:ext uri="{9D8B030D-6E8A-4147-A177-3AD203B41FA5}">
                      <a16:colId xmlns:a16="http://schemas.microsoft.com/office/drawing/2014/main" val="20000"/>
                    </a:ext>
                  </a:extLst>
                </a:gridCol>
                <a:gridCol w="2657050">
                  <a:extLst>
                    <a:ext uri="{9D8B030D-6E8A-4147-A177-3AD203B41FA5}">
                      <a16:colId xmlns:a16="http://schemas.microsoft.com/office/drawing/2014/main" val="20001"/>
                    </a:ext>
                  </a:extLst>
                </a:gridCol>
                <a:gridCol w="2624550">
                  <a:extLst>
                    <a:ext uri="{9D8B030D-6E8A-4147-A177-3AD203B41FA5}">
                      <a16:colId xmlns:a16="http://schemas.microsoft.com/office/drawing/2014/main" val="20002"/>
                    </a:ext>
                  </a:extLst>
                </a:gridCol>
                <a:gridCol w="2357625">
                  <a:extLst>
                    <a:ext uri="{9D8B030D-6E8A-4147-A177-3AD203B41FA5}">
                      <a16:colId xmlns:a16="http://schemas.microsoft.com/office/drawing/2014/main" val="20003"/>
                    </a:ext>
                  </a:extLst>
                </a:gridCol>
              </a:tblGrid>
              <a:tr h="583575">
                <a:tc>
                  <a:txBody>
                    <a:bodyPr/>
                    <a:lstStyle/>
                    <a:p>
                      <a:pPr marL="0" marR="0" lvl="0" indent="0" algn="just" rtl="0">
                        <a:lnSpc>
                          <a:spcPct val="100000"/>
                        </a:lnSpc>
                        <a:spcBef>
                          <a:spcPts val="0"/>
                        </a:spcBef>
                        <a:spcAft>
                          <a:spcPts val="0"/>
                        </a:spcAft>
                        <a:buNone/>
                      </a:pPr>
                      <a:r>
                        <a:rPr lang="en-US" sz="1400" b="1" u="none" strike="noStrike" cap="none" dirty="0">
                          <a:solidFill>
                            <a:srgbClr val="FFFFFF"/>
                          </a:solidFill>
                          <a:latin typeface="Times New Roman"/>
                          <a:ea typeface="Times New Roman"/>
                          <a:cs typeface="Times New Roman"/>
                          <a:sym typeface="Times New Roman"/>
                        </a:rPr>
                        <a:t>Reference Number</a:t>
                      </a:r>
                      <a:endParaRPr dirty="0"/>
                    </a:p>
                  </a:txBody>
                  <a:tcPr marL="45725" marR="45725" marT="45725" marB="45725">
                    <a:solidFill>
                      <a:schemeClr val="accent3"/>
                    </a:solidFill>
                  </a:tcPr>
                </a:tc>
                <a:tc>
                  <a:txBody>
                    <a:bodyPr/>
                    <a:lstStyle/>
                    <a:p>
                      <a:pPr marL="0" marR="0" lvl="0" indent="0" algn="just" rtl="0">
                        <a:lnSpc>
                          <a:spcPct val="100000"/>
                        </a:lnSpc>
                        <a:spcBef>
                          <a:spcPts val="0"/>
                        </a:spcBef>
                        <a:spcAft>
                          <a:spcPts val="0"/>
                        </a:spcAft>
                        <a:buNone/>
                      </a:pPr>
                      <a:r>
                        <a:rPr lang="en-US" sz="1400" b="1" u="none" strike="noStrike" cap="none" dirty="0">
                          <a:solidFill>
                            <a:srgbClr val="FFFFFF"/>
                          </a:solidFill>
                          <a:latin typeface="Times New Roman"/>
                          <a:ea typeface="Times New Roman"/>
                          <a:cs typeface="Times New Roman"/>
                          <a:sym typeface="Times New Roman"/>
                        </a:rPr>
                        <a:t>Title</a:t>
                      </a:r>
                      <a:endParaRPr dirty="0"/>
                    </a:p>
                  </a:txBody>
                  <a:tcPr marL="45725" marR="45725" marT="45725" marB="45725">
                    <a:solidFill>
                      <a:schemeClr val="accent3"/>
                    </a:solidFill>
                  </a:tcPr>
                </a:tc>
                <a:tc>
                  <a:txBody>
                    <a:bodyPr/>
                    <a:lstStyle/>
                    <a:p>
                      <a:pPr marL="0" marR="0" lvl="0" indent="0" algn="just" rtl="0">
                        <a:lnSpc>
                          <a:spcPct val="100000"/>
                        </a:lnSpc>
                        <a:spcBef>
                          <a:spcPts val="0"/>
                        </a:spcBef>
                        <a:spcAft>
                          <a:spcPts val="0"/>
                        </a:spcAft>
                        <a:buNone/>
                      </a:pPr>
                      <a:r>
                        <a:rPr lang="en-US" sz="1400" b="1" u="none" strike="noStrike" cap="none" dirty="0">
                          <a:solidFill>
                            <a:srgbClr val="FFFFFF"/>
                          </a:solidFill>
                          <a:latin typeface="Times New Roman"/>
                          <a:ea typeface="Times New Roman"/>
                          <a:cs typeface="Times New Roman"/>
                          <a:sym typeface="Times New Roman"/>
                        </a:rPr>
                        <a:t>Methodology</a:t>
                      </a:r>
                      <a:endParaRPr dirty="0"/>
                    </a:p>
                  </a:txBody>
                  <a:tcPr marL="45725" marR="45725" marT="45725" marB="45725">
                    <a:solidFill>
                      <a:schemeClr val="accent3"/>
                    </a:solidFill>
                  </a:tcPr>
                </a:tc>
                <a:tc>
                  <a:txBody>
                    <a:bodyPr/>
                    <a:lstStyle/>
                    <a:p>
                      <a:pPr marL="0" marR="0" lvl="0" indent="0" algn="just" rtl="0">
                        <a:lnSpc>
                          <a:spcPct val="100000"/>
                        </a:lnSpc>
                        <a:spcBef>
                          <a:spcPts val="0"/>
                        </a:spcBef>
                        <a:spcAft>
                          <a:spcPts val="0"/>
                        </a:spcAft>
                        <a:buNone/>
                      </a:pPr>
                      <a:r>
                        <a:rPr lang="en-US" sz="1400" b="1" u="none" strike="noStrike" cap="none" dirty="0">
                          <a:solidFill>
                            <a:srgbClr val="FFFFFF"/>
                          </a:solidFill>
                          <a:latin typeface="Times New Roman"/>
                          <a:ea typeface="Times New Roman"/>
                          <a:cs typeface="Times New Roman"/>
                          <a:sym typeface="Times New Roman"/>
                        </a:rPr>
                        <a:t>Results/Remarks</a:t>
                      </a:r>
                      <a:endParaRPr dirty="0"/>
                    </a:p>
                  </a:txBody>
                  <a:tcPr marL="45725" marR="45725" marT="45725" marB="45725">
                    <a:solidFill>
                      <a:schemeClr val="accent3"/>
                    </a:solidFill>
                  </a:tcPr>
                </a:tc>
                <a:extLst>
                  <a:ext uri="{0D108BD9-81ED-4DB2-BD59-A6C34878D82A}">
                    <a16:rowId xmlns:a16="http://schemas.microsoft.com/office/drawing/2014/main" val="10000"/>
                  </a:ext>
                </a:extLst>
              </a:tr>
              <a:tr h="1496275">
                <a:tc>
                  <a:txBody>
                    <a:bodyPr/>
                    <a:lstStyle/>
                    <a:p>
                      <a:pPr marL="0" marR="0" lvl="0" indent="0" algn="just" rtl="0">
                        <a:lnSpc>
                          <a:spcPct val="100000"/>
                        </a:lnSpc>
                        <a:spcBef>
                          <a:spcPts val="0"/>
                        </a:spcBef>
                        <a:spcAft>
                          <a:spcPts val="0"/>
                        </a:spcAft>
                        <a:buNone/>
                      </a:pPr>
                      <a:r>
                        <a:rPr lang="en-US" sz="1400" u="none" strike="noStrike" cap="none" dirty="0">
                          <a:latin typeface="Times New Roman"/>
                          <a:ea typeface="Times New Roman"/>
                          <a:cs typeface="Times New Roman"/>
                          <a:sym typeface="Times New Roman"/>
                        </a:rPr>
                        <a:t>[1]</a:t>
                      </a:r>
                      <a:endParaRPr dirty="0"/>
                    </a:p>
                  </a:txBody>
                  <a:tcPr marL="45725" marR="45725" marT="45725" marB="45725">
                    <a:solidFill>
                      <a:srgbClr val="D5DBDE"/>
                    </a:solidFill>
                  </a:tcPr>
                </a:tc>
                <a:tc>
                  <a:txBody>
                    <a:bodyPr/>
                    <a:lstStyle/>
                    <a:p>
                      <a:pPr marL="0" marR="0" lvl="0" indent="0" algn="just" rtl="0">
                        <a:lnSpc>
                          <a:spcPct val="100000"/>
                        </a:lnSpc>
                        <a:spcBef>
                          <a:spcPts val="0"/>
                        </a:spcBef>
                        <a:spcAft>
                          <a:spcPts val="0"/>
                        </a:spcAft>
                        <a:buNone/>
                      </a:pPr>
                      <a:r>
                        <a:rPr lang="en-US" sz="1400" u="none" strike="noStrike" cap="none" dirty="0">
                          <a:solidFill>
                            <a:srgbClr val="0D0D0D"/>
                          </a:solidFill>
                          <a:latin typeface="Times New Roman"/>
                          <a:ea typeface="Times New Roman"/>
                          <a:cs typeface="Times New Roman"/>
                          <a:sym typeface="Times New Roman"/>
                        </a:rPr>
                        <a:t>Secure Comment Safeguarding Online Discussions with Intelligent Toxic Comment Filtering (IATMSI 2024, IEEE)</a:t>
                      </a:r>
                      <a:endParaRPr sz="1400" u="none" strike="noStrike" cap="none" dirty="0">
                        <a:solidFill>
                          <a:srgbClr val="0D0D0D"/>
                        </a:solidFill>
                        <a:latin typeface="Times New Roman"/>
                        <a:ea typeface="Times New Roman"/>
                        <a:cs typeface="Times New Roman"/>
                        <a:sym typeface="Times New Roman"/>
                      </a:endParaRPr>
                    </a:p>
                  </a:txBody>
                  <a:tcPr marL="45725" marR="45725" marT="45725" marB="45725">
                    <a:solidFill>
                      <a:srgbClr val="D5DBDE"/>
                    </a:solidFill>
                  </a:tcPr>
                </a:tc>
                <a:tc>
                  <a:txBody>
                    <a:bodyPr/>
                    <a:lstStyle/>
                    <a:p>
                      <a:pPr marL="0" marR="0" lvl="0" indent="0" algn="just" rtl="0">
                        <a:lnSpc>
                          <a:spcPct val="100000"/>
                        </a:lnSpc>
                        <a:spcBef>
                          <a:spcPts val="0"/>
                        </a:spcBef>
                        <a:spcAft>
                          <a:spcPts val="0"/>
                        </a:spcAft>
                        <a:buNone/>
                      </a:pPr>
                      <a:r>
                        <a:rPr lang="en-US" sz="1400" u="none" strike="noStrike" cap="none" dirty="0">
                          <a:latin typeface="Times New Roman"/>
                          <a:ea typeface="Times New Roman"/>
                          <a:cs typeface="Times New Roman"/>
                          <a:sym typeface="Times New Roman"/>
                        </a:rPr>
                        <a:t>Built an ML pipeline combining text preprocessing, TF-IDF features, and supervised classifiers for toxic comment detection.</a:t>
                      </a:r>
                      <a:endParaRPr dirty="0"/>
                    </a:p>
                  </a:txBody>
                  <a:tcPr marL="45725" marR="45725" marT="45725" marB="45725">
                    <a:solidFill>
                      <a:srgbClr val="D5DBDE"/>
                    </a:solidFill>
                  </a:tcPr>
                </a:tc>
                <a:tc>
                  <a:txBody>
                    <a:bodyPr/>
                    <a:lstStyle/>
                    <a:p>
                      <a:pPr marL="0" marR="0" lvl="0" indent="0" algn="just" rtl="0">
                        <a:lnSpc>
                          <a:spcPct val="120000"/>
                        </a:lnSpc>
                        <a:spcBef>
                          <a:spcPts val="0"/>
                        </a:spcBef>
                        <a:spcAft>
                          <a:spcPts val="0"/>
                        </a:spcAft>
                        <a:buClr>
                          <a:srgbClr val="000000"/>
                        </a:buClr>
                        <a:buSzPts val="1400"/>
                        <a:buFont typeface="Arial"/>
                        <a:buNone/>
                      </a:pPr>
                      <a:r>
                        <a:rPr lang="en-US" sz="1400" u="none" strike="noStrike" cap="none" dirty="0">
                          <a:solidFill>
                            <a:srgbClr val="000000"/>
                          </a:solidFill>
                          <a:latin typeface="Times New Roman"/>
                          <a:ea typeface="Times New Roman"/>
                          <a:cs typeface="Times New Roman"/>
                          <a:sym typeface="Times New Roman"/>
                        </a:rPr>
                        <a:t>Achieved strong filtering precision. Aligns as it focuses on automating toxic comment removal, the same core objective of our system.</a:t>
                      </a:r>
                      <a:endParaRPr sz="900" u="none" strike="noStrike" cap="none" dirty="0"/>
                    </a:p>
                  </a:txBody>
                  <a:tcPr marL="45725" marR="45725" marT="45725" marB="45725">
                    <a:solidFill>
                      <a:srgbClr val="D5DBDE"/>
                    </a:solidFill>
                  </a:tcPr>
                </a:tc>
                <a:extLst>
                  <a:ext uri="{0D108BD9-81ED-4DB2-BD59-A6C34878D82A}">
                    <a16:rowId xmlns:a16="http://schemas.microsoft.com/office/drawing/2014/main" val="10001"/>
                  </a:ext>
                </a:extLst>
              </a:tr>
              <a:tr h="1514850">
                <a:tc>
                  <a:txBody>
                    <a:bodyPr/>
                    <a:lstStyle/>
                    <a:p>
                      <a:pPr marL="0" marR="0" lvl="0" indent="0" algn="just" rtl="0">
                        <a:lnSpc>
                          <a:spcPct val="100000"/>
                        </a:lnSpc>
                        <a:spcBef>
                          <a:spcPts val="0"/>
                        </a:spcBef>
                        <a:spcAft>
                          <a:spcPts val="0"/>
                        </a:spcAft>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45725" marR="45725" marT="45725" marB="45725">
                    <a:solidFill>
                      <a:srgbClr val="D5DBDE"/>
                    </a:solidFill>
                  </a:tcPr>
                </a:tc>
                <a:tc>
                  <a:txBody>
                    <a:bodyPr/>
                    <a:lstStyle/>
                    <a:p>
                      <a:pPr marL="0" marR="0" lvl="0" indent="0" algn="just" rtl="0">
                        <a:lnSpc>
                          <a:spcPct val="100000"/>
                        </a:lnSpc>
                        <a:spcBef>
                          <a:spcPts val="0"/>
                        </a:spcBef>
                        <a:spcAft>
                          <a:spcPts val="0"/>
                        </a:spcAft>
                        <a:buNone/>
                      </a:pPr>
                      <a:r>
                        <a:rPr lang="en-US" sz="1400" u="none" strike="noStrike" cap="none" dirty="0">
                          <a:solidFill>
                            <a:srgbClr val="0D0D0D"/>
                          </a:solidFill>
                          <a:latin typeface="Times New Roman"/>
                          <a:ea typeface="Times New Roman"/>
                          <a:cs typeface="Times New Roman"/>
                          <a:sym typeface="Times New Roman"/>
                        </a:rPr>
                        <a:t>Toxic Comment Analyzer using BERT (ICI 2023)</a:t>
                      </a:r>
                      <a:endParaRPr sz="1400" u="none" strike="noStrike" cap="none" dirty="0">
                        <a:solidFill>
                          <a:srgbClr val="0D0D0D"/>
                        </a:solidFill>
                        <a:latin typeface="Times New Roman"/>
                        <a:ea typeface="Times New Roman"/>
                        <a:cs typeface="Times New Roman"/>
                        <a:sym typeface="Times New Roman"/>
                      </a:endParaRPr>
                    </a:p>
                  </a:txBody>
                  <a:tcPr marL="45725" marR="45725" marT="45725" marB="45725">
                    <a:solidFill>
                      <a:srgbClr val="D5DBDE"/>
                    </a:solidFill>
                  </a:tcPr>
                </a:tc>
                <a:tc>
                  <a:txBody>
                    <a:bodyPr/>
                    <a:lstStyle/>
                    <a:p>
                      <a:pPr marL="0" marR="0" lvl="0" indent="0" algn="just" rtl="0">
                        <a:lnSpc>
                          <a:spcPct val="100000"/>
                        </a:lnSpc>
                        <a:spcBef>
                          <a:spcPts val="0"/>
                        </a:spcBef>
                        <a:spcAft>
                          <a:spcPts val="0"/>
                        </a:spcAft>
                        <a:buNone/>
                      </a:pPr>
                      <a:r>
                        <a:rPr lang="en-US" sz="1400" u="none" strike="noStrike" cap="none" dirty="0">
                          <a:latin typeface="Times New Roman"/>
                          <a:ea typeface="Times New Roman"/>
                          <a:cs typeface="Times New Roman"/>
                          <a:sym typeface="Times New Roman"/>
                        </a:rPr>
                        <a:t>Fine-tuned BERT on large-scale toxic datasets; used contextual embeddings for toxic vs. non-toxic classification.</a:t>
                      </a:r>
                      <a:endParaRPr dirty="0"/>
                    </a:p>
                  </a:txBody>
                  <a:tcPr marL="45725" marR="45725" marT="45725" marB="45725">
                    <a:solidFill>
                      <a:srgbClr val="D5DBDE"/>
                    </a:solidFill>
                  </a:tcPr>
                </a:tc>
                <a:tc>
                  <a:txBody>
                    <a:bodyPr/>
                    <a:lstStyle/>
                    <a:p>
                      <a:pPr marL="0" marR="0" lvl="0" indent="0" algn="just" rtl="0">
                        <a:lnSpc>
                          <a:spcPct val="12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Outperformed ML baselines. Aligns because we’ll also fine-tune </a:t>
                      </a:r>
                      <a:r>
                        <a:rPr lang="en-US" sz="1400" u="none" strike="noStrike" cap="none">
                          <a:latin typeface="Times New Roman"/>
                          <a:ea typeface="Times New Roman"/>
                          <a:cs typeface="Times New Roman"/>
                          <a:sym typeface="Times New Roman"/>
                        </a:rPr>
                        <a:t>on YouTube </a:t>
                      </a:r>
                      <a:r>
                        <a:rPr lang="en-US" sz="1400" u="none" strike="noStrike" cap="none" dirty="0">
                          <a:latin typeface="Times New Roman"/>
                          <a:ea typeface="Times New Roman"/>
                          <a:cs typeface="Times New Roman"/>
                          <a:sym typeface="Times New Roman"/>
                        </a:rPr>
                        <a:t>data for accuracy.</a:t>
                      </a:r>
                      <a:endParaRPr dirty="0"/>
                    </a:p>
                  </a:txBody>
                  <a:tcPr marL="45725" marR="45725" marT="45725" marB="45725">
                    <a:solidFill>
                      <a:srgbClr val="D5DBDE"/>
                    </a:solidFill>
                  </a:tcPr>
                </a:tc>
                <a:extLst>
                  <a:ext uri="{0D108BD9-81ED-4DB2-BD59-A6C34878D82A}">
                    <a16:rowId xmlns:a16="http://schemas.microsoft.com/office/drawing/2014/main" val="10002"/>
                  </a:ext>
                </a:extLst>
              </a:tr>
            </a:tbl>
          </a:graphicData>
        </a:graphic>
      </p:graphicFrame>
      <p:sp>
        <p:nvSpPr>
          <p:cNvPr id="128" name="Google Shape;128;p10"/>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graphicFrame>
        <p:nvGraphicFramePr>
          <p:cNvPr id="133" name="Google Shape;133;p11"/>
          <p:cNvGraphicFramePr/>
          <p:nvPr>
            <p:extLst>
              <p:ext uri="{D42A27DB-BD31-4B8C-83A1-F6EECF244321}">
                <p14:modId xmlns:p14="http://schemas.microsoft.com/office/powerpoint/2010/main" val="4039184161"/>
              </p:ext>
            </p:extLst>
          </p:nvPr>
        </p:nvGraphicFramePr>
        <p:xfrm>
          <a:off x="174457" y="1008570"/>
          <a:ext cx="8807625" cy="3503250"/>
        </p:xfrm>
        <a:graphic>
          <a:graphicData uri="http://schemas.openxmlformats.org/drawingml/2006/table">
            <a:tbl>
              <a:tblPr>
                <a:noFill/>
                <a:tableStyleId>{F90BD25F-960E-4EDE-841B-6BAD378992E6}</a:tableStyleId>
              </a:tblPr>
              <a:tblGrid>
                <a:gridCol w="1179250">
                  <a:extLst>
                    <a:ext uri="{9D8B030D-6E8A-4147-A177-3AD203B41FA5}">
                      <a16:colId xmlns:a16="http://schemas.microsoft.com/office/drawing/2014/main" val="20000"/>
                    </a:ext>
                  </a:extLst>
                </a:gridCol>
                <a:gridCol w="2653275">
                  <a:extLst>
                    <a:ext uri="{9D8B030D-6E8A-4147-A177-3AD203B41FA5}">
                      <a16:colId xmlns:a16="http://schemas.microsoft.com/office/drawing/2014/main" val="20001"/>
                    </a:ext>
                  </a:extLst>
                </a:gridCol>
                <a:gridCol w="2620825">
                  <a:extLst>
                    <a:ext uri="{9D8B030D-6E8A-4147-A177-3AD203B41FA5}">
                      <a16:colId xmlns:a16="http://schemas.microsoft.com/office/drawing/2014/main" val="20002"/>
                    </a:ext>
                  </a:extLst>
                </a:gridCol>
                <a:gridCol w="2354275">
                  <a:extLst>
                    <a:ext uri="{9D8B030D-6E8A-4147-A177-3AD203B41FA5}">
                      <a16:colId xmlns:a16="http://schemas.microsoft.com/office/drawing/2014/main" val="20003"/>
                    </a:ext>
                  </a:extLst>
                </a:gridCol>
              </a:tblGrid>
              <a:tr h="565800">
                <a:tc>
                  <a:txBody>
                    <a:bodyPr/>
                    <a:lstStyle/>
                    <a:p>
                      <a:pPr marL="0" marR="0" lvl="0" indent="0" algn="just" rtl="0">
                        <a:lnSpc>
                          <a:spcPct val="100000"/>
                        </a:lnSpc>
                        <a:spcBef>
                          <a:spcPts val="0"/>
                        </a:spcBef>
                        <a:spcAft>
                          <a:spcPts val="0"/>
                        </a:spcAft>
                        <a:buNone/>
                      </a:pPr>
                      <a:r>
                        <a:rPr lang="en-US" sz="1400" b="1" u="none" strike="noStrike" cap="none">
                          <a:solidFill>
                            <a:srgbClr val="FFFFFF"/>
                          </a:solidFill>
                          <a:latin typeface="Times New Roman"/>
                          <a:ea typeface="Times New Roman"/>
                          <a:cs typeface="Times New Roman"/>
                          <a:sym typeface="Times New Roman"/>
                        </a:rPr>
                        <a:t>Reference Number</a:t>
                      </a:r>
                      <a:endParaRPr/>
                    </a:p>
                  </a:txBody>
                  <a:tcPr marL="45725" marR="45725" marT="45725" marB="45725">
                    <a:solidFill>
                      <a:schemeClr val="accent3"/>
                    </a:solidFill>
                  </a:tcPr>
                </a:tc>
                <a:tc>
                  <a:txBody>
                    <a:bodyPr/>
                    <a:lstStyle/>
                    <a:p>
                      <a:pPr marL="0" marR="0" lvl="0" indent="0" algn="just" rtl="0">
                        <a:lnSpc>
                          <a:spcPct val="100000"/>
                        </a:lnSpc>
                        <a:spcBef>
                          <a:spcPts val="0"/>
                        </a:spcBef>
                        <a:spcAft>
                          <a:spcPts val="0"/>
                        </a:spcAft>
                        <a:buNone/>
                      </a:pPr>
                      <a:r>
                        <a:rPr lang="en-US" sz="1400" b="1" u="none" strike="noStrike" cap="none">
                          <a:solidFill>
                            <a:srgbClr val="FFFFFF"/>
                          </a:solidFill>
                          <a:latin typeface="Times New Roman"/>
                          <a:ea typeface="Times New Roman"/>
                          <a:cs typeface="Times New Roman"/>
                          <a:sym typeface="Times New Roman"/>
                        </a:rPr>
                        <a:t>Title</a:t>
                      </a:r>
                      <a:endParaRPr/>
                    </a:p>
                  </a:txBody>
                  <a:tcPr marL="45725" marR="45725" marT="45725" marB="45725">
                    <a:solidFill>
                      <a:schemeClr val="accent3"/>
                    </a:solidFill>
                  </a:tcPr>
                </a:tc>
                <a:tc>
                  <a:txBody>
                    <a:bodyPr/>
                    <a:lstStyle/>
                    <a:p>
                      <a:pPr marL="0" marR="0" lvl="0" indent="0" algn="just" rtl="0">
                        <a:lnSpc>
                          <a:spcPct val="100000"/>
                        </a:lnSpc>
                        <a:spcBef>
                          <a:spcPts val="0"/>
                        </a:spcBef>
                        <a:spcAft>
                          <a:spcPts val="0"/>
                        </a:spcAft>
                        <a:buNone/>
                      </a:pPr>
                      <a:r>
                        <a:rPr lang="en-US" sz="1400" b="1" u="none" strike="noStrike" cap="none">
                          <a:solidFill>
                            <a:srgbClr val="FFFFFF"/>
                          </a:solidFill>
                          <a:latin typeface="Times New Roman"/>
                          <a:ea typeface="Times New Roman"/>
                          <a:cs typeface="Times New Roman"/>
                          <a:sym typeface="Times New Roman"/>
                        </a:rPr>
                        <a:t>Methodology</a:t>
                      </a:r>
                      <a:endParaRPr/>
                    </a:p>
                  </a:txBody>
                  <a:tcPr marL="45725" marR="45725" marT="45725" marB="45725">
                    <a:solidFill>
                      <a:schemeClr val="accent3"/>
                    </a:solidFill>
                  </a:tcPr>
                </a:tc>
                <a:tc>
                  <a:txBody>
                    <a:bodyPr/>
                    <a:lstStyle/>
                    <a:p>
                      <a:pPr marL="0" marR="0" lvl="0" indent="0" algn="just" rtl="0">
                        <a:lnSpc>
                          <a:spcPct val="100000"/>
                        </a:lnSpc>
                        <a:spcBef>
                          <a:spcPts val="0"/>
                        </a:spcBef>
                        <a:spcAft>
                          <a:spcPts val="0"/>
                        </a:spcAft>
                        <a:buNone/>
                      </a:pPr>
                      <a:r>
                        <a:rPr lang="en-US" sz="1400" b="1" u="none" strike="noStrike" cap="none">
                          <a:solidFill>
                            <a:srgbClr val="FFFFFF"/>
                          </a:solidFill>
                          <a:latin typeface="Times New Roman"/>
                          <a:ea typeface="Times New Roman"/>
                          <a:cs typeface="Times New Roman"/>
                          <a:sym typeface="Times New Roman"/>
                        </a:rPr>
                        <a:t>Results/Remarks</a:t>
                      </a:r>
                      <a:endParaRPr/>
                    </a:p>
                  </a:txBody>
                  <a:tcPr marL="45725" marR="45725" marT="45725" marB="45725">
                    <a:solidFill>
                      <a:schemeClr val="accent3"/>
                    </a:solidFill>
                  </a:tcPr>
                </a:tc>
                <a:extLst>
                  <a:ext uri="{0D108BD9-81ED-4DB2-BD59-A6C34878D82A}">
                    <a16:rowId xmlns:a16="http://schemas.microsoft.com/office/drawing/2014/main" val="10000"/>
                  </a:ext>
                </a:extLst>
              </a:tr>
              <a:tr h="1468725">
                <a:tc>
                  <a:txBody>
                    <a:bodyPr/>
                    <a:lstStyle/>
                    <a:p>
                      <a:pPr marL="0" marR="0" lvl="0" indent="0" algn="just" rtl="0">
                        <a:lnSpc>
                          <a:spcPct val="100000"/>
                        </a:lnSpc>
                        <a:spcBef>
                          <a:spcPts val="0"/>
                        </a:spcBef>
                        <a:spcAft>
                          <a:spcPts val="0"/>
                        </a:spcAft>
                        <a:buNone/>
                      </a:pPr>
                      <a:r>
                        <a:rPr lang="en-US" sz="1400" u="none" strike="noStrike" cap="none">
                          <a:latin typeface="Times New Roman"/>
                          <a:ea typeface="Times New Roman"/>
                          <a:cs typeface="Times New Roman"/>
                          <a:sym typeface="Times New Roman"/>
                        </a:rPr>
                        <a:t>[3]</a:t>
                      </a:r>
                      <a:endParaRPr/>
                    </a:p>
                  </a:txBody>
                  <a:tcPr marL="45725" marR="45725" marT="45725" marB="45725">
                    <a:solidFill>
                      <a:srgbClr val="D5DBDE"/>
                    </a:solidFill>
                  </a:tcPr>
                </a:tc>
                <a:tc>
                  <a:txBody>
                    <a:bodyPr/>
                    <a:lstStyle/>
                    <a:p>
                      <a:pPr algn="just">
                        <a:buNone/>
                      </a:pPr>
                      <a:r>
                        <a:rPr lang="en-US" b="0" dirty="0">
                          <a:latin typeface="Times New Roman" panose="02020603050405020304" pitchFamily="18" charset="0"/>
                          <a:cs typeface="Times New Roman" panose="02020603050405020304" pitchFamily="18" charset="0"/>
                        </a:rPr>
                        <a:t>Toxic Comment Classification Using S-BERT and Random Forest (IC3 2022)</a:t>
                      </a:r>
                    </a:p>
                  </a:txBody>
                  <a:tcPr>
                    <a:solidFill>
                      <a:srgbClr val="D5DBDE"/>
                    </a:solidFill>
                  </a:tcPr>
                </a:tc>
                <a:tc>
                  <a:txBody>
                    <a:bodyPr/>
                    <a:lstStyle/>
                    <a:p>
                      <a:pPr algn="just">
                        <a:buNone/>
                      </a:pPr>
                      <a:r>
                        <a:rPr lang="en-US" b="0" dirty="0">
                          <a:latin typeface="Times New Roman" panose="02020603050405020304" pitchFamily="18" charset="0"/>
                          <a:cs typeface="Times New Roman" panose="02020603050405020304" pitchFamily="18" charset="0"/>
                        </a:rPr>
                        <a:t>Toxic Comment Classification Using S-BERT and Random Forest (IC3 2022)</a:t>
                      </a:r>
                    </a:p>
                  </a:txBody>
                  <a:tcPr>
                    <a:solidFill>
                      <a:srgbClr val="D5DBDE"/>
                    </a:solidFill>
                  </a:tcPr>
                </a:tc>
                <a:tc>
                  <a:txBody>
                    <a:bodyPr/>
                    <a:lstStyle/>
                    <a:p>
                      <a:pPr algn="just">
                        <a:buNone/>
                      </a:pPr>
                      <a:r>
                        <a:rPr lang="en-US" b="0" dirty="0">
                          <a:latin typeface="Times New Roman" panose="02020603050405020304" pitchFamily="18" charset="0"/>
                          <a:cs typeface="Times New Roman" panose="02020603050405020304" pitchFamily="18" charset="0"/>
                        </a:rPr>
                        <a:t>Toxic Comment Classification Using S-BERT and Random Forest (IC3 2022)</a:t>
                      </a:r>
                    </a:p>
                  </a:txBody>
                  <a:tcPr>
                    <a:solidFill>
                      <a:srgbClr val="D5DBDE"/>
                    </a:solidFill>
                  </a:tcPr>
                </a:tc>
                <a:extLst>
                  <a:ext uri="{0D108BD9-81ED-4DB2-BD59-A6C34878D82A}">
                    <a16:rowId xmlns:a16="http://schemas.microsoft.com/office/drawing/2014/main" val="10001"/>
                  </a:ext>
                </a:extLst>
              </a:tr>
              <a:tr h="1468725">
                <a:tc>
                  <a:txBody>
                    <a:bodyPr/>
                    <a:lstStyle/>
                    <a:p>
                      <a:pPr marL="0" marR="0" lvl="0" indent="0" algn="just" rtl="0">
                        <a:lnSpc>
                          <a:spcPct val="100000"/>
                        </a:lnSpc>
                        <a:spcBef>
                          <a:spcPts val="0"/>
                        </a:spcBef>
                        <a:spcAft>
                          <a:spcPts val="0"/>
                        </a:spcAft>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45725" marR="45725" marT="45725" marB="45725">
                    <a:solidFill>
                      <a:srgbClr val="D5DBDE"/>
                    </a:solidFill>
                  </a:tcPr>
                </a:tc>
                <a:tc>
                  <a:txBody>
                    <a:bodyPr/>
                    <a:lstStyle/>
                    <a:p>
                      <a:pPr algn="just">
                        <a:buNone/>
                      </a:pPr>
                      <a:r>
                        <a:rPr lang="en-IN" b="0">
                          <a:latin typeface="Times New Roman" panose="02020603050405020304" pitchFamily="18" charset="0"/>
                          <a:cs typeface="Times New Roman" panose="02020603050405020304" pitchFamily="18" charset="0"/>
                        </a:rPr>
                        <a:t>Multilingual Abusive Comment Detection at Scale (NeurIPS D&amp;B 2022)</a:t>
                      </a:r>
                    </a:p>
                  </a:txBody>
                  <a:tcPr>
                    <a:solidFill>
                      <a:srgbClr val="D5DBDE"/>
                    </a:solidFill>
                  </a:tcPr>
                </a:tc>
                <a:tc>
                  <a:txBody>
                    <a:bodyPr/>
                    <a:lstStyle/>
                    <a:p>
                      <a:pPr algn="just">
                        <a:buNone/>
                      </a:pPr>
                      <a:r>
                        <a:rPr lang="en-IN" b="0">
                          <a:latin typeface="Times New Roman" panose="02020603050405020304" pitchFamily="18" charset="0"/>
                          <a:cs typeface="Times New Roman" panose="02020603050405020304" pitchFamily="18" charset="0"/>
                        </a:rPr>
                        <a:t>Multilingual Abusive Comment Detection at Scale (NeurIPS D&amp;B 2022)</a:t>
                      </a:r>
                    </a:p>
                  </a:txBody>
                  <a:tcPr>
                    <a:solidFill>
                      <a:srgbClr val="D5DBDE"/>
                    </a:solidFill>
                  </a:tcPr>
                </a:tc>
                <a:tc>
                  <a:txBody>
                    <a:bodyPr/>
                    <a:lstStyle/>
                    <a:p>
                      <a:pPr algn="just">
                        <a:buNone/>
                      </a:pPr>
                      <a:r>
                        <a:rPr lang="en-IN" b="0" dirty="0">
                          <a:latin typeface="Times New Roman" panose="02020603050405020304" pitchFamily="18" charset="0"/>
                          <a:cs typeface="Times New Roman" panose="02020603050405020304" pitchFamily="18" charset="0"/>
                        </a:rPr>
                        <a:t>Multilingual Abusive Comment Detection at Scale (</a:t>
                      </a:r>
                      <a:r>
                        <a:rPr lang="en-IN" b="0" dirty="0" err="1">
                          <a:latin typeface="Times New Roman" panose="02020603050405020304" pitchFamily="18" charset="0"/>
                          <a:cs typeface="Times New Roman" panose="02020603050405020304" pitchFamily="18" charset="0"/>
                        </a:rPr>
                        <a:t>NeurIPS</a:t>
                      </a:r>
                      <a:r>
                        <a:rPr lang="en-IN" b="0" dirty="0">
                          <a:latin typeface="Times New Roman" panose="02020603050405020304" pitchFamily="18" charset="0"/>
                          <a:cs typeface="Times New Roman" panose="02020603050405020304" pitchFamily="18" charset="0"/>
                        </a:rPr>
                        <a:t> D&amp;B 2022)</a:t>
                      </a:r>
                    </a:p>
                  </a:txBody>
                  <a:tcPr>
                    <a:solidFill>
                      <a:srgbClr val="D5DBDE"/>
                    </a:solidFill>
                  </a:tcPr>
                </a:tc>
                <a:extLst>
                  <a:ext uri="{0D108BD9-81ED-4DB2-BD59-A6C34878D82A}">
                    <a16:rowId xmlns:a16="http://schemas.microsoft.com/office/drawing/2014/main" val="10002"/>
                  </a:ext>
                </a:extLst>
              </a:tr>
            </a:tbl>
          </a:graphicData>
        </a:graphic>
      </p:graphicFrame>
      <p:sp>
        <p:nvSpPr>
          <p:cNvPr id="134" name="Google Shape;134;p11"/>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8</a:t>
            </a:fld>
            <a:endParaRPr/>
          </a:p>
        </p:txBody>
      </p:sp>
      <p:sp>
        <p:nvSpPr>
          <p:cNvPr id="135" name="Google Shape;135;p11"/>
          <p:cNvSpPr txBox="1"/>
          <p:nvPr/>
        </p:nvSpPr>
        <p:spPr>
          <a:xfrm>
            <a:off x="367539" y="152400"/>
            <a:ext cx="8617099" cy="584771"/>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None/>
            </a:pPr>
            <a:r>
              <a:rPr lang="en-US" sz="3200" dirty="0">
                <a:latin typeface="Times New Roman"/>
                <a:ea typeface="Times New Roman"/>
                <a:cs typeface="Times New Roman"/>
                <a:sym typeface="Times New Roman"/>
              </a:rPr>
              <a:t>5</a:t>
            </a:r>
            <a:r>
              <a:rPr lang="en-US" sz="3200" b="0" i="0" u="none" strike="noStrike" cap="none" dirty="0">
                <a:solidFill>
                  <a:srgbClr val="000000"/>
                </a:solidFill>
                <a:latin typeface="Times New Roman"/>
                <a:ea typeface="Times New Roman"/>
                <a:cs typeface="Times New Roman"/>
                <a:sym typeface="Times New Roman"/>
              </a:rPr>
              <a:t>. Literature Survey (Existing Approaches) </a:t>
            </a:r>
            <a:r>
              <a:rPr lang="en-US" sz="3200" b="0" i="0" u="none" strike="noStrike" cap="none" dirty="0" err="1">
                <a:solidFill>
                  <a:srgbClr val="000000"/>
                </a:solidFill>
                <a:latin typeface="Times New Roman"/>
                <a:ea typeface="Times New Roman"/>
                <a:cs typeface="Times New Roman"/>
                <a:sym typeface="Times New Roman"/>
              </a:rPr>
              <a:t>contd</a:t>
            </a:r>
            <a:r>
              <a:rPr lang="en-US" sz="3200" b="0" i="0" u="none" strike="noStrike" cap="none" dirty="0">
                <a:solidFill>
                  <a:srgbClr val="000000"/>
                </a:solidFill>
                <a:latin typeface="Times New Roman"/>
                <a:ea typeface="Times New Roman"/>
                <a:cs typeface="Times New Roman"/>
                <a:sym typeface="Times New Roman"/>
              </a:rPr>
              <a:t>…</a:t>
            </a:r>
            <a:endParaRPr sz="32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graphicFrame>
        <p:nvGraphicFramePr>
          <p:cNvPr id="140" name="Google Shape;140;p12"/>
          <p:cNvGraphicFramePr/>
          <p:nvPr>
            <p:extLst>
              <p:ext uri="{D42A27DB-BD31-4B8C-83A1-F6EECF244321}">
                <p14:modId xmlns:p14="http://schemas.microsoft.com/office/powerpoint/2010/main" val="538219765"/>
              </p:ext>
            </p:extLst>
          </p:nvPr>
        </p:nvGraphicFramePr>
        <p:xfrm>
          <a:off x="192505" y="824255"/>
          <a:ext cx="8758975" cy="3772770"/>
        </p:xfrm>
        <a:graphic>
          <a:graphicData uri="http://schemas.openxmlformats.org/drawingml/2006/table">
            <a:tbl>
              <a:tblPr>
                <a:noFill/>
                <a:tableStyleId>{F90BD25F-960E-4EDE-841B-6BAD378992E6}</a:tableStyleId>
              </a:tblPr>
              <a:tblGrid>
                <a:gridCol w="1172725">
                  <a:extLst>
                    <a:ext uri="{9D8B030D-6E8A-4147-A177-3AD203B41FA5}">
                      <a16:colId xmlns:a16="http://schemas.microsoft.com/office/drawing/2014/main" val="20000"/>
                    </a:ext>
                  </a:extLst>
                </a:gridCol>
                <a:gridCol w="2638625">
                  <a:extLst>
                    <a:ext uri="{9D8B030D-6E8A-4147-A177-3AD203B41FA5}">
                      <a16:colId xmlns:a16="http://schemas.microsoft.com/office/drawing/2014/main" val="20001"/>
                    </a:ext>
                  </a:extLst>
                </a:gridCol>
                <a:gridCol w="2606350">
                  <a:extLst>
                    <a:ext uri="{9D8B030D-6E8A-4147-A177-3AD203B41FA5}">
                      <a16:colId xmlns:a16="http://schemas.microsoft.com/office/drawing/2014/main" val="20002"/>
                    </a:ext>
                  </a:extLst>
                </a:gridCol>
                <a:gridCol w="2341275">
                  <a:extLst>
                    <a:ext uri="{9D8B030D-6E8A-4147-A177-3AD203B41FA5}">
                      <a16:colId xmlns:a16="http://schemas.microsoft.com/office/drawing/2014/main" val="20003"/>
                    </a:ext>
                  </a:extLst>
                </a:gridCol>
              </a:tblGrid>
              <a:tr h="500400">
                <a:tc>
                  <a:txBody>
                    <a:bodyPr/>
                    <a:lstStyle/>
                    <a:p>
                      <a:pPr marL="0" marR="0" lvl="0" indent="0" algn="just" rtl="0">
                        <a:lnSpc>
                          <a:spcPct val="100000"/>
                        </a:lnSpc>
                        <a:spcBef>
                          <a:spcPts val="0"/>
                        </a:spcBef>
                        <a:spcAft>
                          <a:spcPts val="0"/>
                        </a:spcAft>
                        <a:buNone/>
                      </a:pPr>
                      <a:r>
                        <a:rPr lang="en-US" sz="1400" b="1" u="none" strike="noStrike" cap="none" dirty="0">
                          <a:solidFill>
                            <a:srgbClr val="FFFFFF"/>
                          </a:solidFill>
                          <a:latin typeface="Times New Roman"/>
                          <a:ea typeface="Times New Roman"/>
                          <a:cs typeface="Times New Roman"/>
                          <a:sym typeface="Times New Roman"/>
                        </a:rPr>
                        <a:t>Reference Number</a:t>
                      </a:r>
                      <a:endParaRPr dirty="0"/>
                    </a:p>
                  </a:txBody>
                  <a:tcPr marL="45725" marR="45725" marT="45725" marB="45725">
                    <a:solidFill>
                      <a:schemeClr val="accent3"/>
                    </a:solidFill>
                  </a:tcPr>
                </a:tc>
                <a:tc>
                  <a:txBody>
                    <a:bodyPr/>
                    <a:lstStyle/>
                    <a:p>
                      <a:pPr marL="0" marR="0" lvl="0" indent="0" algn="just" rtl="0">
                        <a:lnSpc>
                          <a:spcPct val="100000"/>
                        </a:lnSpc>
                        <a:spcBef>
                          <a:spcPts val="0"/>
                        </a:spcBef>
                        <a:spcAft>
                          <a:spcPts val="0"/>
                        </a:spcAft>
                        <a:buNone/>
                      </a:pPr>
                      <a:r>
                        <a:rPr lang="en-US" sz="1400" b="1" u="none" strike="noStrike" cap="none">
                          <a:solidFill>
                            <a:srgbClr val="FFFFFF"/>
                          </a:solidFill>
                          <a:latin typeface="Times New Roman"/>
                          <a:ea typeface="Times New Roman"/>
                          <a:cs typeface="Times New Roman"/>
                          <a:sym typeface="Times New Roman"/>
                        </a:rPr>
                        <a:t>Title</a:t>
                      </a:r>
                      <a:endParaRPr/>
                    </a:p>
                  </a:txBody>
                  <a:tcPr marL="45725" marR="45725" marT="45725" marB="45725">
                    <a:solidFill>
                      <a:schemeClr val="accent3"/>
                    </a:solidFill>
                  </a:tcPr>
                </a:tc>
                <a:tc>
                  <a:txBody>
                    <a:bodyPr/>
                    <a:lstStyle/>
                    <a:p>
                      <a:pPr marL="0" marR="0" lvl="0" indent="0" algn="just" rtl="0">
                        <a:lnSpc>
                          <a:spcPct val="100000"/>
                        </a:lnSpc>
                        <a:spcBef>
                          <a:spcPts val="0"/>
                        </a:spcBef>
                        <a:spcAft>
                          <a:spcPts val="0"/>
                        </a:spcAft>
                        <a:buNone/>
                      </a:pPr>
                      <a:r>
                        <a:rPr lang="en-US" sz="1400" b="1" u="none" strike="noStrike" cap="none">
                          <a:solidFill>
                            <a:srgbClr val="FFFFFF"/>
                          </a:solidFill>
                          <a:latin typeface="Times New Roman"/>
                          <a:ea typeface="Times New Roman"/>
                          <a:cs typeface="Times New Roman"/>
                          <a:sym typeface="Times New Roman"/>
                        </a:rPr>
                        <a:t>Methodology</a:t>
                      </a:r>
                      <a:endParaRPr/>
                    </a:p>
                  </a:txBody>
                  <a:tcPr marL="45725" marR="45725" marT="45725" marB="45725">
                    <a:solidFill>
                      <a:schemeClr val="accent3"/>
                    </a:solidFill>
                  </a:tcPr>
                </a:tc>
                <a:tc>
                  <a:txBody>
                    <a:bodyPr/>
                    <a:lstStyle/>
                    <a:p>
                      <a:pPr marL="0" marR="0" lvl="0" indent="0" algn="just" rtl="0">
                        <a:lnSpc>
                          <a:spcPct val="100000"/>
                        </a:lnSpc>
                        <a:spcBef>
                          <a:spcPts val="0"/>
                        </a:spcBef>
                        <a:spcAft>
                          <a:spcPts val="0"/>
                        </a:spcAft>
                        <a:buNone/>
                      </a:pPr>
                      <a:r>
                        <a:rPr lang="en-US" sz="1400" b="1" u="none" strike="noStrike" cap="none">
                          <a:solidFill>
                            <a:srgbClr val="FFFFFF"/>
                          </a:solidFill>
                          <a:latin typeface="Times New Roman"/>
                          <a:ea typeface="Times New Roman"/>
                          <a:cs typeface="Times New Roman"/>
                          <a:sym typeface="Times New Roman"/>
                        </a:rPr>
                        <a:t>Results/Remarks</a:t>
                      </a:r>
                      <a:endParaRPr/>
                    </a:p>
                  </a:txBody>
                  <a:tcPr marL="45725" marR="45725" marT="45725" marB="45725">
                    <a:solidFill>
                      <a:schemeClr val="accent3"/>
                    </a:solidFill>
                  </a:tcPr>
                </a:tc>
                <a:extLst>
                  <a:ext uri="{0D108BD9-81ED-4DB2-BD59-A6C34878D82A}">
                    <a16:rowId xmlns:a16="http://schemas.microsoft.com/office/drawing/2014/main" val="10000"/>
                  </a:ext>
                </a:extLst>
              </a:tr>
              <a:tr h="1942725">
                <a:tc>
                  <a:txBody>
                    <a:bodyPr/>
                    <a:lstStyle/>
                    <a:p>
                      <a:pPr marL="0" marR="0" lvl="0" indent="0" algn="just" rtl="0">
                        <a:lnSpc>
                          <a:spcPct val="100000"/>
                        </a:lnSpc>
                        <a:spcBef>
                          <a:spcPts val="0"/>
                        </a:spcBef>
                        <a:spcAft>
                          <a:spcPts val="0"/>
                        </a:spcAft>
                        <a:buNone/>
                      </a:pPr>
                      <a:r>
                        <a:rPr lang="en-US" sz="1400" u="none" strike="noStrike" cap="none">
                          <a:latin typeface="Times New Roman"/>
                          <a:ea typeface="Times New Roman"/>
                          <a:cs typeface="Times New Roman"/>
                          <a:sym typeface="Times New Roman"/>
                        </a:rPr>
                        <a:t>[5]</a:t>
                      </a:r>
                      <a:endParaRPr/>
                    </a:p>
                  </a:txBody>
                  <a:tcPr marL="45725" marR="45725" marT="45725" marB="45725">
                    <a:solidFill>
                      <a:srgbClr val="D5DBDE"/>
                    </a:solidFill>
                  </a:tcPr>
                </a:tc>
                <a:tc>
                  <a:txBody>
                    <a:bodyPr/>
                    <a:lstStyle/>
                    <a:p>
                      <a:pPr marL="0" marR="0" lvl="0" indent="0" algn="just" rtl="0">
                        <a:lnSpc>
                          <a:spcPct val="100000"/>
                        </a:lnSpc>
                        <a:spcBef>
                          <a:spcPts val="0"/>
                        </a:spcBef>
                        <a:spcAft>
                          <a:spcPts val="0"/>
                        </a:spcAft>
                        <a:buNone/>
                      </a:pPr>
                      <a:r>
                        <a:rPr lang="en-US" sz="1400" u="none" strike="noStrike" cap="none" dirty="0">
                          <a:solidFill>
                            <a:srgbClr val="0D0D0D"/>
                          </a:solidFill>
                          <a:latin typeface="Times New Roman"/>
                          <a:ea typeface="Times New Roman"/>
                          <a:cs typeface="Times New Roman"/>
                          <a:sym typeface="Times New Roman"/>
                        </a:rPr>
                        <a:t>HASOC 2023 </a:t>
                      </a:r>
                      <a:r>
                        <a:rPr lang="en-US" sz="1400" u="none" strike="noStrike" cap="none" dirty="0" err="1">
                          <a:solidFill>
                            <a:srgbClr val="0D0D0D"/>
                          </a:solidFill>
                          <a:latin typeface="Times New Roman"/>
                          <a:ea typeface="Times New Roman"/>
                          <a:cs typeface="Times New Roman"/>
                          <a:sym typeface="Times New Roman"/>
                        </a:rPr>
                        <a:t>Subtracks</a:t>
                      </a:r>
                      <a:r>
                        <a:rPr lang="en-US" sz="1400" u="none" strike="noStrike" cap="none" dirty="0">
                          <a:solidFill>
                            <a:srgbClr val="0D0D0D"/>
                          </a:solidFill>
                          <a:latin typeface="Times New Roman"/>
                          <a:ea typeface="Times New Roman"/>
                          <a:cs typeface="Times New Roman"/>
                          <a:sym typeface="Times New Roman"/>
                        </a:rPr>
                        <a:t> (FIRE 2023)</a:t>
                      </a:r>
                      <a:endParaRPr sz="1400" u="none" strike="noStrike" cap="none" dirty="0">
                        <a:solidFill>
                          <a:srgbClr val="0D0D0D"/>
                        </a:solidFill>
                        <a:latin typeface="Times New Roman"/>
                        <a:ea typeface="Times New Roman"/>
                        <a:cs typeface="Times New Roman"/>
                        <a:sym typeface="Times New Roman"/>
                      </a:endParaRPr>
                    </a:p>
                  </a:txBody>
                  <a:tcPr marL="45725" marR="45725" marT="45725" marB="45725">
                    <a:solidFill>
                      <a:srgbClr val="D5DBDE"/>
                    </a:solidFill>
                  </a:tcPr>
                </a:tc>
                <a:tc>
                  <a:txBody>
                    <a:bodyPr/>
                    <a:lstStyle/>
                    <a:p>
                      <a:pPr marL="0" marR="0" lvl="0" indent="0" algn="just" rtl="0">
                        <a:lnSpc>
                          <a:spcPct val="100000"/>
                        </a:lnSpc>
                        <a:spcBef>
                          <a:spcPts val="0"/>
                        </a:spcBef>
                        <a:spcAft>
                          <a:spcPts val="0"/>
                        </a:spcAft>
                        <a:buNone/>
                      </a:pPr>
                      <a:r>
                        <a:rPr lang="en-US" sz="1400" u="none" strike="noStrike" cap="none" dirty="0">
                          <a:latin typeface="Times New Roman"/>
                          <a:ea typeface="Times New Roman"/>
                          <a:cs typeface="Times New Roman"/>
                          <a:sym typeface="Times New Roman"/>
                        </a:rPr>
                        <a:t>Shared task with hate/offense detection across Indic languages using CNNs, transformers, and ensembles.</a:t>
                      </a:r>
                      <a:endParaRPr sz="1400" u="none" strike="noStrike" cap="none" dirty="0">
                        <a:latin typeface="Times New Roman"/>
                        <a:ea typeface="Times New Roman"/>
                        <a:cs typeface="Times New Roman"/>
                        <a:sym typeface="Times New Roman"/>
                      </a:endParaRPr>
                    </a:p>
                  </a:txBody>
                  <a:tcPr marL="45725" marR="45725" marT="45725" marB="45725">
                    <a:solidFill>
                      <a:srgbClr val="D5DBDE"/>
                    </a:solidFill>
                  </a:tcPr>
                </a:tc>
                <a:tc>
                  <a:txBody>
                    <a:bodyPr/>
                    <a:lstStyle/>
                    <a:p>
                      <a:pPr marL="0" marR="0" lvl="0" indent="0" algn="just" rtl="0">
                        <a:lnSpc>
                          <a:spcPct val="100000"/>
                        </a:lnSpc>
                        <a:spcBef>
                          <a:spcPts val="0"/>
                        </a:spcBef>
                        <a:spcAft>
                          <a:spcPts val="0"/>
                        </a:spcAft>
                        <a:buNone/>
                      </a:pPr>
                      <a:r>
                        <a:rPr lang="en-US" sz="1400" u="none" strike="noStrike" cap="none" dirty="0">
                          <a:latin typeface="Times New Roman"/>
                          <a:ea typeface="Times New Roman"/>
                          <a:cs typeface="Times New Roman"/>
                          <a:sym typeface="Times New Roman"/>
                        </a:rPr>
                        <a:t>Best F1 ≈ 0.65. Aligns because our project also needs classification into abusive/review/neutral in real-world contexts.</a:t>
                      </a:r>
                      <a:endParaRPr sz="1400" u="none" strike="noStrike" cap="none" dirty="0">
                        <a:latin typeface="Times New Roman"/>
                        <a:ea typeface="Times New Roman"/>
                        <a:cs typeface="Times New Roman"/>
                        <a:sym typeface="Times New Roman"/>
                      </a:endParaRPr>
                    </a:p>
                  </a:txBody>
                  <a:tcPr marL="45725" marR="45725" marT="45725" marB="45725">
                    <a:solidFill>
                      <a:srgbClr val="D5DBDE"/>
                    </a:solidFill>
                  </a:tcPr>
                </a:tc>
                <a:extLst>
                  <a:ext uri="{0D108BD9-81ED-4DB2-BD59-A6C34878D82A}">
                    <a16:rowId xmlns:a16="http://schemas.microsoft.com/office/drawing/2014/main" val="10001"/>
                  </a:ext>
                </a:extLst>
              </a:tr>
              <a:tr h="1311875">
                <a:tc>
                  <a:txBody>
                    <a:bodyPr/>
                    <a:lstStyle/>
                    <a:p>
                      <a:pPr marL="0" marR="0" lvl="0" indent="0" algn="just" rtl="0">
                        <a:lnSpc>
                          <a:spcPct val="100000"/>
                        </a:lnSpc>
                        <a:spcBef>
                          <a:spcPts val="0"/>
                        </a:spcBef>
                        <a:spcAft>
                          <a:spcPts val="0"/>
                        </a:spcAft>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45725" marR="45725" marT="45725" marB="45725">
                    <a:solidFill>
                      <a:srgbClr val="D5DBDE"/>
                    </a:solidFill>
                  </a:tcPr>
                </a:tc>
                <a:tc>
                  <a:txBody>
                    <a:bodyPr/>
                    <a:lstStyle/>
                    <a:p>
                      <a:pPr marL="0" marR="0" lvl="0" indent="0" algn="l" rtl="0">
                        <a:lnSpc>
                          <a:spcPct val="100000"/>
                        </a:lnSpc>
                        <a:spcBef>
                          <a:spcPts val="0"/>
                        </a:spcBef>
                        <a:spcAft>
                          <a:spcPts val="0"/>
                        </a:spcAft>
                        <a:buNone/>
                      </a:pPr>
                      <a:r>
                        <a:rPr lang="en-US" sz="1400" u="none" strike="noStrike" cap="none" dirty="0">
                          <a:solidFill>
                            <a:srgbClr val="0D0D0D"/>
                          </a:solidFill>
                          <a:latin typeface="Times New Roman"/>
                          <a:ea typeface="Times New Roman"/>
                          <a:cs typeface="Times New Roman"/>
                          <a:sym typeface="Times New Roman"/>
                        </a:rPr>
                        <a:t>Overview of HASOC 2023 (ACM FIRE Proceedings)</a:t>
                      </a:r>
                      <a:endParaRPr dirty="0"/>
                    </a:p>
                  </a:txBody>
                  <a:tcPr marL="45725" marR="45725" marT="45725" marB="45725">
                    <a:solidFill>
                      <a:srgbClr val="D5DBDE"/>
                    </a:solidFill>
                  </a:tcPr>
                </a:tc>
                <a:tc>
                  <a:txBody>
                    <a:bodyPr/>
                    <a:lstStyle/>
                    <a:p>
                      <a:pPr marL="0" marR="0" lvl="0" indent="0" algn="just" rtl="0">
                        <a:lnSpc>
                          <a:spcPct val="100000"/>
                        </a:lnSpc>
                        <a:spcBef>
                          <a:spcPts val="0"/>
                        </a:spcBef>
                        <a:spcAft>
                          <a:spcPts val="0"/>
                        </a:spcAft>
                        <a:buNone/>
                      </a:pPr>
                      <a:r>
                        <a:rPr lang="en-US" sz="1400" u="none" strike="noStrike" cap="none" dirty="0">
                          <a:latin typeface="Times New Roman"/>
                          <a:ea typeface="Times New Roman"/>
                          <a:cs typeface="Times New Roman"/>
                          <a:sym typeface="Times New Roman"/>
                        </a:rPr>
                        <a:t>Benchmarked abusive language systems in low-resource languages; surveyed methods.</a:t>
                      </a:r>
                      <a:endParaRPr sz="1400" u="none" strike="noStrike" cap="none" dirty="0">
                        <a:latin typeface="Times New Roman"/>
                        <a:ea typeface="Times New Roman"/>
                        <a:cs typeface="Times New Roman"/>
                        <a:sym typeface="Times New Roman"/>
                      </a:endParaRPr>
                    </a:p>
                  </a:txBody>
                  <a:tcPr marL="45725" marR="45725" marT="45725" marB="45725">
                    <a:solidFill>
                      <a:srgbClr val="D5DBDE"/>
                    </a:solidFill>
                  </a:tcPr>
                </a:tc>
                <a:tc>
                  <a:txBody>
                    <a:bodyPr/>
                    <a:lstStyle/>
                    <a:p>
                      <a:pPr marL="0" marR="0" lvl="0" indent="0" algn="just" rtl="0">
                        <a:lnSpc>
                          <a:spcPct val="100000"/>
                        </a:lnSpc>
                        <a:spcBef>
                          <a:spcPts val="0"/>
                        </a:spcBef>
                        <a:spcAft>
                          <a:spcPts val="0"/>
                        </a:spcAft>
                        <a:buNone/>
                      </a:pPr>
                      <a:r>
                        <a:rPr lang="en-US" sz="1400" u="none" strike="noStrike" cap="none" dirty="0">
                          <a:latin typeface="Times New Roman"/>
                          <a:ea typeface="Times New Roman"/>
                          <a:cs typeface="Times New Roman"/>
                          <a:sym typeface="Times New Roman"/>
                        </a:rPr>
                        <a:t>Provided datasets and baselines. Aligns since benchmarking helps validate our own model’s performance.</a:t>
                      </a:r>
                      <a:endParaRPr dirty="0"/>
                    </a:p>
                  </a:txBody>
                  <a:tcPr marL="45725" marR="45725" marT="45725" marB="45725">
                    <a:solidFill>
                      <a:srgbClr val="D5DBDE"/>
                    </a:solidFill>
                  </a:tcPr>
                </a:tc>
                <a:extLst>
                  <a:ext uri="{0D108BD9-81ED-4DB2-BD59-A6C34878D82A}">
                    <a16:rowId xmlns:a16="http://schemas.microsoft.com/office/drawing/2014/main" val="10002"/>
                  </a:ext>
                </a:extLst>
              </a:tr>
            </a:tbl>
          </a:graphicData>
        </a:graphic>
      </p:graphicFrame>
      <p:sp>
        <p:nvSpPr>
          <p:cNvPr id="141" name="Google Shape;141;p12"/>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9</a:t>
            </a:fld>
            <a:endParaRPr/>
          </a:p>
        </p:txBody>
      </p:sp>
      <p:sp>
        <p:nvSpPr>
          <p:cNvPr id="142" name="Google Shape;142;p12"/>
          <p:cNvSpPr txBox="1"/>
          <p:nvPr/>
        </p:nvSpPr>
        <p:spPr>
          <a:xfrm>
            <a:off x="367539" y="152400"/>
            <a:ext cx="8617099" cy="584771"/>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None/>
            </a:pPr>
            <a:r>
              <a:rPr lang="en-US" sz="3200" dirty="0">
                <a:latin typeface="Times New Roman"/>
                <a:ea typeface="Times New Roman"/>
                <a:cs typeface="Times New Roman"/>
                <a:sym typeface="Times New Roman"/>
              </a:rPr>
              <a:t>5</a:t>
            </a:r>
            <a:r>
              <a:rPr lang="en-US" sz="3200" b="0" i="0" u="none" strike="noStrike" cap="none" dirty="0">
                <a:solidFill>
                  <a:srgbClr val="000000"/>
                </a:solidFill>
                <a:latin typeface="Times New Roman"/>
                <a:ea typeface="Times New Roman"/>
                <a:cs typeface="Times New Roman"/>
                <a:sym typeface="Times New Roman"/>
              </a:rPr>
              <a:t>. Literature Survey (Existing Approaches) </a:t>
            </a:r>
            <a:r>
              <a:rPr lang="en-US" sz="3200" b="0" i="0" u="none" strike="noStrike" cap="none" dirty="0" err="1">
                <a:solidFill>
                  <a:srgbClr val="000000"/>
                </a:solidFill>
                <a:latin typeface="Times New Roman"/>
                <a:ea typeface="Times New Roman"/>
                <a:cs typeface="Times New Roman"/>
                <a:sym typeface="Times New Roman"/>
              </a:rPr>
              <a:t>contd</a:t>
            </a:r>
            <a:r>
              <a:rPr lang="en-US" sz="3200" b="0" i="0" u="none" strike="noStrike" cap="none" dirty="0">
                <a:solidFill>
                  <a:srgbClr val="000000"/>
                </a:solidFill>
                <a:latin typeface="Times New Roman"/>
                <a:ea typeface="Times New Roman"/>
                <a:cs typeface="Times New Roman"/>
                <a:sym typeface="Times New Roman"/>
              </a:rPr>
              <a:t>…</a:t>
            </a:r>
            <a:endParaRPr sz="32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5"/>
          <p:cNvSpPr txBox="1">
            <a:spLocks noGrp="1"/>
          </p:cNvSpPr>
          <p:nvPr>
            <p:ph type="title"/>
          </p:nvPr>
        </p:nvSpPr>
        <p:spPr>
          <a:xfrm>
            <a:off x="311699" y="118566"/>
            <a:ext cx="8520602" cy="572701"/>
          </a:xfrm>
          <a:prstGeom prst="rect">
            <a:avLst/>
          </a:prstGeom>
          <a:noFill/>
          <a:ln>
            <a:noFill/>
          </a:ln>
        </p:spPr>
        <p:txBody>
          <a:bodyPr spcFirstLastPara="1" wrap="square" lIns="91400" tIns="91400" rIns="91400" bIns="91400" anchor="t" anchorCtr="0">
            <a:noAutofit/>
          </a:bodyPr>
          <a:lstStyle/>
          <a:p>
            <a:pPr marL="0" lvl="0" indent="0" algn="ctr" rtl="0">
              <a:lnSpc>
                <a:spcPct val="100000"/>
              </a:lnSpc>
              <a:spcBef>
                <a:spcPts val="0"/>
              </a:spcBef>
              <a:spcAft>
                <a:spcPts val="0"/>
              </a:spcAft>
              <a:buSzPts val="1800"/>
              <a:buNone/>
            </a:pPr>
            <a:r>
              <a:rPr lang="en-US" dirty="0">
                <a:latin typeface="Times New Roman"/>
                <a:ea typeface="Times New Roman"/>
                <a:cs typeface="Times New Roman"/>
                <a:sym typeface="Times New Roman"/>
              </a:rPr>
              <a:t>6. Software &amp; Hardware Requirements</a:t>
            </a:r>
            <a:endParaRPr dirty="0"/>
          </a:p>
        </p:txBody>
      </p:sp>
      <p:graphicFrame>
        <p:nvGraphicFramePr>
          <p:cNvPr id="163" name="Google Shape;163;p15"/>
          <p:cNvGraphicFramePr/>
          <p:nvPr>
            <p:extLst>
              <p:ext uri="{D42A27DB-BD31-4B8C-83A1-F6EECF244321}">
                <p14:modId xmlns:p14="http://schemas.microsoft.com/office/powerpoint/2010/main" val="270737709"/>
              </p:ext>
            </p:extLst>
          </p:nvPr>
        </p:nvGraphicFramePr>
        <p:xfrm>
          <a:off x="493014" y="830176"/>
          <a:ext cx="8157975" cy="4119661"/>
        </p:xfrm>
        <a:graphic>
          <a:graphicData uri="http://schemas.openxmlformats.org/drawingml/2006/table">
            <a:tbl>
              <a:tblPr firstRow="1" bandRow="1">
                <a:noFill/>
                <a:tableStyleId>{C1CDC17D-0BAF-49D1-A989-1BA96F3E33D5}</a:tableStyleId>
              </a:tblPr>
              <a:tblGrid>
                <a:gridCol w="1043900">
                  <a:extLst>
                    <a:ext uri="{9D8B030D-6E8A-4147-A177-3AD203B41FA5}">
                      <a16:colId xmlns:a16="http://schemas.microsoft.com/office/drawing/2014/main" val="20000"/>
                    </a:ext>
                  </a:extLst>
                </a:gridCol>
                <a:gridCol w="3219650">
                  <a:extLst>
                    <a:ext uri="{9D8B030D-6E8A-4147-A177-3AD203B41FA5}">
                      <a16:colId xmlns:a16="http://schemas.microsoft.com/office/drawing/2014/main" val="20001"/>
                    </a:ext>
                  </a:extLst>
                </a:gridCol>
                <a:gridCol w="3894425">
                  <a:extLst>
                    <a:ext uri="{9D8B030D-6E8A-4147-A177-3AD203B41FA5}">
                      <a16:colId xmlns:a16="http://schemas.microsoft.com/office/drawing/2014/main" val="20002"/>
                    </a:ext>
                  </a:extLst>
                </a:gridCol>
              </a:tblGrid>
              <a:tr h="489525">
                <a:tc gridSpan="3">
                  <a:txBody>
                    <a:bodyPr/>
                    <a:lstStyle/>
                    <a:p>
                      <a:pPr marL="0" marR="0" lvl="0" indent="0" algn="ctr" rtl="0">
                        <a:lnSpc>
                          <a:spcPct val="150000"/>
                        </a:lnSpc>
                        <a:spcBef>
                          <a:spcPts val="0"/>
                        </a:spcBef>
                        <a:spcAft>
                          <a:spcPts val="0"/>
                        </a:spcAft>
                        <a:buNone/>
                      </a:pPr>
                      <a:r>
                        <a:rPr lang="en-US" sz="1600" u="none" strike="noStrike" cap="none" dirty="0">
                          <a:solidFill>
                            <a:schemeClr val="lt1"/>
                          </a:solidFill>
                          <a:latin typeface="Times New Roman"/>
                          <a:ea typeface="Times New Roman"/>
                          <a:cs typeface="Times New Roman"/>
                          <a:sym typeface="Times New Roman"/>
                        </a:rPr>
                        <a:t>Software Requirements</a:t>
                      </a:r>
                      <a:endParaRPr dirty="0"/>
                    </a:p>
                  </a:txBody>
                  <a:tcPr marL="91450" marR="91450" marT="45725" marB="45725"/>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89525">
                <a:tc>
                  <a:txBody>
                    <a:bodyPr/>
                    <a:lstStyle/>
                    <a:p>
                      <a:pPr marL="0" marR="0" lvl="0" indent="0" algn="ctr" rtl="0">
                        <a:lnSpc>
                          <a:spcPct val="150000"/>
                        </a:lnSpc>
                        <a:spcBef>
                          <a:spcPts val="0"/>
                        </a:spcBef>
                        <a:spcAft>
                          <a:spcPts val="0"/>
                        </a:spcAft>
                        <a:buNone/>
                      </a:pPr>
                      <a:r>
                        <a:rPr lang="en-US" sz="1400" u="none" strike="noStrike" cap="none">
                          <a:solidFill>
                            <a:schemeClr val="dk1"/>
                          </a:solidFill>
                          <a:latin typeface="Times New Roman"/>
                          <a:ea typeface="Times New Roman"/>
                          <a:cs typeface="Times New Roman"/>
                          <a:sym typeface="Times New Roman"/>
                        </a:rPr>
                        <a:t>S.No</a:t>
                      </a:r>
                      <a:endParaRPr/>
                    </a:p>
                  </a:txBody>
                  <a:tcPr marL="91450" marR="91450" marT="45725" marB="45725"/>
                </a:tc>
                <a:tc>
                  <a:txBody>
                    <a:bodyPr/>
                    <a:lstStyle/>
                    <a:p>
                      <a:pPr marL="0" marR="0" lvl="0" indent="0" algn="ctr" rtl="0">
                        <a:lnSpc>
                          <a:spcPct val="150000"/>
                        </a:lnSpc>
                        <a:spcBef>
                          <a:spcPts val="0"/>
                        </a:spcBef>
                        <a:spcAft>
                          <a:spcPts val="0"/>
                        </a:spcAft>
                        <a:buNone/>
                      </a:pPr>
                      <a:r>
                        <a:rPr lang="en-US" sz="1400" u="none" strike="noStrike" cap="none" dirty="0">
                          <a:solidFill>
                            <a:schemeClr val="dk1"/>
                          </a:solidFill>
                          <a:latin typeface="Times New Roman"/>
                          <a:cs typeface="Times New Roman"/>
                          <a:sym typeface="Times New Roman"/>
                        </a:rPr>
                        <a:t>Requirement Type</a:t>
                      </a:r>
                      <a:endParaRPr dirty="0"/>
                    </a:p>
                  </a:txBody>
                  <a:tcPr marL="91450" marR="91450" marT="45725" marB="45725"/>
                </a:tc>
                <a:tc>
                  <a:txBody>
                    <a:bodyPr/>
                    <a:lstStyle/>
                    <a:p>
                      <a:pPr marL="0" marR="0" lvl="0" indent="0" algn="ctr" rtl="0">
                        <a:lnSpc>
                          <a:spcPct val="150000"/>
                        </a:lnSpc>
                        <a:spcBef>
                          <a:spcPts val="0"/>
                        </a:spcBef>
                        <a:spcAft>
                          <a:spcPts val="0"/>
                        </a:spcAft>
                        <a:buNone/>
                      </a:pPr>
                      <a:r>
                        <a:rPr lang="en-US" sz="1400" u="none" strike="noStrike" cap="none" dirty="0">
                          <a:solidFill>
                            <a:schemeClr val="dk1"/>
                          </a:solidFill>
                          <a:latin typeface="Times New Roman"/>
                          <a:cs typeface="Times New Roman"/>
                          <a:sym typeface="Times New Roman"/>
                        </a:rPr>
                        <a:t>Technology/ Software</a:t>
                      </a:r>
                      <a:endParaRPr dirty="0"/>
                    </a:p>
                  </a:txBody>
                  <a:tcPr marL="91450" marR="91450" marT="45725" marB="45725"/>
                </a:tc>
                <a:extLst>
                  <a:ext uri="{0D108BD9-81ED-4DB2-BD59-A6C34878D82A}">
                    <a16:rowId xmlns:a16="http://schemas.microsoft.com/office/drawing/2014/main" val="10001"/>
                  </a:ext>
                </a:extLst>
              </a:tr>
              <a:tr h="489525">
                <a:tc>
                  <a:txBody>
                    <a:bodyPr/>
                    <a:lstStyle/>
                    <a:p>
                      <a:pPr marL="0" marR="0" lvl="0" indent="0" algn="ctr" rtl="0">
                        <a:lnSpc>
                          <a:spcPct val="150000"/>
                        </a:lnSpc>
                        <a:spcBef>
                          <a:spcPts val="0"/>
                        </a:spcBef>
                        <a:spcAft>
                          <a:spcPts val="0"/>
                        </a:spcAft>
                        <a:buNone/>
                      </a:pPr>
                      <a:r>
                        <a:rPr lang="en-US" sz="1400" u="none" strike="noStrike" cap="none" dirty="0">
                          <a:solidFill>
                            <a:schemeClr val="dk1"/>
                          </a:solidFill>
                          <a:latin typeface="Times New Roman"/>
                          <a:ea typeface="Times New Roman"/>
                          <a:cs typeface="Times New Roman"/>
                          <a:sym typeface="Times New Roman"/>
                        </a:rPr>
                        <a:t>1</a:t>
                      </a:r>
                      <a:endParaRPr dirty="0"/>
                    </a:p>
                  </a:txBody>
                  <a:tcPr marL="91450" marR="91450" marT="45725" marB="45725"/>
                </a:tc>
                <a:tc>
                  <a:txBody>
                    <a:bodyPr/>
                    <a:lstStyle/>
                    <a:p>
                      <a:pPr marL="0" marR="0" lvl="0" indent="0" algn="l" rtl="0">
                        <a:lnSpc>
                          <a:spcPct val="150000"/>
                        </a:lnSpc>
                        <a:spcBef>
                          <a:spcPts val="0"/>
                        </a:spcBef>
                        <a:spcAft>
                          <a:spcPts val="0"/>
                        </a:spcAft>
                        <a:buNone/>
                      </a:pPr>
                      <a:r>
                        <a:rPr lang="en-US" sz="1400" u="none" strike="noStrike" cap="none" dirty="0">
                          <a:solidFill>
                            <a:schemeClr val="dk1"/>
                          </a:solidFill>
                          <a:latin typeface="Times New Roman"/>
                          <a:ea typeface="Times New Roman"/>
                          <a:cs typeface="Times New Roman"/>
                          <a:sym typeface="Times New Roman"/>
                        </a:rPr>
                        <a:t>Programming language</a:t>
                      </a:r>
                      <a:endParaRPr sz="1400" u="none" strike="noStrike" cap="none" dirty="0">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50000"/>
                        </a:lnSpc>
                        <a:spcBef>
                          <a:spcPts val="0"/>
                        </a:spcBef>
                        <a:spcAft>
                          <a:spcPts val="0"/>
                        </a:spcAft>
                        <a:buNone/>
                      </a:pPr>
                      <a:r>
                        <a:rPr lang="en-US" sz="1400" u="none" strike="noStrike" cap="none" dirty="0">
                          <a:solidFill>
                            <a:schemeClr val="dk1"/>
                          </a:solidFill>
                          <a:latin typeface="Times New Roman"/>
                          <a:ea typeface="Times New Roman"/>
                          <a:cs typeface="Times New Roman"/>
                          <a:sym typeface="Times New Roman"/>
                        </a:rPr>
                        <a:t>Python </a:t>
                      </a:r>
                      <a:endParaRPr sz="1400" u="none" strike="noStrike" cap="none" dirty="0">
                        <a:solidFill>
                          <a:schemeClr val="dk1"/>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2"/>
                  </a:ext>
                </a:extLst>
              </a:tr>
              <a:tr h="489525">
                <a:tc>
                  <a:txBody>
                    <a:bodyPr/>
                    <a:lstStyle/>
                    <a:p>
                      <a:pPr marL="0" marR="0" lvl="0" indent="0" algn="ctr" rtl="0">
                        <a:lnSpc>
                          <a:spcPct val="150000"/>
                        </a:lnSpc>
                        <a:spcBef>
                          <a:spcPts val="0"/>
                        </a:spcBef>
                        <a:spcAft>
                          <a:spcPts val="0"/>
                        </a:spcAft>
                        <a:buNone/>
                      </a:pPr>
                      <a:r>
                        <a:rPr lang="en-US" sz="1400" u="none" strike="noStrike" cap="none">
                          <a:solidFill>
                            <a:schemeClr val="dk1"/>
                          </a:solidFill>
                          <a:latin typeface="Times New Roman"/>
                          <a:ea typeface="Times New Roman"/>
                          <a:cs typeface="Times New Roman"/>
                          <a:sym typeface="Times New Roman"/>
                        </a:rPr>
                        <a:t>2</a:t>
                      </a:r>
                      <a:endParaRPr/>
                    </a:p>
                  </a:txBody>
                  <a:tcPr marL="91450" marR="91450" marT="45725" marB="45725"/>
                </a:tc>
                <a:tc>
                  <a:txBody>
                    <a:bodyPr/>
                    <a:lstStyle/>
                    <a:p>
                      <a:pPr marL="0" marR="0" lvl="0" indent="0" algn="l" rtl="0">
                        <a:lnSpc>
                          <a:spcPct val="150000"/>
                        </a:lnSpc>
                        <a:spcBef>
                          <a:spcPts val="0"/>
                        </a:spcBef>
                        <a:spcAft>
                          <a:spcPts val="0"/>
                        </a:spcAft>
                        <a:buNone/>
                      </a:pPr>
                      <a:r>
                        <a:rPr lang="en-US" sz="1400" i="0" u="none" strike="noStrike" cap="none" dirty="0">
                          <a:solidFill>
                            <a:schemeClr val="dk1"/>
                          </a:solidFill>
                          <a:latin typeface="Times New Roman"/>
                          <a:ea typeface="Times New Roman"/>
                          <a:cs typeface="Times New Roman"/>
                          <a:sym typeface="Times New Roman"/>
                        </a:rPr>
                        <a:t>Frameworks</a:t>
                      </a:r>
                      <a:endParaRPr sz="1400" u="none" strike="noStrike" cap="none" dirty="0">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50000"/>
                        </a:lnSpc>
                        <a:spcBef>
                          <a:spcPts val="0"/>
                        </a:spcBef>
                        <a:spcAft>
                          <a:spcPts val="0"/>
                        </a:spcAft>
                        <a:buClr>
                          <a:srgbClr val="000000"/>
                        </a:buClr>
                        <a:buSzPts val="1400"/>
                        <a:buFont typeface="Arial"/>
                        <a:buNone/>
                      </a:pPr>
                      <a:r>
                        <a:rPr lang="en-US" sz="1400" i="0" u="none" strike="noStrike" cap="none" dirty="0">
                          <a:solidFill>
                            <a:schemeClr val="dk1"/>
                          </a:solidFill>
                          <a:latin typeface="Times New Roman"/>
                          <a:ea typeface="Times New Roman"/>
                          <a:cs typeface="Times New Roman"/>
                          <a:sym typeface="Times New Roman"/>
                        </a:rPr>
                        <a:t>TensorFlow, </a:t>
                      </a:r>
                      <a:r>
                        <a:rPr lang="en-US" sz="1400" i="0" u="none" strike="noStrike" cap="none" dirty="0" err="1">
                          <a:solidFill>
                            <a:schemeClr val="dk1"/>
                          </a:solidFill>
                          <a:latin typeface="Times New Roman"/>
                          <a:ea typeface="Times New Roman"/>
                          <a:cs typeface="Times New Roman"/>
                          <a:sym typeface="Times New Roman"/>
                        </a:rPr>
                        <a:t>PyTorch</a:t>
                      </a:r>
                      <a:r>
                        <a:rPr lang="en-US" sz="1400" i="0" u="none" strike="noStrike" cap="none" dirty="0">
                          <a:solidFill>
                            <a:schemeClr val="dk1"/>
                          </a:solidFill>
                          <a:latin typeface="Times New Roman"/>
                          <a:ea typeface="Times New Roman"/>
                          <a:cs typeface="Times New Roman"/>
                          <a:sym typeface="Times New Roman"/>
                        </a:rPr>
                        <a:t>, NLTK, </a:t>
                      </a:r>
                      <a:r>
                        <a:rPr lang="en-US" sz="1400" i="0" u="none" strike="noStrike" cap="none" dirty="0" err="1">
                          <a:solidFill>
                            <a:schemeClr val="dk1"/>
                          </a:solidFill>
                          <a:latin typeface="Times New Roman"/>
                          <a:ea typeface="Times New Roman"/>
                          <a:cs typeface="Times New Roman"/>
                          <a:sym typeface="Times New Roman"/>
                        </a:rPr>
                        <a:t>SpaCy</a:t>
                      </a:r>
                      <a:r>
                        <a:rPr lang="en-US" sz="1400" i="0" u="none" strike="noStrike" cap="none" dirty="0">
                          <a:solidFill>
                            <a:schemeClr val="dk1"/>
                          </a:solidFill>
                          <a:latin typeface="Times New Roman"/>
                          <a:ea typeface="Times New Roman"/>
                          <a:cs typeface="Times New Roman"/>
                          <a:sym typeface="Times New Roman"/>
                        </a:rPr>
                        <a:t>, Hugging Face Transformers</a:t>
                      </a:r>
                      <a:endParaRPr dirty="0"/>
                    </a:p>
                  </a:txBody>
                  <a:tcPr marL="91450" marR="91450" marT="45725" marB="45725"/>
                </a:tc>
                <a:extLst>
                  <a:ext uri="{0D108BD9-81ED-4DB2-BD59-A6C34878D82A}">
                    <a16:rowId xmlns:a16="http://schemas.microsoft.com/office/drawing/2014/main" val="10003"/>
                  </a:ext>
                </a:extLst>
              </a:tr>
              <a:tr h="489525">
                <a:tc>
                  <a:txBody>
                    <a:bodyPr/>
                    <a:lstStyle/>
                    <a:p>
                      <a:pPr marL="0" marR="0" lvl="0" indent="0" algn="ctr" rtl="0">
                        <a:lnSpc>
                          <a:spcPct val="150000"/>
                        </a:lnSpc>
                        <a:spcBef>
                          <a:spcPts val="0"/>
                        </a:spcBef>
                        <a:spcAft>
                          <a:spcPts val="0"/>
                        </a:spcAft>
                        <a:buNone/>
                      </a:pPr>
                      <a:r>
                        <a:rPr lang="en-US" sz="1400" u="none" strike="noStrike" cap="none">
                          <a:solidFill>
                            <a:schemeClr val="dk1"/>
                          </a:solidFill>
                          <a:latin typeface="Times New Roman"/>
                          <a:ea typeface="Times New Roman"/>
                          <a:cs typeface="Times New Roman"/>
                          <a:sym typeface="Times New Roman"/>
                        </a:rPr>
                        <a:t>3</a:t>
                      </a:r>
                      <a:endParaRPr/>
                    </a:p>
                  </a:txBody>
                  <a:tcPr marL="91450" marR="91450" marT="45725" marB="45725"/>
                </a:tc>
                <a:tc>
                  <a:txBody>
                    <a:bodyPr/>
                    <a:lstStyle/>
                    <a:p>
                      <a:pPr marL="0" marR="0" lvl="0" indent="0" algn="l" rtl="0">
                        <a:lnSpc>
                          <a:spcPct val="150000"/>
                        </a:lnSpc>
                        <a:spcBef>
                          <a:spcPts val="0"/>
                        </a:spcBef>
                        <a:spcAft>
                          <a:spcPts val="0"/>
                        </a:spcAft>
                        <a:buNone/>
                      </a:pPr>
                      <a:r>
                        <a:rPr lang="en-US" sz="1400" i="0" u="none" strike="noStrike" cap="none" dirty="0">
                          <a:solidFill>
                            <a:schemeClr val="dk1"/>
                          </a:solidFill>
                          <a:latin typeface="Times New Roman"/>
                          <a:ea typeface="Times New Roman"/>
                          <a:cs typeface="Times New Roman"/>
                          <a:sym typeface="Times New Roman"/>
                        </a:rPr>
                        <a:t>API</a:t>
                      </a:r>
                      <a:endParaRPr sz="1400" u="none" strike="noStrike" cap="none" dirty="0">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50000"/>
                        </a:lnSpc>
                        <a:spcBef>
                          <a:spcPts val="0"/>
                        </a:spcBef>
                        <a:spcAft>
                          <a:spcPts val="0"/>
                        </a:spcAft>
                        <a:buClr>
                          <a:srgbClr val="000000"/>
                        </a:buClr>
                        <a:buSzPts val="1400"/>
                        <a:buFont typeface="Arial"/>
                        <a:buNone/>
                      </a:pPr>
                      <a:r>
                        <a:rPr lang="en-US" sz="1400" i="0" u="none" strike="noStrike" cap="none" dirty="0">
                          <a:solidFill>
                            <a:schemeClr val="dk1"/>
                          </a:solidFill>
                          <a:latin typeface="Times New Roman"/>
                          <a:ea typeface="Times New Roman"/>
                          <a:cs typeface="Times New Roman"/>
                          <a:sym typeface="Times New Roman"/>
                        </a:rPr>
                        <a:t>YouTube Data API v3, Google Sheets API</a:t>
                      </a:r>
                      <a:endParaRPr dirty="0"/>
                    </a:p>
                  </a:txBody>
                  <a:tcPr marL="91450" marR="91450" marT="45725" marB="45725"/>
                </a:tc>
                <a:extLst>
                  <a:ext uri="{0D108BD9-81ED-4DB2-BD59-A6C34878D82A}">
                    <a16:rowId xmlns:a16="http://schemas.microsoft.com/office/drawing/2014/main" val="10004"/>
                  </a:ext>
                </a:extLst>
              </a:tr>
              <a:tr h="489525">
                <a:tc>
                  <a:txBody>
                    <a:bodyPr/>
                    <a:lstStyle/>
                    <a:p>
                      <a:pPr marL="0" marR="0" lvl="0" indent="0" algn="ctr" rtl="0">
                        <a:lnSpc>
                          <a:spcPct val="150000"/>
                        </a:lnSpc>
                        <a:spcBef>
                          <a:spcPts val="0"/>
                        </a:spcBef>
                        <a:spcAft>
                          <a:spcPts val="0"/>
                        </a:spcAft>
                        <a:buNone/>
                      </a:pPr>
                      <a:r>
                        <a:rPr lang="en-US" sz="1400" u="none" strike="noStrike" cap="none">
                          <a:solidFill>
                            <a:schemeClr val="dk1"/>
                          </a:solidFill>
                          <a:latin typeface="Times New Roman"/>
                          <a:ea typeface="Times New Roman"/>
                          <a:cs typeface="Times New Roman"/>
                          <a:sym typeface="Times New Roman"/>
                        </a:rPr>
                        <a:t>4</a:t>
                      </a:r>
                      <a:endParaRPr/>
                    </a:p>
                  </a:txBody>
                  <a:tcPr marL="91450" marR="91450" marT="45725" marB="45725"/>
                </a:tc>
                <a:tc>
                  <a:txBody>
                    <a:bodyPr/>
                    <a:lstStyle/>
                    <a:p>
                      <a:pPr marL="0" marR="0" lvl="0" indent="0" algn="l" rtl="0">
                        <a:lnSpc>
                          <a:spcPct val="150000"/>
                        </a:lnSpc>
                        <a:spcBef>
                          <a:spcPts val="0"/>
                        </a:spcBef>
                        <a:spcAft>
                          <a:spcPts val="0"/>
                        </a:spcAft>
                        <a:buNone/>
                      </a:pPr>
                      <a:r>
                        <a:rPr lang="en-US" sz="1400" i="0" u="none" strike="noStrike" cap="none" dirty="0">
                          <a:solidFill>
                            <a:schemeClr val="dk1"/>
                          </a:solidFill>
                          <a:latin typeface="Times New Roman"/>
                          <a:ea typeface="Times New Roman"/>
                          <a:cs typeface="Times New Roman"/>
                          <a:sym typeface="Times New Roman"/>
                        </a:rPr>
                        <a:t>Database &amp; Storage</a:t>
                      </a:r>
                      <a:endParaRPr sz="1400" u="none" strike="noStrike" cap="none" dirty="0">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50000"/>
                        </a:lnSpc>
                        <a:spcBef>
                          <a:spcPts val="0"/>
                        </a:spcBef>
                        <a:spcAft>
                          <a:spcPts val="0"/>
                        </a:spcAft>
                        <a:buNone/>
                      </a:pPr>
                      <a:r>
                        <a:rPr lang="en-US" sz="1400" i="0" u="none" strike="noStrike" cap="none" dirty="0">
                          <a:solidFill>
                            <a:schemeClr val="dk1"/>
                          </a:solidFill>
                          <a:latin typeface="Times New Roman"/>
                          <a:ea typeface="Times New Roman"/>
                          <a:cs typeface="Times New Roman"/>
                          <a:sym typeface="Times New Roman"/>
                        </a:rPr>
                        <a:t>MySQL, Cloud Storage (Google Cloud)</a:t>
                      </a:r>
                      <a:endParaRPr sz="1400" u="none" strike="noStrike" cap="none" dirty="0">
                        <a:solidFill>
                          <a:schemeClr val="dk1"/>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5"/>
                  </a:ext>
                </a:extLst>
              </a:tr>
              <a:tr h="489525">
                <a:tc>
                  <a:txBody>
                    <a:bodyPr/>
                    <a:lstStyle/>
                    <a:p>
                      <a:pPr marL="0" marR="0" lvl="0" indent="0" algn="ctr" rtl="0">
                        <a:lnSpc>
                          <a:spcPct val="150000"/>
                        </a:lnSpc>
                        <a:spcBef>
                          <a:spcPts val="0"/>
                        </a:spcBef>
                        <a:spcAft>
                          <a:spcPts val="0"/>
                        </a:spcAft>
                        <a:buNone/>
                      </a:pPr>
                      <a:r>
                        <a:rPr lang="en-US" sz="1400" u="none" strike="noStrike" cap="none">
                          <a:solidFill>
                            <a:schemeClr val="dk1"/>
                          </a:solidFill>
                          <a:latin typeface="Times New Roman"/>
                          <a:ea typeface="Times New Roman"/>
                          <a:cs typeface="Times New Roman"/>
                          <a:sym typeface="Times New Roman"/>
                        </a:rPr>
                        <a:t>5</a:t>
                      </a:r>
                      <a:endParaRPr/>
                    </a:p>
                  </a:txBody>
                  <a:tcPr marL="91450" marR="91450" marT="45725" marB="45725"/>
                </a:tc>
                <a:tc>
                  <a:txBody>
                    <a:bodyPr/>
                    <a:lstStyle/>
                    <a:p>
                      <a:pPr marL="0" marR="0" lvl="0" indent="0" algn="l" rtl="0">
                        <a:lnSpc>
                          <a:spcPct val="150000"/>
                        </a:lnSpc>
                        <a:spcBef>
                          <a:spcPts val="0"/>
                        </a:spcBef>
                        <a:spcAft>
                          <a:spcPts val="0"/>
                        </a:spcAft>
                        <a:buNone/>
                      </a:pPr>
                      <a:r>
                        <a:rPr lang="en-US" sz="1400" i="0" u="none" strike="noStrike" cap="none" dirty="0">
                          <a:solidFill>
                            <a:schemeClr val="dk1"/>
                          </a:solidFill>
                          <a:latin typeface="Times New Roman"/>
                          <a:ea typeface="Times New Roman"/>
                          <a:cs typeface="Times New Roman"/>
                          <a:sym typeface="Times New Roman"/>
                        </a:rPr>
                        <a:t>Development Tools</a:t>
                      </a:r>
                      <a:endParaRPr sz="1400" u="none" strike="noStrike" cap="none" dirty="0">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50000"/>
                        </a:lnSpc>
                        <a:spcBef>
                          <a:spcPts val="0"/>
                        </a:spcBef>
                        <a:spcAft>
                          <a:spcPts val="0"/>
                        </a:spcAft>
                        <a:buNone/>
                      </a:pPr>
                      <a:r>
                        <a:rPr lang="en-US" sz="1400" i="0" u="none" strike="noStrike" cap="none" dirty="0">
                          <a:solidFill>
                            <a:schemeClr val="dk1"/>
                          </a:solidFill>
                          <a:latin typeface="Times New Roman"/>
                          <a:ea typeface="Times New Roman"/>
                          <a:cs typeface="Times New Roman"/>
                          <a:sym typeface="Times New Roman"/>
                        </a:rPr>
                        <a:t>Django / </a:t>
                      </a:r>
                      <a:r>
                        <a:rPr lang="en-US" sz="1400" i="0" u="none" strike="noStrike" cap="none" dirty="0" err="1">
                          <a:solidFill>
                            <a:schemeClr val="dk1"/>
                          </a:solidFill>
                          <a:latin typeface="Times New Roman"/>
                          <a:ea typeface="Times New Roman"/>
                          <a:cs typeface="Times New Roman"/>
                          <a:sym typeface="Times New Roman"/>
                        </a:rPr>
                        <a:t>FastAPI</a:t>
                      </a:r>
                      <a:r>
                        <a:rPr lang="en-US" sz="1400" i="0" u="none" strike="noStrike" cap="none" dirty="0">
                          <a:solidFill>
                            <a:schemeClr val="dk1"/>
                          </a:solidFill>
                          <a:latin typeface="Times New Roman"/>
                          <a:ea typeface="Times New Roman"/>
                          <a:cs typeface="Times New Roman"/>
                          <a:sym typeface="Times New Roman"/>
                        </a:rPr>
                        <a:t>, Docker, Git &amp; GitHub</a:t>
                      </a:r>
                      <a:endParaRPr sz="1400" u="none" strike="noStrike" cap="none" dirty="0">
                        <a:solidFill>
                          <a:schemeClr val="dk1"/>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6"/>
                  </a:ext>
                </a:extLst>
              </a:tr>
              <a:tr h="489525">
                <a:tc>
                  <a:txBody>
                    <a:bodyPr/>
                    <a:lstStyle/>
                    <a:p>
                      <a:pPr marL="0" marR="0" lvl="0" indent="0" algn="ctr" rtl="0">
                        <a:lnSpc>
                          <a:spcPct val="150000"/>
                        </a:lnSpc>
                        <a:spcBef>
                          <a:spcPts val="0"/>
                        </a:spcBef>
                        <a:spcAft>
                          <a:spcPts val="0"/>
                        </a:spcAft>
                        <a:buNone/>
                      </a:pPr>
                      <a:r>
                        <a:rPr lang="en-US" sz="1400" u="none" strike="noStrike" cap="none">
                          <a:solidFill>
                            <a:schemeClr val="dk1"/>
                          </a:solidFill>
                          <a:latin typeface="Times New Roman"/>
                          <a:ea typeface="Times New Roman"/>
                          <a:cs typeface="Times New Roman"/>
                          <a:sym typeface="Times New Roman"/>
                        </a:rPr>
                        <a:t>6</a:t>
                      </a:r>
                      <a:endParaRPr/>
                    </a:p>
                  </a:txBody>
                  <a:tcPr marL="91450" marR="91450" marT="45725" marB="45725"/>
                </a:tc>
                <a:tc>
                  <a:txBody>
                    <a:bodyPr/>
                    <a:lstStyle/>
                    <a:p>
                      <a:pPr marL="0" marR="0" lvl="0" indent="0" algn="l" rtl="0">
                        <a:lnSpc>
                          <a:spcPct val="150000"/>
                        </a:lnSpc>
                        <a:spcBef>
                          <a:spcPts val="0"/>
                        </a:spcBef>
                        <a:spcAft>
                          <a:spcPts val="0"/>
                        </a:spcAft>
                        <a:buNone/>
                      </a:pPr>
                      <a:r>
                        <a:rPr lang="en-US" sz="1400" u="none" strike="noStrike" cap="none" dirty="0">
                          <a:solidFill>
                            <a:schemeClr val="dk1"/>
                          </a:solidFill>
                          <a:latin typeface="Times New Roman"/>
                          <a:ea typeface="Times New Roman"/>
                          <a:cs typeface="Times New Roman"/>
                          <a:sym typeface="Times New Roman"/>
                        </a:rPr>
                        <a:t>IDE / Editor</a:t>
                      </a:r>
                      <a:endParaRPr dirty="0"/>
                    </a:p>
                  </a:txBody>
                  <a:tcPr marL="91450" marR="91450" marT="45725" marB="45725"/>
                </a:tc>
                <a:tc>
                  <a:txBody>
                    <a:bodyPr/>
                    <a:lstStyle/>
                    <a:p>
                      <a:pPr marL="0" marR="0" lvl="0" indent="0" algn="l" rtl="0">
                        <a:lnSpc>
                          <a:spcPct val="150000"/>
                        </a:lnSpc>
                        <a:spcBef>
                          <a:spcPts val="0"/>
                        </a:spcBef>
                        <a:spcAft>
                          <a:spcPts val="0"/>
                        </a:spcAft>
                        <a:buNone/>
                      </a:pPr>
                      <a:r>
                        <a:rPr lang="en-US" sz="1400" u="none" strike="noStrike" cap="none" dirty="0">
                          <a:solidFill>
                            <a:schemeClr val="dk1"/>
                          </a:solidFill>
                          <a:latin typeface="Times New Roman"/>
                          <a:ea typeface="Times New Roman"/>
                          <a:cs typeface="Times New Roman"/>
                          <a:sym typeface="Times New Roman"/>
                        </a:rPr>
                        <a:t>VS Code, PyCharm</a:t>
                      </a:r>
                      <a:endParaRPr dirty="0"/>
                    </a:p>
                  </a:txBody>
                  <a:tcPr marL="91450" marR="91450" marT="45725" marB="45725"/>
                </a:tc>
                <a:extLst>
                  <a:ext uri="{0D108BD9-81ED-4DB2-BD59-A6C34878D82A}">
                    <a16:rowId xmlns:a16="http://schemas.microsoft.com/office/drawing/2014/main" val="10007"/>
                  </a:ext>
                </a:extLst>
              </a:tr>
            </a:tbl>
          </a:graphicData>
        </a:graphic>
      </p:graphicFrame>
      <p:sp>
        <p:nvSpPr>
          <p:cNvPr id="164" name="Google Shape;164;p15"/>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graphicFrame>
        <p:nvGraphicFramePr>
          <p:cNvPr id="169" name="Google Shape;169;p16"/>
          <p:cNvGraphicFramePr/>
          <p:nvPr>
            <p:extLst>
              <p:ext uri="{D42A27DB-BD31-4B8C-83A1-F6EECF244321}">
                <p14:modId xmlns:p14="http://schemas.microsoft.com/office/powerpoint/2010/main" val="3676279507"/>
              </p:ext>
            </p:extLst>
          </p:nvPr>
        </p:nvGraphicFramePr>
        <p:xfrm>
          <a:off x="406524" y="691268"/>
          <a:ext cx="8277821" cy="4228035"/>
        </p:xfrm>
        <a:graphic>
          <a:graphicData uri="http://schemas.openxmlformats.org/drawingml/2006/table">
            <a:tbl>
              <a:tblPr firstRow="1" bandRow="1">
                <a:noFill/>
                <a:tableStyleId>{C1CDC17D-0BAF-49D1-A989-1BA96F3E33D5}</a:tableStyleId>
              </a:tblPr>
              <a:tblGrid>
                <a:gridCol w="1059241">
                  <a:extLst>
                    <a:ext uri="{9D8B030D-6E8A-4147-A177-3AD203B41FA5}">
                      <a16:colId xmlns:a16="http://schemas.microsoft.com/office/drawing/2014/main" val="20000"/>
                    </a:ext>
                  </a:extLst>
                </a:gridCol>
                <a:gridCol w="3266953">
                  <a:extLst>
                    <a:ext uri="{9D8B030D-6E8A-4147-A177-3AD203B41FA5}">
                      <a16:colId xmlns:a16="http://schemas.microsoft.com/office/drawing/2014/main" val="20001"/>
                    </a:ext>
                  </a:extLst>
                </a:gridCol>
                <a:gridCol w="3951627">
                  <a:extLst>
                    <a:ext uri="{9D8B030D-6E8A-4147-A177-3AD203B41FA5}">
                      <a16:colId xmlns:a16="http://schemas.microsoft.com/office/drawing/2014/main" val="20002"/>
                    </a:ext>
                  </a:extLst>
                </a:gridCol>
              </a:tblGrid>
              <a:tr h="389651">
                <a:tc gridSpan="3">
                  <a:txBody>
                    <a:bodyPr/>
                    <a:lstStyle/>
                    <a:p>
                      <a:pPr marL="0" marR="0" lvl="0" indent="0" algn="ctr" rtl="0">
                        <a:lnSpc>
                          <a:spcPct val="150000"/>
                        </a:lnSpc>
                        <a:spcBef>
                          <a:spcPts val="0"/>
                        </a:spcBef>
                        <a:spcAft>
                          <a:spcPts val="0"/>
                        </a:spcAft>
                        <a:buNone/>
                      </a:pPr>
                      <a:r>
                        <a:rPr lang="en-US" sz="1400" u="none" strike="noStrike" cap="none">
                          <a:solidFill>
                            <a:schemeClr val="lt1"/>
                          </a:solidFill>
                          <a:latin typeface="Times New Roman"/>
                          <a:ea typeface="Times New Roman"/>
                          <a:cs typeface="Times New Roman"/>
                          <a:sym typeface="Times New Roman"/>
                        </a:rPr>
                        <a:t>Hardware Requirements</a:t>
                      </a:r>
                      <a:endParaRPr sz="1400"/>
                    </a:p>
                  </a:txBody>
                  <a:tcPr marL="91450" marR="91450" marT="45725" marB="45725"/>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51741">
                <a:tc>
                  <a:txBody>
                    <a:bodyPr/>
                    <a:lstStyle/>
                    <a:p>
                      <a:pPr marL="0" marR="0" lvl="0" indent="0" algn="ctr" rtl="0">
                        <a:lnSpc>
                          <a:spcPct val="150000"/>
                        </a:lnSpc>
                        <a:spcBef>
                          <a:spcPts val="0"/>
                        </a:spcBef>
                        <a:spcAft>
                          <a:spcPts val="0"/>
                        </a:spcAft>
                        <a:buNone/>
                      </a:pPr>
                      <a:r>
                        <a:rPr lang="en-US" sz="1400" u="none" strike="noStrike" cap="none">
                          <a:solidFill>
                            <a:schemeClr val="dk1"/>
                          </a:solidFill>
                          <a:latin typeface="Times New Roman"/>
                          <a:ea typeface="Times New Roman"/>
                          <a:cs typeface="Times New Roman"/>
                          <a:sym typeface="Times New Roman"/>
                        </a:rPr>
                        <a:t>S.No</a:t>
                      </a:r>
                      <a:endParaRPr sz="1400"/>
                    </a:p>
                  </a:txBody>
                  <a:tcPr marL="91450" marR="91450" marT="45725" marB="45725"/>
                </a:tc>
                <a:tc>
                  <a:txBody>
                    <a:bodyPr/>
                    <a:lstStyle/>
                    <a:p>
                      <a:pPr marL="0" marR="0" lvl="0" indent="0" algn="ctr" rtl="0">
                        <a:lnSpc>
                          <a:spcPct val="150000"/>
                        </a:lnSpc>
                        <a:spcBef>
                          <a:spcPts val="0"/>
                        </a:spcBef>
                        <a:spcAft>
                          <a:spcPts val="0"/>
                        </a:spcAft>
                        <a:buNone/>
                      </a:pPr>
                      <a:r>
                        <a:rPr lang="en-US" sz="1400" u="none" strike="noStrike" cap="none" dirty="0">
                          <a:solidFill>
                            <a:schemeClr val="dk1"/>
                          </a:solidFill>
                          <a:latin typeface="Times New Roman"/>
                          <a:ea typeface="Times New Roman"/>
                          <a:cs typeface="Times New Roman"/>
                          <a:sym typeface="Times New Roman"/>
                        </a:rPr>
                        <a:t>Computing Resources</a:t>
                      </a:r>
                      <a:endParaRPr sz="1400" dirty="0"/>
                    </a:p>
                  </a:txBody>
                  <a:tcPr marL="91450" marR="91450" marT="45725" marB="45725"/>
                </a:tc>
                <a:tc>
                  <a:txBody>
                    <a:bodyPr/>
                    <a:lstStyle/>
                    <a:p>
                      <a:pPr marL="0" marR="0" lvl="0" indent="0" algn="ctr" rtl="0">
                        <a:lnSpc>
                          <a:spcPct val="150000"/>
                        </a:lnSpc>
                        <a:spcBef>
                          <a:spcPts val="0"/>
                        </a:spcBef>
                        <a:spcAft>
                          <a:spcPts val="0"/>
                        </a:spcAft>
                        <a:buNone/>
                      </a:pPr>
                      <a:r>
                        <a:rPr lang="en-US" sz="1400" u="none" strike="noStrike" cap="none">
                          <a:solidFill>
                            <a:schemeClr val="dk1"/>
                          </a:solidFill>
                          <a:latin typeface="Times New Roman"/>
                          <a:ea typeface="Times New Roman"/>
                          <a:cs typeface="Times New Roman"/>
                          <a:sym typeface="Times New Roman"/>
                        </a:rPr>
                        <a:t>Purpose</a:t>
                      </a:r>
                      <a:endParaRPr sz="1400"/>
                    </a:p>
                  </a:txBody>
                  <a:tcPr marL="91450" marR="91450" marT="45725" marB="45725"/>
                </a:tc>
                <a:extLst>
                  <a:ext uri="{0D108BD9-81ED-4DB2-BD59-A6C34878D82A}">
                    <a16:rowId xmlns:a16="http://schemas.microsoft.com/office/drawing/2014/main" val="10001"/>
                  </a:ext>
                </a:extLst>
              </a:tr>
              <a:tr h="653584">
                <a:tc>
                  <a:txBody>
                    <a:bodyPr/>
                    <a:lstStyle/>
                    <a:p>
                      <a:pPr marL="0" marR="0" lvl="0" indent="0" algn="ctr" rtl="0">
                        <a:lnSpc>
                          <a:spcPct val="150000"/>
                        </a:lnSpc>
                        <a:spcBef>
                          <a:spcPts val="0"/>
                        </a:spcBef>
                        <a:spcAft>
                          <a:spcPts val="0"/>
                        </a:spcAft>
                        <a:buNone/>
                      </a:pPr>
                      <a:r>
                        <a:rPr lang="en-US" sz="1400" u="none" strike="noStrike" cap="none">
                          <a:solidFill>
                            <a:schemeClr val="dk1"/>
                          </a:solidFill>
                          <a:latin typeface="Times New Roman"/>
                          <a:ea typeface="Times New Roman"/>
                          <a:cs typeface="Times New Roman"/>
                          <a:sym typeface="Times New Roman"/>
                        </a:rPr>
                        <a:t>1</a:t>
                      </a:r>
                      <a:endParaRPr sz="1400"/>
                    </a:p>
                  </a:txBody>
                  <a:tcPr marL="91450" marR="91450" marT="45725" marB="45725"/>
                </a:tc>
                <a:tc>
                  <a:txBody>
                    <a:bodyPr/>
                    <a:lstStyle/>
                    <a:p>
                      <a:pPr marL="0" marR="0" lvl="0" indent="0" algn="l" rtl="0">
                        <a:lnSpc>
                          <a:spcPct val="150000"/>
                        </a:lnSpc>
                        <a:spcBef>
                          <a:spcPts val="0"/>
                        </a:spcBef>
                        <a:spcAft>
                          <a:spcPts val="0"/>
                        </a:spcAft>
                        <a:buNone/>
                      </a:pPr>
                      <a:r>
                        <a:rPr lang="en-US" sz="1400" u="none" strike="noStrike" cap="none" dirty="0">
                          <a:solidFill>
                            <a:schemeClr val="dk1"/>
                          </a:solidFill>
                          <a:latin typeface="Times New Roman"/>
                          <a:ea typeface="Times New Roman"/>
                          <a:cs typeface="Times New Roman"/>
                          <a:sym typeface="Times New Roman"/>
                        </a:rPr>
                        <a:t>Processor (Intel i5 / AMD Ryzen 7)</a:t>
                      </a:r>
                      <a:endParaRPr sz="1400" u="none" strike="noStrike" cap="none" dirty="0">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50000"/>
                        </a:lnSpc>
                        <a:spcBef>
                          <a:spcPts val="0"/>
                        </a:spcBef>
                        <a:spcAft>
                          <a:spcPts val="0"/>
                        </a:spcAft>
                        <a:buNone/>
                      </a:pPr>
                      <a:r>
                        <a:rPr lang="en-US" sz="1400" u="none" strike="noStrike" cap="none" dirty="0">
                          <a:solidFill>
                            <a:schemeClr val="dk1"/>
                          </a:solidFill>
                          <a:latin typeface="Times New Roman"/>
                          <a:ea typeface="Times New Roman"/>
                          <a:cs typeface="Times New Roman"/>
                          <a:sym typeface="Times New Roman"/>
                        </a:rPr>
                        <a:t>To handle model training, API requests, and backend services efficiently</a:t>
                      </a:r>
                      <a:endParaRPr sz="1400" dirty="0"/>
                    </a:p>
                  </a:txBody>
                  <a:tcPr marL="91450" marR="91450" marT="45725" marB="45725"/>
                </a:tc>
                <a:extLst>
                  <a:ext uri="{0D108BD9-81ED-4DB2-BD59-A6C34878D82A}">
                    <a16:rowId xmlns:a16="http://schemas.microsoft.com/office/drawing/2014/main" val="10002"/>
                  </a:ext>
                </a:extLst>
              </a:tr>
              <a:tr h="653584">
                <a:tc>
                  <a:txBody>
                    <a:bodyPr/>
                    <a:lstStyle/>
                    <a:p>
                      <a:pPr marL="0" marR="0" lvl="0" indent="0" algn="ctr" rtl="0">
                        <a:lnSpc>
                          <a:spcPct val="150000"/>
                        </a:lnSpc>
                        <a:spcBef>
                          <a:spcPts val="0"/>
                        </a:spcBef>
                        <a:spcAft>
                          <a:spcPts val="0"/>
                        </a:spcAft>
                        <a:buNone/>
                      </a:pPr>
                      <a:r>
                        <a:rPr lang="en-US" sz="1400" u="none" strike="noStrike" cap="none">
                          <a:solidFill>
                            <a:schemeClr val="dk1"/>
                          </a:solidFill>
                          <a:latin typeface="Times New Roman"/>
                          <a:ea typeface="Times New Roman"/>
                          <a:cs typeface="Times New Roman"/>
                          <a:sym typeface="Times New Roman"/>
                        </a:rPr>
                        <a:t>2</a:t>
                      </a:r>
                      <a:endParaRPr sz="1400"/>
                    </a:p>
                  </a:txBody>
                  <a:tcPr marL="91450" marR="91450" marT="45725" marB="45725"/>
                </a:tc>
                <a:tc>
                  <a:txBody>
                    <a:bodyPr/>
                    <a:lstStyle/>
                    <a:p>
                      <a:pPr marL="0" marR="0" lvl="0" indent="0" algn="l" rtl="0">
                        <a:lnSpc>
                          <a:spcPct val="150000"/>
                        </a:lnSpc>
                        <a:spcBef>
                          <a:spcPts val="0"/>
                        </a:spcBef>
                        <a:spcAft>
                          <a:spcPts val="0"/>
                        </a:spcAft>
                        <a:buNone/>
                      </a:pPr>
                      <a:r>
                        <a:rPr lang="en-US" sz="1400" u="none" strike="noStrike" cap="none" dirty="0">
                          <a:solidFill>
                            <a:schemeClr val="dk1"/>
                          </a:solidFill>
                          <a:latin typeface="Times New Roman"/>
                          <a:ea typeface="Times New Roman"/>
                          <a:cs typeface="Times New Roman"/>
                          <a:sym typeface="Times New Roman"/>
                        </a:rPr>
                        <a:t>RAM (16 GB minimum) and OS (windows)</a:t>
                      </a:r>
                      <a:endParaRPr sz="1400" u="none" strike="noStrike" cap="none" dirty="0">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50000"/>
                        </a:lnSpc>
                        <a:spcBef>
                          <a:spcPts val="0"/>
                        </a:spcBef>
                        <a:spcAft>
                          <a:spcPts val="0"/>
                        </a:spcAft>
                        <a:buClr>
                          <a:srgbClr val="000000"/>
                        </a:buClr>
                        <a:buSzPts val="1400"/>
                        <a:buFont typeface="Arial"/>
                        <a:buNone/>
                      </a:pPr>
                      <a:r>
                        <a:rPr lang="en-US" sz="1400" i="0" u="none" strike="noStrike" cap="none" dirty="0">
                          <a:solidFill>
                            <a:schemeClr val="dk1"/>
                          </a:solidFill>
                          <a:latin typeface="Times New Roman"/>
                          <a:ea typeface="Times New Roman"/>
                          <a:cs typeface="Times New Roman"/>
                          <a:sym typeface="Times New Roman"/>
                        </a:rPr>
                        <a:t>To support deep learning frameworks, multitasking, and large datasets</a:t>
                      </a:r>
                      <a:endParaRPr sz="1400" dirty="0"/>
                    </a:p>
                  </a:txBody>
                  <a:tcPr marL="91450" marR="91450" marT="45725" marB="45725"/>
                </a:tc>
                <a:extLst>
                  <a:ext uri="{0D108BD9-81ED-4DB2-BD59-A6C34878D82A}">
                    <a16:rowId xmlns:a16="http://schemas.microsoft.com/office/drawing/2014/main" val="10003"/>
                  </a:ext>
                </a:extLst>
              </a:tr>
              <a:tr h="653824">
                <a:tc>
                  <a:txBody>
                    <a:bodyPr/>
                    <a:lstStyle/>
                    <a:p>
                      <a:pPr marL="0" marR="0" lvl="0" indent="0" algn="ctr" rtl="0">
                        <a:lnSpc>
                          <a:spcPct val="150000"/>
                        </a:lnSpc>
                        <a:spcBef>
                          <a:spcPts val="0"/>
                        </a:spcBef>
                        <a:spcAft>
                          <a:spcPts val="0"/>
                        </a:spcAft>
                        <a:buNone/>
                      </a:pPr>
                      <a:r>
                        <a:rPr lang="en-US" sz="1400" u="none" strike="noStrike" cap="none">
                          <a:solidFill>
                            <a:schemeClr val="dk1"/>
                          </a:solidFill>
                          <a:latin typeface="Times New Roman"/>
                          <a:ea typeface="Times New Roman"/>
                          <a:cs typeface="Times New Roman"/>
                          <a:sym typeface="Times New Roman"/>
                        </a:rPr>
                        <a:t>3</a:t>
                      </a:r>
                      <a:endParaRPr sz="1400"/>
                    </a:p>
                  </a:txBody>
                  <a:tcPr marL="91450" marR="91450" marT="45725" marB="45725"/>
                </a:tc>
                <a:tc>
                  <a:txBody>
                    <a:bodyPr/>
                    <a:lstStyle/>
                    <a:p>
                      <a:pPr marL="0" marR="0" lvl="0" indent="0" algn="l" rtl="0">
                        <a:lnSpc>
                          <a:spcPct val="150000"/>
                        </a:lnSpc>
                        <a:spcBef>
                          <a:spcPts val="0"/>
                        </a:spcBef>
                        <a:spcAft>
                          <a:spcPts val="0"/>
                        </a:spcAft>
                        <a:buNone/>
                      </a:pPr>
                      <a:r>
                        <a:rPr lang="en-US" sz="1400" u="none" strike="noStrike" cap="none" dirty="0">
                          <a:solidFill>
                            <a:schemeClr val="dk1"/>
                          </a:solidFill>
                          <a:latin typeface="Times New Roman"/>
                          <a:ea typeface="Times New Roman"/>
                          <a:cs typeface="Times New Roman"/>
                          <a:sym typeface="Times New Roman"/>
                        </a:rPr>
                        <a:t>GPU (NVIDIA RTX 3060 / Tesla T4 or higher)</a:t>
                      </a:r>
                      <a:endParaRPr sz="1400" dirty="0"/>
                    </a:p>
                  </a:txBody>
                  <a:tcPr marL="91450" marR="91450" marT="45725" marB="45725"/>
                </a:tc>
                <a:tc>
                  <a:txBody>
                    <a:bodyPr/>
                    <a:lstStyle/>
                    <a:p>
                      <a:pPr marL="0" marR="0" lvl="0" indent="0" algn="l" rtl="0">
                        <a:lnSpc>
                          <a:spcPct val="150000"/>
                        </a:lnSpc>
                        <a:spcBef>
                          <a:spcPts val="0"/>
                        </a:spcBef>
                        <a:spcAft>
                          <a:spcPts val="0"/>
                        </a:spcAft>
                        <a:buClr>
                          <a:srgbClr val="000000"/>
                        </a:buClr>
                        <a:buSzPts val="1400"/>
                        <a:buFont typeface="Arial"/>
                        <a:buNone/>
                      </a:pPr>
                      <a:r>
                        <a:rPr lang="en-US" sz="1400" i="0" u="none" strike="noStrike" cap="none" dirty="0">
                          <a:solidFill>
                            <a:schemeClr val="dk1"/>
                          </a:solidFill>
                          <a:latin typeface="Times New Roman"/>
                          <a:ea typeface="Times New Roman"/>
                          <a:cs typeface="Times New Roman"/>
                          <a:sym typeface="Times New Roman"/>
                        </a:rPr>
                        <a:t>For accelerating deep learning model training and inference</a:t>
                      </a:r>
                      <a:endParaRPr sz="1400" i="0" u="none" strike="noStrike" cap="none" dirty="0">
                        <a:solidFill>
                          <a:schemeClr val="dk1"/>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4"/>
                  </a:ext>
                </a:extLst>
              </a:tr>
              <a:tr h="653584">
                <a:tc>
                  <a:txBody>
                    <a:bodyPr/>
                    <a:lstStyle/>
                    <a:p>
                      <a:pPr marL="0" marR="0" lvl="0" indent="0" algn="ctr" rtl="0">
                        <a:lnSpc>
                          <a:spcPct val="150000"/>
                        </a:lnSpc>
                        <a:spcBef>
                          <a:spcPts val="0"/>
                        </a:spcBef>
                        <a:spcAft>
                          <a:spcPts val="0"/>
                        </a:spcAft>
                        <a:buNone/>
                      </a:pPr>
                      <a:r>
                        <a:rPr lang="en-US" sz="1400" u="none" strike="noStrike" cap="none">
                          <a:solidFill>
                            <a:schemeClr val="dk1"/>
                          </a:solidFill>
                          <a:latin typeface="Times New Roman"/>
                          <a:ea typeface="Times New Roman"/>
                          <a:cs typeface="Times New Roman"/>
                          <a:sym typeface="Times New Roman"/>
                        </a:rPr>
                        <a:t>4</a:t>
                      </a:r>
                      <a:endParaRPr sz="1400"/>
                    </a:p>
                  </a:txBody>
                  <a:tcPr marL="91450" marR="91450" marT="45725" marB="45725"/>
                </a:tc>
                <a:tc>
                  <a:txBody>
                    <a:bodyPr/>
                    <a:lstStyle/>
                    <a:p>
                      <a:pPr marL="0" marR="0" lvl="0" indent="0" algn="l" rtl="0">
                        <a:lnSpc>
                          <a:spcPct val="150000"/>
                        </a:lnSpc>
                        <a:spcBef>
                          <a:spcPts val="0"/>
                        </a:spcBef>
                        <a:spcAft>
                          <a:spcPts val="0"/>
                        </a:spcAft>
                        <a:buNone/>
                      </a:pPr>
                      <a:r>
                        <a:rPr lang="en-US" sz="1400" i="0" u="none" strike="noStrike" cap="none" dirty="0">
                          <a:solidFill>
                            <a:schemeClr val="dk1"/>
                          </a:solidFill>
                          <a:latin typeface="Times New Roman"/>
                          <a:ea typeface="Times New Roman"/>
                          <a:cs typeface="Times New Roman"/>
                          <a:sym typeface="Times New Roman"/>
                        </a:rPr>
                        <a:t>Storage (512 GB SSD)</a:t>
                      </a:r>
                      <a:endParaRPr sz="1400" dirty="0"/>
                    </a:p>
                  </a:txBody>
                  <a:tcPr marL="91450" marR="91450" marT="45725" marB="45725"/>
                </a:tc>
                <a:tc>
                  <a:txBody>
                    <a:bodyPr/>
                    <a:lstStyle/>
                    <a:p>
                      <a:pPr marL="0" marR="0" lvl="0" indent="0" algn="l" rtl="0">
                        <a:lnSpc>
                          <a:spcPct val="150000"/>
                        </a:lnSpc>
                        <a:spcBef>
                          <a:spcPts val="0"/>
                        </a:spcBef>
                        <a:spcAft>
                          <a:spcPts val="0"/>
                        </a:spcAft>
                        <a:buNone/>
                      </a:pPr>
                      <a:r>
                        <a:rPr lang="en-US" sz="1400" u="none" strike="noStrike" cap="none" dirty="0">
                          <a:solidFill>
                            <a:schemeClr val="dk1"/>
                          </a:solidFill>
                          <a:latin typeface="Times New Roman"/>
                          <a:ea typeface="Times New Roman"/>
                          <a:cs typeface="Times New Roman"/>
                          <a:sym typeface="Times New Roman"/>
                        </a:rPr>
                        <a:t>For storing datasets, model checkpoints, and system files</a:t>
                      </a:r>
                      <a:endParaRPr sz="1400" dirty="0"/>
                    </a:p>
                  </a:txBody>
                  <a:tcPr marL="91450" marR="91450" marT="45725" marB="45725"/>
                </a:tc>
                <a:extLst>
                  <a:ext uri="{0D108BD9-81ED-4DB2-BD59-A6C34878D82A}">
                    <a16:rowId xmlns:a16="http://schemas.microsoft.com/office/drawing/2014/main" val="10005"/>
                  </a:ext>
                </a:extLst>
              </a:tr>
              <a:tr h="653584">
                <a:tc>
                  <a:txBody>
                    <a:bodyPr/>
                    <a:lstStyle/>
                    <a:p>
                      <a:pPr marL="0" marR="0" lvl="0" indent="0" algn="ctr" rtl="0">
                        <a:lnSpc>
                          <a:spcPct val="150000"/>
                        </a:lnSpc>
                        <a:spcBef>
                          <a:spcPts val="0"/>
                        </a:spcBef>
                        <a:spcAft>
                          <a:spcPts val="0"/>
                        </a:spcAft>
                        <a:buNone/>
                      </a:pPr>
                      <a:r>
                        <a:rPr lang="en-US" sz="1400" u="none" strike="noStrike" cap="none">
                          <a:solidFill>
                            <a:schemeClr val="dk1"/>
                          </a:solidFill>
                          <a:latin typeface="Times New Roman"/>
                          <a:ea typeface="Times New Roman"/>
                          <a:cs typeface="Times New Roman"/>
                          <a:sym typeface="Times New Roman"/>
                        </a:rPr>
                        <a:t>5</a:t>
                      </a:r>
                      <a:endParaRPr sz="1400"/>
                    </a:p>
                  </a:txBody>
                  <a:tcPr marL="91450" marR="91450" marT="45725" marB="45725"/>
                </a:tc>
                <a:tc>
                  <a:txBody>
                    <a:bodyPr/>
                    <a:lstStyle/>
                    <a:p>
                      <a:pPr marL="0" marR="0" lvl="0" indent="0" algn="l" rtl="0">
                        <a:lnSpc>
                          <a:spcPct val="150000"/>
                        </a:lnSpc>
                        <a:spcBef>
                          <a:spcPts val="0"/>
                        </a:spcBef>
                        <a:spcAft>
                          <a:spcPts val="0"/>
                        </a:spcAft>
                        <a:buClr>
                          <a:srgbClr val="000000"/>
                        </a:buClr>
                        <a:buSzPts val="1400"/>
                        <a:buFont typeface="Arial"/>
                        <a:buNone/>
                      </a:pPr>
                      <a:r>
                        <a:rPr lang="en-US" sz="1400" u="none" strike="noStrike" cap="none" dirty="0">
                          <a:solidFill>
                            <a:schemeClr val="dk1"/>
                          </a:solidFill>
                          <a:latin typeface="Times New Roman"/>
                          <a:ea typeface="Times New Roman"/>
                          <a:cs typeface="Times New Roman"/>
                          <a:sym typeface="Times New Roman"/>
                        </a:rPr>
                        <a:t>Network (High-speed Internet ≥ 50 Mbps)</a:t>
                      </a:r>
                      <a:endParaRPr sz="1400" dirty="0"/>
                    </a:p>
                  </a:txBody>
                  <a:tcPr marL="91450" marR="91450" marT="45725" marB="45725"/>
                </a:tc>
                <a:tc>
                  <a:txBody>
                    <a:bodyPr/>
                    <a:lstStyle/>
                    <a:p>
                      <a:pPr marL="0" marR="0" lvl="0" indent="0" algn="l" rtl="0">
                        <a:lnSpc>
                          <a:spcPct val="150000"/>
                        </a:lnSpc>
                        <a:spcBef>
                          <a:spcPts val="0"/>
                        </a:spcBef>
                        <a:spcAft>
                          <a:spcPts val="0"/>
                        </a:spcAft>
                        <a:buNone/>
                      </a:pPr>
                      <a:r>
                        <a:rPr lang="en-US" sz="1400" u="none" strike="noStrike" cap="none" dirty="0">
                          <a:solidFill>
                            <a:schemeClr val="dk1"/>
                          </a:solidFill>
                          <a:latin typeface="Times New Roman"/>
                          <a:ea typeface="Times New Roman"/>
                          <a:cs typeface="Times New Roman"/>
                          <a:sym typeface="Times New Roman"/>
                        </a:rPr>
                        <a:t>To access YouTube API, Google Sheets API, and cloud resources</a:t>
                      </a:r>
                      <a:endParaRPr sz="1400" dirty="0"/>
                    </a:p>
                  </a:txBody>
                  <a:tcPr marL="91450" marR="91450" marT="45725" marB="45725"/>
                </a:tc>
                <a:extLst>
                  <a:ext uri="{0D108BD9-81ED-4DB2-BD59-A6C34878D82A}">
                    <a16:rowId xmlns:a16="http://schemas.microsoft.com/office/drawing/2014/main" val="10006"/>
                  </a:ext>
                </a:extLst>
              </a:tr>
            </a:tbl>
          </a:graphicData>
        </a:graphic>
      </p:graphicFrame>
      <p:sp>
        <p:nvSpPr>
          <p:cNvPr id="170" name="Google Shape;170;p16"/>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11</a:t>
            </a:fld>
            <a:endParaRPr/>
          </a:p>
        </p:txBody>
      </p:sp>
      <p:sp>
        <p:nvSpPr>
          <p:cNvPr id="171" name="Google Shape;171;p16"/>
          <p:cNvSpPr txBox="1">
            <a:spLocks noGrp="1"/>
          </p:cNvSpPr>
          <p:nvPr>
            <p:ph type="title"/>
          </p:nvPr>
        </p:nvSpPr>
        <p:spPr>
          <a:xfrm>
            <a:off x="311699" y="118566"/>
            <a:ext cx="8520602" cy="572701"/>
          </a:xfrm>
          <a:prstGeom prst="rect">
            <a:avLst/>
          </a:prstGeom>
          <a:noFill/>
          <a:ln>
            <a:noFill/>
          </a:ln>
        </p:spPr>
        <p:txBody>
          <a:bodyPr spcFirstLastPara="1" wrap="square" lIns="91400" tIns="91400" rIns="91400" bIns="91400" anchor="t" anchorCtr="0">
            <a:noAutofit/>
          </a:bodyPr>
          <a:lstStyle/>
          <a:p>
            <a:pPr marL="0" lvl="0" indent="0" algn="ctr" rtl="0">
              <a:lnSpc>
                <a:spcPct val="100000"/>
              </a:lnSpc>
              <a:spcBef>
                <a:spcPts val="0"/>
              </a:spcBef>
              <a:spcAft>
                <a:spcPts val="0"/>
              </a:spcAft>
              <a:buSzPts val="1800"/>
              <a:buNone/>
            </a:pPr>
            <a:r>
              <a:rPr lang="en-US" sz="2400" dirty="0">
                <a:latin typeface="Times New Roman"/>
                <a:ea typeface="Times New Roman"/>
                <a:cs typeface="Times New Roman"/>
                <a:sym typeface="Times New Roman"/>
              </a:rPr>
              <a:t>6. Software &amp; Hardware Requirements (</a:t>
            </a:r>
            <a:r>
              <a:rPr lang="en-US" sz="2400" dirty="0" err="1">
                <a:latin typeface="Times New Roman"/>
                <a:ea typeface="Times New Roman"/>
                <a:cs typeface="Times New Roman"/>
                <a:sym typeface="Times New Roman"/>
              </a:rPr>
              <a:t>contd</a:t>
            </a:r>
            <a:r>
              <a:rPr lang="en-US" sz="2400" dirty="0">
                <a:latin typeface="Times New Roman"/>
                <a:ea typeface="Times New Roman"/>
                <a:cs typeface="Times New Roman"/>
                <a:sym typeface="Times New Roman"/>
              </a:rPr>
              <a:t>…)</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4"/>
          <p:cNvSpPr txBox="1">
            <a:spLocks noGrp="1"/>
          </p:cNvSpPr>
          <p:nvPr>
            <p:ph type="title"/>
          </p:nvPr>
        </p:nvSpPr>
        <p:spPr>
          <a:xfrm>
            <a:off x="311699" y="36285"/>
            <a:ext cx="8520602" cy="558801"/>
          </a:xfrm>
          <a:prstGeom prst="rect">
            <a:avLst/>
          </a:prstGeom>
          <a:noFill/>
          <a:ln>
            <a:noFill/>
          </a:ln>
        </p:spPr>
        <p:txBody>
          <a:bodyPr spcFirstLastPara="1" wrap="square" lIns="91400" tIns="91400" rIns="91400" bIns="91400" anchor="t" anchorCtr="0">
            <a:noAutofit/>
          </a:bodyPr>
          <a:lstStyle/>
          <a:p>
            <a:pPr marL="0" lvl="0" indent="0" algn="ctr" rtl="0">
              <a:lnSpc>
                <a:spcPct val="100000"/>
              </a:lnSpc>
              <a:spcBef>
                <a:spcPts val="0"/>
              </a:spcBef>
              <a:spcAft>
                <a:spcPts val="0"/>
              </a:spcAft>
              <a:buSzPts val="1800"/>
              <a:buNone/>
            </a:pPr>
            <a:r>
              <a:rPr lang="en-US" dirty="0">
                <a:latin typeface="Times New Roman"/>
                <a:ea typeface="Times New Roman"/>
                <a:cs typeface="Times New Roman"/>
                <a:sym typeface="Times New Roman"/>
              </a:rPr>
              <a:t>7. Proposed Method: Architectural Diagram</a:t>
            </a:r>
            <a:endParaRPr dirty="0">
              <a:latin typeface="Times New Roman"/>
              <a:ea typeface="Times New Roman"/>
              <a:cs typeface="Times New Roman"/>
              <a:sym typeface="Times New Roman"/>
            </a:endParaRPr>
          </a:p>
        </p:txBody>
      </p:sp>
      <p:sp>
        <p:nvSpPr>
          <p:cNvPr id="156" name="Google Shape;156;p14"/>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12</a:t>
            </a:fld>
            <a:endParaRPr/>
          </a:p>
        </p:txBody>
      </p:sp>
      <p:sp>
        <p:nvSpPr>
          <p:cNvPr id="157" name="Google Shape;157;p14"/>
          <p:cNvSpPr txBox="1"/>
          <p:nvPr/>
        </p:nvSpPr>
        <p:spPr>
          <a:xfrm>
            <a:off x="2133600" y="4526813"/>
            <a:ext cx="5533291" cy="276959"/>
          </a:xfrm>
          <a:prstGeom prst="rect">
            <a:avLst/>
          </a:prstGeom>
          <a:noFill/>
          <a:ln>
            <a:noFill/>
          </a:ln>
        </p:spPr>
        <p:txBody>
          <a:bodyPr spcFirstLastPara="1" wrap="square" lIns="91425" tIns="45700" rIns="91425" bIns="45700" anchor="t" anchorCtr="0">
            <a:spAutoFit/>
          </a:bodyPr>
          <a:lstStyle/>
          <a:p>
            <a:r>
              <a:rPr lang="en-US" sz="1200" i="0" u="none" strike="noStrike" cap="none" dirty="0">
                <a:solidFill>
                  <a:srgbClr val="000000"/>
                </a:solidFill>
                <a:latin typeface="Times New Roman" panose="02020603050405020304" pitchFamily="18" charset="0"/>
                <a:cs typeface="Times New Roman" panose="02020603050405020304" pitchFamily="18" charset="0"/>
                <a:sym typeface="Arial"/>
              </a:rPr>
              <a:t>Fig 1. The architecture of </a:t>
            </a:r>
            <a:r>
              <a:rPr lang="en-US" sz="1200" dirty="0">
                <a:solidFill>
                  <a:schemeClr val="dk1"/>
                </a:solidFill>
                <a:latin typeface="Times New Roman" panose="02020603050405020304" pitchFamily="18" charset="0"/>
                <a:ea typeface="Times New Roman"/>
                <a:cs typeface="Times New Roman" panose="02020603050405020304" pitchFamily="18" charset="0"/>
                <a:sym typeface="Times New Roman"/>
              </a:rPr>
              <a:t>AI-Powered Guardian for Creator Communities </a:t>
            </a:r>
            <a:endParaRPr lang="en-US" sz="1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BD4D72B-9870-83ED-1CFA-81FAB8928669}"/>
              </a:ext>
            </a:extLst>
          </p:cNvPr>
          <p:cNvPicPr>
            <a:picLocks noChangeAspect="1"/>
          </p:cNvPicPr>
          <p:nvPr/>
        </p:nvPicPr>
        <p:blipFill>
          <a:blip r:embed="rId3"/>
          <a:srcRect/>
          <a:stretch/>
        </p:blipFill>
        <p:spPr>
          <a:xfrm>
            <a:off x="1477109" y="988015"/>
            <a:ext cx="6118580" cy="322659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E5185-8228-FC88-28F9-1B6167A01BEC}"/>
              </a:ext>
            </a:extLst>
          </p:cNvPr>
          <p:cNvSpPr>
            <a:spLocks noGrp="1"/>
          </p:cNvSpPr>
          <p:nvPr>
            <p:ph type="title"/>
          </p:nvPr>
        </p:nvSpPr>
        <p:spPr>
          <a:xfrm>
            <a:off x="180463" y="700734"/>
            <a:ext cx="7886700" cy="743795"/>
          </a:xfrm>
        </p:spPr>
        <p:txBody>
          <a:bodyPr/>
          <a:lstStyle/>
          <a:p>
            <a:pPr algn="ctr"/>
            <a:r>
              <a:rPr lang="en-IN" dirty="0">
                <a:latin typeface="Times New Roman" panose="02020603050405020304" pitchFamily="18" charset="0"/>
                <a:cs typeface="Times New Roman" panose="02020603050405020304" pitchFamily="18" charset="0"/>
              </a:rPr>
              <a:t>System Architecture Overview</a:t>
            </a:r>
          </a:p>
        </p:txBody>
      </p:sp>
      <p:sp>
        <p:nvSpPr>
          <p:cNvPr id="3" name="Content Placeholder 2">
            <a:extLst>
              <a:ext uri="{FF2B5EF4-FFF2-40B4-BE49-F238E27FC236}">
                <a16:creationId xmlns:a16="http://schemas.microsoft.com/office/drawing/2014/main" id="{8EB776DE-8A6F-68C2-547E-15366B983CDB}"/>
              </a:ext>
            </a:extLst>
          </p:cNvPr>
          <p:cNvSpPr>
            <a:spLocks noGrp="1"/>
          </p:cNvSpPr>
          <p:nvPr>
            <p:ph idx="1"/>
          </p:nvPr>
        </p:nvSpPr>
        <p:spPr>
          <a:xfrm>
            <a:off x="376084" y="1268017"/>
            <a:ext cx="8139266" cy="3364706"/>
          </a:xfrm>
        </p:spPr>
        <p:txBody>
          <a:bodyPr>
            <a:normAutofit/>
          </a:bodyPr>
          <a:lstStyle/>
          <a:p>
            <a:pPr marL="0" indent="0" algn="just">
              <a:buNone/>
            </a:pPr>
            <a:r>
              <a:rPr lang="en-US" dirty="0">
                <a:solidFill>
                  <a:schemeClr val="tx1"/>
                </a:solidFill>
                <a:latin typeface="Times New Roman" panose="02020603050405020304" pitchFamily="18" charset="0"/>
                <a:cs typeface="Times New Roman" panose="02020603050405020304" pitchFamily="18" charset="0"/>
              </a:rPr>
              <a:t>This architecture outlines an automated YouTube comment moderation system.</a:t>
            </a:r>
          </a:p>
          <a:p>
            <a:pPr algn="just"/>
            <a:r>
              <a:rPr lang="en-US" b="1" dirty="0">
                <a:solidFill>
                  <a:schemeClr val="tx1"/>
                </a:solidFill>
                <a:latin typeface="Times New Roman" panose="02020603050405020304" pitchFamily="18" charset="0"/>
                <a:cs typeface="Times New Roman" panose="02020603050405020304" pitchFamily="18" charset="0"/>
              </a:rPr>
              <a:t>Fetch:</a:t>
            </a:r>
            <a:r>
              <a:rPr lang="en-US" dirty="0">
                <a:solidFill>
                  <a:schemeClr val="tx1"/>
                </a:solidFill>
                <a:latin typeface="Times New Roman" panose="02020603050405020304" pitchFamily="18" charset="0"/>
                <a:cs typeface="Times New Roman" panose="02020603050405020304" pitchFamily="18" charset="0"/>
              </a:rPr>
              <a:t> Python scripts use the YouTube API to pull comments from a video.</a:t>
            </a:r>
          </a:p>
          <a:p>
            <a:pPr algn="just"/>
            <a:r>
              <a:rPr lang="en-US" b="1" dirty="0">
                <a:solidFill>
                  <a:schemeClr val="tx1"/>
                </a:solidFill>
                <a:latin typeface="Times New Roman" panose="02020603050405020304" pitchFamily="18" charset="0"/>
                <a:cs typeface="Times New Roman" panose="02020603050405020304" pitchFamily="18" charset="0"/>
              </a:rPr>
              <a:t>Classify:</a:t>
            </a:r>
            <a:r>
              <a:rPr lang="en-US" dirty="0">
                <a:solidFill>
                  <a:schemeClr val="tx1"/>
                </a:solidFill>
                <a:latin typeface="Times New Roman" panose="02020603050405020304" pitchFamily="18" charset="0"/>
                <a:cs typeface="Times New Roman" panose="02020603050405020304" pitchFamily="18" charset="0"/>
              </a:rPr>
              <a:t> A machine learning model automatically analyzes each comment, sorting it as </a:t>
            </a:r>
            <a:r>
              <a:rPr lang="en-US" b="1" dirty="0">
                <a:solidFill>
                  <a:schemeClr val="tx1"/>
                </a:solidFill>
                <a:latin typeface="Times New Roman" panose="02020603050405020304" pitchFamily="18" charset="0"/>
                <a:cs typeface="Times New Roman" panose="02020603050405020304" pitchFamily="18" charset="0"/>
              </a:rPr>
              <a:t>Toxic</a:t>
            </a:r>
            <a:r>
              <a:rPr lang="en-US" dirty="0">
                <a:solidFill>
                  <a:schemeClr val="tx1"/>
                </a:solidFill>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Neutral</a:t>
            </a:r>
            <a:r>
              <a:rPr lang="en-US" dirty="0">
                <a:solidFill>
                  <a:schemeClr val="tx1"/>
                </a:solidFill>
                <a:latin typeface="Times New Roman" panose="02020603050405020304" pitchFamily="18" charset="0"/>
                <a:cs typeface="Times New Roman" panose="02020603050405020304" pitchFamily="18" charset="0"/>
              </a:rPr>
              <a:t>, or flagging it for </a:t>
            </a:r>
            <a:r>
              <a:rPr lang="en-US" b="1" dirty="0">
                <a:solidFill>
                  <a:schemeClr val="tx1"/>
                </a:solidFill>
                <a:latin typeface="Times New Roman" panose="02020603050405020304" pitchFamily="18" charset="0"/>
                <a:cs typeface="Times New Roman" panose="02020603050405020304" pitchFamily="18" charset="0"/>
              </a:rPr>
              <a:t>Review</a:t>
            </a:r>
            <a:r>
              <a:rPr lang="en-US" dirty="0">
                <a:solidFill>
                  <a:schemeClr val="tx1"/>
                </a:solidFill>
                <a:latin typeface="Times New Roman" panose="02020603050405020304" pitchFamily="18" charset="0"/>
                <a:cs typeface="Times New Roman" panose="02020603050405020304" pitchFamily="18" charset="0"/>
              </a:rPr>
              <a:t>.</a:t>
            </a:r>
          </a:p>
          <a:p>
            <a:pPr algn="just"/>
            <a:r>
              <a:rPr lang="en-US" b="1" dirty="0">
                <a:solidFill>
                  <a:schemeClr val="tx1"/>
                </a:solidFill>
                <a:latin typeface="Times New Roman" panose="02020603050405020304" pitchFamily="18" charset="0"/>
                <a:cs typeface="Times New Roman" panose="02020603050405020304" pitchFamily="18" charset="0"/>
              </a:rPr>
              <a:t>Store &amp; Visualize:</a:t>
            </a:r>
            <a:r>
              <a:rPr lang="en-US" dirty="0">
                <a:solidFill>
                  <a:schemeClr val="tx1"/>
                </a:solidFill>
                <a:latin typeface="Times New Roman" panose="02020603050405020304" pitchFamily="18" charset="0"/>
                <a:cs typeface="Times New Roman" panose="02020603050405020304" pitchFamily="18" charset="0"/>
              </a:rPr>
              <a:t> All comments and their statuses are saved in an SQLite database, which powers a user interface featuring a dashboard and analytics.</a:t>
            </a:r>
          </a:p>
          <a:p>
            <a:pPr algn="just"/>
            <a:r>
              <a:rPr lang="en-US" b="1" dirty="0">
                <a:solidFill>
                  <a:schemeClr val="tx1"/>
                </a:solidFill>
                <a:latin typeface="Times New Roman" panose="02020603050405020304" pitchFamily="18" charset="0"/>
                <a:cs typeface="Times New Roman" panose="02020603050405020304" pitchFamily="18" charset="0"/>
              </a:rPr>
              <a:t>Improve:</a:t>
            </a:r>
            <a:r>
              <a:rPr lang="en-US" dirty="0">
                <a:solidFill>
                  <a:schemeClr val="tx1"/>
                </a:solidFill>
                <a:latin typeface="Times New Roman" panose="02020603050405020304" pitchFamily="18" charset="0"/>
                <a:cs typeface="Times New Roman" panose="02020603050405020304" pitchFamily="18" charset="0"/>
              </a:rPr>
              <a:t> A feedback loop allows moderators' corrections to be used for </a:t>
            </a:r>
            <a:r>
              <a:rPr lang="en-US" b="1" dirty="0">
                <a:solidFill>
                  <a:schemeClr val="tx1"/>
                </a:solidFill>
                <a:latin typeface="Times New Roman" panose="02020603050405020304" pitchFamily="18" charset="0"/>
                <a:cs typeface="Times New Roman" panose="02020603050405020304" pitchFamily="18" charset="0"/>
              </a:rPr>
              <a:t>model retraining</a:t>
            </a:r>
            <a:r>
              <a:rPr lang="en-US" dirty="0">
                <a:solidFill>
                  <a:schemeClr val="tx1"/>
                </a:solidFill>
                <a:latin typeface="Times New Roman" panose="02020603050405020304" pitchFamily="18" charset="0"/>
                <a:cs typeface="Times New Roman" panose="02020603050405020304" pitchFamily="18" charset="0"/>
              </a:rPr>
              <a:t>, continuously improving the classifier's accuracy.</a:t>
            </a:r>
          </a:p>
          <a:p>
            <a:pPr algn="just"/>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5830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9205C-C49C-AE2B-6C91-FD3731E7BABC}"/>
              </a:ext>
            </a:extLst>
          </p:cNvPr>
          <p:cNvSpPr>
            <a:spLocks noGrp="1"/>
          </p:cNvSpPr>
          <p:nvPr>
            <p:ph type="title"/>
          </p:nvPr>
        </p:nvSpPr>
        <p:spPr>
          <a:xfrm>
            <a:off x="215055" y="0"/>
            <a:ext cx="8520602" cy="841801"/>
          </a:xfrm>
        </p:spPr>
        <p:txBody>
          <a:bodyPr>
            <a:normAutofit/>
          </a:bodyPr>
          <a:lstStyle/>
          <a:p>
            <a:r>
              <a:rPr lang="en-US" sz="2500" dirty="0">
                <a:latin typeface="Times New Roman" panose="02020603050405020304" pitchFamily="18" charset="0"/>
                <a:cs typeface="Times New Roman" panose="02020603050405020304" pitchFamily="18" charset="0"/>
              </a:rPr>
              <a:t>8. Proposed Method: Modules</a:t>
            </a:r>
            <a:endParaRPr lang="en-IN" sz="25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CB184DB5-A33A-9B8A-DCB8-0F12BD771E6E}"/>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rcRect l="9866"/>
          <a:stretch>
            <a:fillRect/>
          </a:stretch>
        </p:blipFill>
        <p:spPr>
          <a:xfrm>
            <a:off x="1178854" y="707079"/>
            <a:ext cx="6593003" cy="3979863"/>
          </a:xfrm>
        </p:spPr>
      </p:pic>
      <p:sp>
        <p:nvSpPr>
          <p:cNvPr id="6" name="TextBox 5">
            <a:extLst>
              <a:ext uri="{FF2B5EF4-FFF2-40B4-BE49-F238E27FC236}">
                <a16:creationId xmlns:a16="http://schemas.microsoft.com/office/drawing/2014/main" id="{A8CB6364-517C-0E66-16FD-C29C2441278B}"/>
              </a:ext>
            </a:extLst>
          </p:cNvPr>
          <p:cNvSpPr txBox="1"/>
          <p:nvPr/>
        </p:nvSpPr>
        <p:spPr>
          <a:xfrm>
            <a:off x="5528385" y="4559984"/>
            <a:ext cx="2419252"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Figure 2.  Module Connectivity Diagram.</a:t>
            </a:r>
            <a:endParaRPr lang="en-IN" sz="10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6652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985F0-3028-DFC8-5B34-52BD3A1C2B27}"/>
              </a:ext>
            </a:extLst>
          </p:cNvPr>
          <p:cNvSpPr>
            <a:spLocks noGrp="1"/>
          </p:cNvSpPr>
          <p:nvPr>
            <p:ph type="title"/>
          </p:nvPr>
        </p:nvSpPr>
        <p:spPr>
          <a:xfrm>
            <a:off x="293543" y="167012"/>
            <a:ext cx="7886700" cy="814930"/>
          </a:xfrm>
        </p:spPr>
        <p:txBody>
          <a:bodyPr/>
          <a:lstStyle/>
          <a:p>
            <a:r>
              <a:rPr lang="en-IN" dirty="0">
                <a:latin typeface="Times New Roman" panose="02020603050405020304" pitchFamily="18" charset="0"/>
                <a:cs typeface="Times New Roman" panose="02020603050405020304" pitchFamily="18" charset="0"/>
              </a:rPr>
              <a:t>Module -1: Data Ingestion &amp; Storage 📥</a:t>
            </a:r>
          </a:p>
        </p:txBody>
      </p:sp>
      <p:sp>
        <p:nvSpPr>
          <p:cNvPr id="3" name="Content Placeholder 2">
            <a:extLst>
              <a:ext uri="{FF2B5EF4-FFF2-40B4-BE49-F238E27FC236}">
                <a16:creationId xmlns:a16="http://schemas.microsoft.com/office/drawing/2014/main" id="{98772444-45F1-4A27-5FCA-C68187542E2B}"/>
              </a:ext>
            </a:extLst>
          </p:cNvPr>
          <p:cNvSpPr>
            <a:spLocks noGrp="1"/>
          </p:cNvSpPr>
          <p:nvPr>
            <p:ph idx="1"/>
          </p:nvPr>
        </p:nvSpPr>
        <p:spPr>
          <a:xfrm>
            <a:off x="405246" y="981941"/>
            <a:ext cx="8110105" cy="3650781"/>
          </a:xfrm>
        </p:spPr>
        <p:txBody>
          <a:bodyPr>
            <a:normAutofit lnSpcReduction="10000"/>
          </a:bodyPr>
          <a:lstStyle/>
          <a:p>
            <a:pPr marL="0" indent="0" algn="just">
              <a:buNone/>
            </a:pPr>
            <a:r>
              <a:rPr lang="en-US" b="1" dirty="0">
                <a:solidFill>
                  <a:schemeClr val="tx1"/>
                </a:solidFill>
                <a:latin typeface="Times New Roman" panose="02020603050405020304" pitchFamily="18" charset="0"/>
                <a:cs typeface="Times New Roman" panose="02020603050405020304" pitchFamily="18" charset="0"/>
              </a:rPr>
              <a:t>How comments enter and are stored in the system.</a:t>
            </a:r>
            <a:endParaRPr lang="en-US"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b="1" dirty="0">
                <a:solidFill>
                  <a:schemeClr val="tx1"/>
                </a:solidFill>
                <a:latin typeface="Times New Roman" panose="02020603050405020304" pitchFamily="18" charset="0"/>
                <a:cs typeface="Times New Roman" panose="02020603050405020304" pitchFamily="18" charset="0"/>
              </a:rPr>
              <a:t>1. User Action:</a:t>
            </a:r>
            <a:r>
              <a:rPr lang="en-US" dirty="0">
                <a:solidFill>
                  <a:schemeClr val="tx1"/>
                </a:solidFill>
                <a:latin typeface="Times New Roman" panose="02020603050405020304" pitchFamily="18" charset="0"/>
                <a:cs typeface="Times New Roman" panose="02020603050405020304" pitchFamily="18" charset="0"/>
              </a:rPr>
              <a:t> The process starts when a user posts a comment on a YouTube video.</a:t>
            </a:r>
          </a:p>
          <a:p>
            <a:pPr marL="0" indent="0" algn="just">
              <a:buNone/>
            </a:pPr>
            <a:r>
              <a:rPr lang="en-US" b="1" dirty="0">
                <a:solidFill>
                  <a:schemeClr val="tx1"/>
                </a:solidFill>
                <a:latin typeface="Times New Roman" panose="02020603050405020304" pitchFamily="18" charset="0"/>
                <a:cs typeface="Times New Roman" panose="02020603050405020304" pitchFamily="18" charset="0"/>
              </a:rPr>
              <a:t>2. Automated Fetching:</a:t>
            </a:r>
            <a:endParaRPr lang="en-US" dirty="0">
              <a:solidFill>
                <a:schemeClr val="tx1"/>
              </a:solidFill>
              <a:latin typeface="Times New Roman" panose="02020603050405020304" pitchFamily="18" charset="0"/>
              <a:cs typeface="Times New Roman" panose="02020603050405020304" pitchFamily="18" charset="0"/>
            </a:endParaRPr>
          </a:p>
          <a:p>
            <a:pPr lvl="1" algn="just"/>
            <a:r>
              <a:rPr lang="en-US" dirty="0">
                <a:solidFill>
                  <a:schemeClr val="tx1"/>
                </a:solidFill>
                <a:latin typeface="Times New Roman" panose="02020603050405020304" pitchFamily="18" charset="0"/>
                <a:cs typeface="Times New Roman" panose="02020603050405020304" pitchFamily="18" charset="0"/>
              </a:rPr>
              <a:t>A custom Django command (fetch_comments.py) runs on a schedule or is triggered manually.</a:t>
            </a:r>
          </a:p>
          <a:p>
            <a:pPr lvl="1" algn="just"/>
            <a:r>
              <a:rPr lang="en-US" dirty="0">
                <a:solidFill>
                  <a:schemeClr val="tx1"/>
                </a:solidFill>
                <a:latin typeface="Times New Roman" panose="02020603050405020304" pitchFamily="18" charset="0"/>
                <a:cs typeface="Times New Roman" panose="02020603050405020304" pitchFamily="18" charset="0"/>
              </a:rPr>
              <a:t>This command uses a service (youtube_service.py) to connect to the YouTube API and pull the latest comments.</a:t>
            </a:r>
          </a:p>
          <a:p>
            <a:pPr marL="0" indent="0" algn="just">
              <a:buNone/>
            </a:pPr>
            <a:r>
              <a:rPr lang="en-US" b="1" dirty="0">
                <a:solidFill>
                  <a:schemeClr val="tx1"/>
                </a:solidFill>
                <a:latin typeface="Times New Roman" panose="02020603050405020304" pitchFamily="18" charset="0"/>
                <a:cs typeface="Times New Roman" panose="02020603050405020304" pitchFamily="18" charset="0"/>
              </a:rPr>
              <a:t>3. Saving to Database:</a:t>
            </a:r>
            <a:endParaRPr lang="en-US" dirty="0">
              <a:solidFill>
                <a:schemeClr val="tx1"/>
              </a:solidFill>
              <a:latin typeface="Times New Roman" panose="02020603050405020304" pitchFamily="18" charset="0"/>
              <a:cs typeface="Times New Roman" panose="02020603050405020304" pitchFamily="18" charset="0"/>
            </a:endParaRPr>
          </a:p>
          <a:p>
            <a:pPr lvl="1" algn="just"/>
            <a:r>
              <a:rPr lang="en-US" dirty="0">
                <a:solidFill>
                  <a:schemeClr val="tx1"/>
                </a:solidFill>
                <a:latin typeface="Times New Roman" panose="02020603050405020304" pitchFamily="18" charset="0"/>
                <a:cs typeface="Times New Roman" panose="02020603050405020304" pitchFamily="18" charset="0"/>
              </a:rPr>
              <a:t>Each fetched comment is structured using the Comment model (models.py).</a:t>
            </a:r>
          </a:p>
          <a:p>
            <a:pPr lvl="1" algn="just"/>
            <a:r>
              <a:rPr lang="en-US" dirty="0">
                <a:solidFill>
                  <a:schemeClr val="tx1"/>
                </a:solidFill>
                <a:latin typeface="Times New Roman" panose="02020603050405020304" pitchFamily="18" charset="0"/>
                <a:cs typeface="Times New Roman" panose="02020603050405020304" pitchFamily="18" charset="0"/>
              </a:rPr>
              <a:t>The comment data is then saved into the central SQLite database (db.sqlite3).</a:t>
            </a:r>
          </a:p>
          <a:p>
            <a:pPr algn="just"/>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0600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392D0-C334-1E2A-D825-0A4C8F0717C8}"/>
              </a:ext>
            </a:extLst>
          </p:cNvPr>
          <p:cNvSpPr>
            <a:spLocks noGrp="1"/>
          </p:cNvSpPr>
          <p:nvPr>
            <p:ph type="title"/>
          </p:nvPr>
        </p:nvSpPr>
        <p:spPr>
          <a:xfrm>
            <a:off x="101311" y="121661"/>
            <a:ext cx="9359612" cy="778236"/>
          </a:xfrm>
        </p:spPr>
        <p:txBody>
          <a:bodyPr>
            <a:normAutofit/>
          </a:bodyPr>
          <a:lstStyle/>
          <a:p>
            <a:r>
              <a:rPr lang="en-IN" sz="2700" dirty="0">
                <a:latin typeface="Times New Roman" panose="02020603050405020304" pitchFamily="18" charset="0"/>
                <a:cs typeface="Times New Roman" panose="02020603050405020304" pitchFamily="18" charset="0"/>
              </a:rPr>
              <a:t>Module - 2: Automated Classification &amp; Visualization 🤖</a:t>
            </a:r>
          </a:p>
        </p:txBody>
      </p:sp>
      <p:sp>
        <p:nvSpPr>
          <p:cNvPr id="3" name="Content Placeholder 2">
            <a:extLst>
              <a:ext uri="{FF2B5EF4-FFF2-40B4-BE49-F238E27FC236}">
                <a16:creationId xmlns:a16="http://schemas.microsoft.com/office/drawing/2014/main" id="{D01816A8-36B9-7365-DB4E-976FD8407B0A}"/>
              </a:ext>
            </a:extLst>
          </p:cNvPr>
          <p:cNvSpPr>
            <a:spLocks noGrp="1"/>
          </p:cNvSpPr>
          <p:nvPr>
            <p:ph idx="1"/>
          </p:nvPr>
        </p:nvSpPr>
        <p:spPr>
          <a:xfrm>
            <a:off x="397453" y="899896"/>
            <a:ext cx="8117898" cy="3732827"/>
          </a:xfrm>
        </p:spPr>
        <p:txBody>
          <a:bodyPr>
            <a:normAutofit fontScale="92500" lnSpcReduction="10000"/>
          </a:bodyPr>
          <a:lstStyle/>
          <a:p>
            <a:pPr marL="0" indent="0" algn="just">
              <a:buNone/>
            </a:pPr>
            <a:r>
              <a:rPr lang="en-US" b="1" dirty="0">
                <a:solidFill>
                  <a:schemeClr val="tx1"/>
                </a:solidFill>
                <a:latin typeface="Times New Roman" panose="02020603050405020304" pitchFamily="18" charset="0"/>
                <a:cs typeface="Times New Roman" panose="02020603050405020304" pitchFamily="18" charset="0"/>
              </a:rPr>
              <a:t>How comments are processed and displayed to the user.</a:t>
            </a:r>
            <a:endParaRPr lang="en-US"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b="1" dirty="0">
                <a:solidFill>
                  <a:schemeClr val="tx1"/>
                </a:solidFill>
                <a:latin typeface="Times New Roman" panose="02020603050405020304" pitchFamily="18" charset="0"/>
                <a:cs typeface="Times New Roman" panose="02020603050405020304" pitchFamily="18" charset="0"/>
              </a:rPr>
              <a:t>4. ML Classification:</a:t>
            </a:r>
            <a:endParaRPr lang="en-US" dirty="0">
              <a:solidFill>
                <a:schemeClr val="tx1"/>
              </a:solidFill>
              <a:latin typeface="Times New Roman" panose="02020603050405020304" pitchFamily="18" charset="0"/>
              <a:cs typeface="Times New Roman" panose="02020603050405020304" pitchFamily="18" charset="0"/>
            </a:endParaRPr>
          </a:p>
          <a:p>
            <a:pPr lvl="1" algn="just"/>
            <a:r>
              <a:rPr lang="en-US" dirty="0">
                <a:solidFill>
                  <a:schemeClr val="tx1"/>
                </a:solidFill>
                <a:latin typeface="Times New Roman" panose="02020603050405020304" pitchFamily="18" charset="0"/>
                <a:cs typeface="Times New Roman" panose="02020603050405020304" pitchFamily="18" charset="0"/>
              </a:rPr>
              <a:t>Immediately after a comment is saved, the ML pipeline (retrain_model.py) is used.</a:t>
            </a:r>
          </a:p>
          <a:p>
            <a:pPr lvl="1" algn="just"/>
            <a:r>
              <a:rPr lang="en-US" dirty="0">
                <a:solidFill>
                  <a:schemeClr val="tx1"/>
                </a:solidFill>
                <a:latin typeface="Times New Roman" panose="02020603050405020304" pitchFamily="18" charset="0"/>
                <a:cs typeface="Times New Roman" panose="02020603050405020304" pitchFamily="18" charset="0"/>
              </a:rPr>
              <a:t>It employs a TF-IDF vectorizer and a Logistic Regression classifier to automatically predict the comment's toxicity and assign a moderation status.</a:t>
            </a:r>
          </a:p>
          <a:p>
            <a:pPr marL="0" indent="0" algn="just">
              <a:buNone/>
            </a:pPr>
            <a:r>
              <a:rPr lang="en-US" b="1" dirty="0">
                <a:solidFill>
                  <a:schemeClr val="tx1"/>
                </a:solidFill>
                <a:latin typeface="Times New Roman" panose="02020603050405020304" pitchFamily="18" charset="0"/>
                <a:cs typeface="Times New Roman" panose="02020603050405020304" pitchFamily="18" charset="0"/>
              </a:rPr>
              <a:t>5. Dashboard &amp; Analytics:</a:t>
            </a:r>
            <a:endParaRPr lang="en-US" dirty="0">
              <a:solidFill>
                <a:schemeClr val="tx1"/>
              </a:solidFill>
              <a:latin typeface="Times New Roman" panose="02020603050405020304" pitchFamily="18" charset="0"/>
              <a:cs typeface="Times New Roman" panose="02020603050405020304" pitchFamily="18" charset="0"/>
            </a:endParaRPr>
          </a:p>
          <a:p>
            <a:pPr lvl="1" algn="just"/>
            <a:r>
              <a:rPr lang="en-US" dirty="0">
                <a:solidFill>
                  <a:schemeClr val="tx1"/>
                </a:solidFill>
                <a:latin typeface="Times New Roman" panose="02020603050405020304" pitchFamily="18" charset="0"/>
                <a:cs typeface="Times New Roman" panose="02020603050405020304" pitchFamily="18" charset="0"/>
              </a:rPr>
              <a:t>The main UI (dashboard.html) displays all comments with their predicted status.</a:t>
            </a:r>
          </a:p>
          <a:p>
            <a:pPr lvl="1" algn="just"/>
            <a:r>
              <a:rPr lang="en-US" dirty="0">
                <a:solidFill>
                  <a:schemeClr val="tx1"/>
                </a:solidFill>
                <a:latin typeface="Times New Roman" panose="02020603050405020304" pitchFamily="18" charset="0"/>
                <a:cs typeface="Times New Roman" panose="02020603050405020304" pitchFamily="18" charset="0"/>
              </a:rPr>
              <a:t>An analytics page (log_analytics.html) provides visualizations of comment trends and moderation activity using Chart.js.</a:t>
            </a:r>
          </a:p>
          <a:p>
            <a:pPr marL="0" indent="0" algn="just">
              <a:buNone/>
            </a:pPr>
            <a:r>
              <a:rPr lang="en-US" b="1" dirty="0">
                <a:solidFill>
                  <a:schemeClr val="tx1"/>
                </a:solidFill>
                <a:latin typeface="Times New Roman" panose="02020603050405020304" pitchFamily="18" charset="0"/>
                <a:cs typeface="Times New Roman" panose="02020603050405020304" pitchFamily="18" charset="0"/>
              </a:rPr>
              <a:t>6. Admin Interface:</a:t>
            </a:r>
            <a:endParaRPr lang="en-US" dirty="0">
              <a:solidFill>
                <a:schemeClr val="tx1"/>
              </a:solidFill>
              <a:latin typeface="Times New Roman" panose="02020603050405020304" pitchFamily="18" charset="0"/>
              <a:cs typeface="Times New Roman" panose="02020603050405020304" pitchFamily="18" charset="0"/>
            </a:endParaRPr>
          </a:p>
          <a:p>
            <a:pPr lvl="1" algn="just"/>
            <a:r>
              <a:rPr lang="en-US" dirty="0">
                <a:solidFill>
                  <a:schemeClr val="tx1"/>
                </a:solidFill>
                <a:latin typeface="Times New Roman" panose="02020603050405020304" pitchFamily="18" charset="0"/>
                <a:cs typeface="Times New Roman" panose="02020603050405020304" pitchFamily="18" charset="0"/>
              </a:rPr>
              <a:t>The Django admin panel (admin.py) provides superusers with direct, raw access to view and manage comment data.</a:t>
            </a:r>
          </a:p>
          <a:p>
            <a:pPr algn="just"/>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20700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FB36E-01ED-AAEF-F0F5-BB9C6D1132FE}"/>
              </a:ext>
            </a:extLst>
          </p:cNvPr>
          <p:cNvSpPr>
            <a:spLocks noGrp="1"/>
          </p:cNvSpPr>
          <p:nvPr>
            <p:ph type="title"/>
          </p:nvPr>
        </p:nvSpPr>
        <p:spPr>
          <a:xfrm>
            <a:off x="207818" y="211499"/>
            <a:ext cx="8188036" cy="832788"/>
          </a:xfrm>
        </p:spPr>
        <p:txBody>
          <a:bodyPr>
            <a:noAutofit/>
          </a:bodyPr>
          <a:lstStyle/>
          <a:p>
            <a:r>
              <a:rPr lang="en-IN" sz="2500" dirty="0">
                <a:latin typeface="Times New Roman" panose="02020603050405020304" pitchFamily="18" charset="0"/>
                <a:cs typeface="Times New Roman" panose="02020603050405020304" pitchFamily="18" charset="0"/>
              </a:rPr>
              <a:t>Module - 3: </a:t>
            </a:r>
            <a:r>
              <a:rPr lang="en-US" sz="2500" dirty="0">
                <a:latin typeface="Times New Roman" panose="02020603050405020304" pitchFamily="18" charset="0"/>
                <a:cs typeface="Times New Roman" panose="02020603050405020304" pitchFamily="18" charset="0"/>
              </a:rPr>
              <a:t>Manual Moderation &amp; Feedback Loop 👨‍⚖️</a:t>
            </a:r>
            <a:endParaRPr lang="en-IN" sz="25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2C915BE-D2D5-1C73-EC6C-19EBF3224459}"/>
              </a:ext>
            </a:extLst>
          </p:cNvPr>
          <p:cNvSpPr>
            <a:spLocks noGrp="1"/>
          </p:cNvSpPr>
          <p:nvPr>
            <p:ph idx="1"/>
          </p:nvPr>
        </p:nvSpPr>
        <p:spPr>
          <a:xfrm>
            <a:off x="327313" y="974149"/>
            <a:ext cx="8188037" cy="3280929"/>
          </a:xfrm>
        </p:spPr>
        <p:txBody>
          <a:bodyPr>
            <a:normAutofit fontScale="92500"/>
          </a:bodyPr>
          <a:lstStyle/>
          <a:p>
            <a:pPr marL="0" indent="0" algn="just">
              <a:buNone/>
            </a:pPr>
            <a:r>
              <a:rPr lang="en-US" b="1" dirty="0">
                <a:solidFill>
                  <a:schemeClr val="tx1"/>
                </a:solidFill>
                <a:latin typeface="Times New Roman" panose="02020603050405020304" pitchFamily="18" charset="0"/>
                <a:cs typeface="Times New Roman" panose="02020603050405020304" pitchFamily="18" charset="0"/>
              </a:rPr>
              <a:t>The essential human-in-the-loop workflow for quality control.</a:t>
            </a:r>
            <a:endParaRPr lang="en-US"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b="1" dirty="0">
                <a:solidFill>
                  <a:schemeClr val="tx1"/>
                </a:solidFill>
                <a:latin typeface="Times New Roman" panose="02020603050405020304" pitchFamily="18" charset="0"/>
                <a:cs typeface="Times New Roman" panose="02020603050405020304" pitchFamily="18" charset="0"/>
              </a:rPr>
              <a:t>7. Manual Actions:</a:t>
            </a:r>
            <a:endParaRPr lang="en-US" dirty="0">
              <a:solidFill>
                <a:schemeClr val="tx1"/>
              </a:solidFill>
              <a:latin typeface="Times New Roman" panose="02020603050405020304" pitchFamily="18" charset="0"/>
              <a:cs typeface="Times New Roman" panose="02020603050405020304" pitchFamily="18" charset="0"/>
            </a:endParaRPr>
          </a:p>
          <a:p>
            <a:pPr lvl="1" algn="just"/>
            <a:r>
              <a:rPr lang="en-US" dirty="0">
                <a:solidFill>
                  <a:schemeClr val="tx1"/>
                </a:solidFill>
                <a:latin typeface="Times New Roman" panose="02020603050405020304" pitchFamily="18" charset="0"/>
                <a:cs typeface="Times New Roman" panose="02020603050405020304" pitchFamily="18" charset="0"/>
              </a:rPr>
              <a:t>From the dashboard, a moderator can perform actions such as deleting a comment or moving it to a neutral queue. These actions are handled by functions within views.py.</a:t>
            </a:r>
          </a:p>
          <a:p>
            <a:pPr marL="0" indent="0" algn="just">
              <a:buNone/>
            </a:pPr>
            <a:r>
              <a:rPr lang="en-US" b="1" dirty="0">
                <a:solidFill>
                  <a:schemeClr val="tx1"/>
                </a:solidFill>
                <a:latin typeface="Times New Roman" panose="02020603050405020304" pitchFamily="18" charset="0"/>
                <a:cs typeface="Times New Roman" panose="02020603050405020304" pitchFamily="18" charset="0"/>
              </a:rPr>
              <a:t>8. Reclassification for Retraining:</a:t>
            </a:r>
            <a:endParaRPr lang="en-US" dirty="0">
              <a:solidFill>
                <a:schemeClr val="tx1"/>
              </a:solidFill>
              <a:latin typeface="Times New Roman" panose="02020603050405020304" pitchFamily="18" charset="0"/>
              <a:cs typeface="Times New Roman" panose="02020603050405020304" pitchFamily="18" charset="0"/>
            </a:endParaRPr>
          </a:p>
          <a:p>
            <a:pPr lvl="1" algn="just"/>
            <a:r>
              <a:rPr lang="en-US" dirty="0">
                <a:solidFill>
                  <a:schemeClr val="tx1"/>
                </a:solidFill>
                <a:latin typeface="Times New Roman" panose="02020603050405020304" pitchFamily="18" charset="0"/>
                <a:cs typeface="Times New Roman" panose="02020603050405020304" pitchFamily="18" charset="0"/>
              </a:rPr>
              <a:t>If the model's prediction was incorrect, a moderator can </a:t>
            </a:r>
            <a:r>
              <a:rPr lang="en-US" b="1" dirty="0">
                <a:solidFill>
                  <a:schemeClr val="tx1"/>
                </a:solidFill>
                <a:latin typeface="Times New Roman" panose="02020603050405020304" pitchFamily="18" charset="0"/>
                <a:cs typeface="Times New Roman" panose="02020603050405020304" pitchFamily="18" charset="0"/>
              </a:rPr>
              <a:t>reclassify</a:t>
            </a:r>
            <a:r>
              <a:rPr lang="en-US" dirty="0">
                <a:solidFill>
                  <a:schemeClr val="tx1"/>
                </a:solidFill>
                <a:latin typeface="Times New Roman" panose="02020603050405020304" pitchFamily="18" charset="0"/>
                <a:cs typeface="Times New Roman" panose="02020603050405020304" pitchFamily="18" charset="0"/>
              </a:rPr>
              <a:t> the comment.</a:t>
            </a:r>
          </a:p>
          <a:p>
            <a:pPr lvl="1" algn="just"/>
            <a:r>
              <a:rPr lang="en-US" dirty="0">
                <a:solidFill>
                  <a:schemeClr val="tx1"/>
                </a:solidFill>
                <a:latin typeface="Times New Roman" panose="02020603050405020304" pitchFamily="18" charset="0"/>
                <a:cs typeface="Times New Roman" panose="02020603050405020304" pitchFamily="18" charset="0"/>
              </a:rPr>
              <a:t>This critical action updates the comment's status and adds the corrected data to a dedicated CSV file: retrain_queue.csv. This file serves as the learning dataset for the model.</a:t>
            </a:r>
          </a:p>
          <a:p>
            <a:pPr algn="just"/>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608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4DA77-0055-0A6A-7064-C8C547E61A1D}"/>
              </a:ext>
            </a:extLst>
          </p:cNvPr>
          <p:cNvSpPr>
            <a:spLocks noGrp="1"/>
          </p:cNvSpPr>
          <p:nvPr>
            <p:ph type="title"/>
          </p:nvPr>
        </p:nvSpPr>
        <p:spPr>
          <a:xfrm>
            <a:off x="371475" y="305017"/>
            <a:ext cx="8401050" cy="614579"/>
          </a:xfrm>
        </p:spPr>
        <p:txBody>
          <a:bodyPr>
            <a:noAutofit/>
          </a:bodyPr>
          <a:lstStyle/>
          <a:p>
            <a:r>
              <a:rPr lang="en-IN" sz="2400" dirty="0">
                <a:latin typeface="Times New Roman" panose="02020603050405020304" pitchFamily="18" charset="0"/>
                <a:cs typeface="Times New Roman" panose="02020603050405020304" pitchFamily="18" charset="0"/>
              </a:rPr>
              <a:t>Module - 4: Model Improvement &amp; System </a:t>
            </a:r>
            <a:r>
              <a:rPr lang="en-IN" sz="2475" dirty="0">
                <a:latin typeface="Times New Roman" panose="02020603050405020304" pitchFamily="18" charset="0"/>
                <a:cs typeface="Times New Roman" panose="02020603050405020304" pitchFamily="18" charset="0"/>
              </a:rPr>
              <a:t>Summary</a:t>
            </a:r>
            <a:r>
              <a:rPr lang="en-IN" sz="2400"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4355C581-E804-3EC8-955B-27EFA3BB400A}"/>
              </a:ext>
            </a:extLst>
          </p:cNvPr>
          <p:cNvSpPr>
            <a:spLocks noGrp="1"/>
          </p:cNvSpPr>
          <p:nvPr>
            <p:ph idx="1"/>
          </p:nvPr>
        </p:nvSpPr>
        <p:spPr>
          <a:xfrm>
            <a:off x="467592" y="1036493"/>
            <a:ext cx="8047759" cy="3596229"/>
          </a:xfrm>
        </p:spPr>
        <p:txBody>
          <a:bodyPr/>
          <a:lstStyle/>
          <a:p>
            <a:pPr marL="0" indent="0" algn="just">
              <a:buNone/>
            </a:pPr>
            <a:r>
              <a:rPr lang="en-IN" b="1" dirty="0">
                <a:solidFill>
                  <a:schemeClr val="tx1"/>
                </a:solidFill>
                <a:latin typeface="Times New Roman" panose="02020603050405020304" pitchFamily="18" charset="0"/>
                <a:cs typeface="Times New Roman" panose="02020603050405020304" pitchFamily="18" charset="0"/>
              </a:rPr>
              <a:t>Closing the loop to create a smarter system over time.</a:t>
            </a:r>
            <a:endParaRPr lang="en-IN"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IN" b="1" dirty="0">
                <a:solidFill>
                  <a:schemeClr val="tx1"/>
                </a:solidFill>
                <a:latin typeface="Times New Roman" panose="02020603050405020304" pitchFamily="18" charset="0"/>
                <a:cs typeface="Times New Roman" panose="02020603050405020304" pitchFamily="18" charset="0"/>
              </a:rPr>
              <a:t>9. Model Retraining:</a:t>
            </a:r>
            <a:endParaRPr lang="en-IN" dirty="0">
              <a:solidFill>
                <a:schemeClr val="tx1"/>
              </a:solidFill>
              <a:latin typeface="Times New Roman" panose="02020603050405020304" pitchFamily="18" charset="0"/>
              <a:cs typeface="Times New Roman" panose="02020603050405020304" pitchFamily="18" charset="0"/>
            </a:endParaRPr>
          </a:p>
          <a:p>
            <a:pPr lvl="1" algn="just"/>
            <a:r>
              <a:rPr lang="en-IN" dirty="0">
                <a:solidFill>
                  <a:schemeClr val="tx1"/>
                </a:solidFill>
                <a:latin typeface="Times New Roman" panose="02020603050405020304" pitchFamily="18" charset="0"/>
                <a:cs typeface="Times New Roman" panose="02020603050405020304" pitchFamily="18" charset="0"/>
              </a:rPr>
              <a:t>Periodically, the retrain_model.py script is executed again.</a:t>
            </a:r>
          </a:p>
          <a:p>
            <a:pPr lvl="1" algn="just"/>
            <a:r>
              <a:rPr lang="en-IN" dirty="0">
                <a:solidFill>
                  <a:schemeClr val="tx1"/>
                </a:solidFill>
                <a:latin typeface="Times New Roman" panose="02020603050405020304" pitchFamily="18" charset="0"/>
                <a:cs typeface="Times New Roman" panose="02020603050405020304" pitchFamily="18" charset="0"/>
              </a:rPr>
              <a:t>It uses the new, human-verified data from retrain_queue.csv to retrain the classifier, improving its accuracy.</a:t>
            </a:r>
          </a:p>
          <a:p>
            <a:pPr lvl="1" algn="just"/>
            <a:r>
              <a:rPr lang="en-IN" dirty="0">
                <a:solidFill>
                  <a:schemeClr val="tx1"/>
                </a:solidFill>
                <a:latin typeface="Times New Roman" panose="02020603050405020304" pitchFamily="18" charset="0"/>
                <a:cs typeface="Times New Roman" panose="02020603050405020304" pitchFamily="18" charset="0"/>
              </a:rPr>
              <a:t>Updated model files (.</a:t>
            </a:r>
            <a:r>
              <a:rPr lang="en-IN" dirty="0" err="1">
                <a:solidFill>
                  <a:schemeClr val="tx1"/>
                </a:solidFill>
                <a:latin typeface="Times New Roman" panose="02020603050405020304" pitchFamily="18" charset="0"/>
                <a:cs typeface="Times New Roman" panose="02020603050405020304" pitchFamily="18" charset="0"/>
              </a:rPr>
              <a:t>joblib</a:t>
            </a:r>
            <a:r>
              <a:rPr lang="en-IN" dirty="0">
                <a:solidFill>
                  <a:schemeClr val="tx1"/>
                </a:solidFill>
                <a:latin typeface="Times New Roman" panose="02020603050405020304" pitchFamily="18" charset="0"/>
                <a:cs typeface="Times New Roman" panose="02020603050405020304" pitchFamily="18" charset="0"/>
              </a:rPr>
              <a:t>) and performance metrics are saved.</a:t>
            </a:r>
          </a:p>
          <a:p>
            <a:pPr marL="0" indent="0" algn="just">
              <a:buNone/>
            </a:pPr>
            <a:r>
              <a:rPr lang="en-IN" b="1" dirty="0">
                <a:solidFill>
                  <a:schemeClr val="tx1"/>
                </a:solidFill>
                <a:latin typeface="Times New Roman" panose="02020603050405020304" pitchFamily="18" charset="0"/>
                <a:cs typeface="Times New Roman" panose="02020603050405020304" pitchFamily="18" charset="0"/>
              </a:rPr>
              <a:t>10. System Flow Summary:</a:t>
            </a:r>
            <a:endParaRPr lang="en-IN" dirty="0">
              <a:solidFill>
                <a:schemeClr val="tx1"/>
              </a:solidFill>
              <a:latin typeface="Times New Roman" panose="02020603050405020304" pitchFamily="18" charset="0"/>
              <a:cs typeface="Times New Roman" panose="02020603050405020304" pitchFamily="18" charset="0"/>
            </a:endParaRPr>
          </a:p>
          <a:p>
            <a:pPr marL="342900" lvl="1" indent="0" algn="just">
              <a:buNone/>
            </a:pPr>
            <a:r>
              <a:rPr lang="en-IN" b="1" dirty="0">
                <a:solidFill>
                  <a:schemeClr val="tx1"/>
                </a:solidFill>
                <a:latin typeface="Times New Roman" panose="02020603050405020304" pitchFamily="18" charset="0"/>
                <a:cs typeface="Times New Roman" panose="02020603050405020304" pitchFamily="18" charset="0"/>
              </a:rPr>
              <a:t>YouTube → Fetch Script → Database → ML Classification → Dashboard → Manual Correction → Retraining Queue → Model Retraining</a:t>
            </a:r>
            <a:endParaRPr lang="en-IN" dirty="0">
              <a:solidFill>
                <a:schemeClr val="tx1"/>
              </a:solidFill>
              <a:latin typeface="Times New Roman" panose="02020603050405020304" pitchFamily="18" charset="0"/>
              <a:cs typeface="Times New Roman" panose="02020603050405020304" pitchFamily="18" charset="0"/>
            </a:endParaRPr>
          </a:p>
          <a:p>
            <a:pPr algn="just"/>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4922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C15B5-6995-72B0-F857-38F7E36F94A3}"/>
              </a:ext>
            </a:extLst>
          </p:cNvPr>
          <p:cNvSpPr>
            <a:spLocks noGrp="1"/>
          </p:cNvSpPr>
          <p:nvPr>
            <p:ph type="title"/>
          </p:nvPr>
        </p:nvSpPr>
        <p:spPr>
          <a:xfrm>
            <a:off x="163743" y="218262"/>
            <a:ext cx="8520602" cy="572701"/>
          </a:xfrm>
        </p:spPr>
        <p:txBody>
          <a:bodyPr>
            <a:normAutofit/>
          </a:bodyPr>
          <a:lstStyle/>
          <a:p>
            <a:pPr algn="ctr"/>
            <a:r>
              <a:rPr lang="en-US" sz="2400" dirty="0">
                <a:latin typeface="Times New Roman" panose="02020603050405020304" pitchFamily="18" charset="0"/>
                <a:cs typeface="Times New Roman" panose="02020603050405020304" pitchFamily="18" charset="0"/>
              </a:rPr>
              <a:t>9. Proposed Method: Experimental Results</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DFCC86F-EDE5-F308-A47F-A4ED4ED79FEF}"/>
              </a:ext>
            </a:extLst>
          </p:cNvPr>
          <p:cNvSpPr>
            <a:spLocks noGrp="1"/>
          </p:cNvSpPr>
          <p:nvPr>
            <p:ph type="sldNum" idx="12"/>
          </p:nvPr>
        </p:nvSpPr>
        <p:spPr/>
        <p:txBody>
          <a:bodyPr>
            <a:normAutofit fontScale="92500" lnSpcReduction="10000"/>
          </a:bodyPr>
          <a:lstStyle/>
          <a:p>
            <a:pPr marL="0" lvl="0" indent="0" algn="r" rtl="0">
              <a:spcBef>
                <a:spcPts val="0"/>
              </a:spcBef>
              <a:spcAft>
                <a:spcPts val="0"/>
              </a:spcAft>
              <a:buNone/>
            </a:pPr>
            <a:fld id="{00000000-1234-1234-1234-123412341234}" type="slidenum">
              <a:rPr lang="en-US" smtClean="0"/>
              <a:t>19</a:t>
            </a:fld>
            <a:endParaRPr lang="en-US"/>
          </a:p>
        </p:txBody>
      </p:sp>
      <p:pic>
        <p:nvPicPr>
          <p:cNvPr id="6" name="Picture 5">
            <a:extLst>
              <a:ext uri="{FF2B5EF4-FFF2-40B4-BE49-F238E27FC236}">
                <a16:creationId xmlns:a16="http://schemas.microsoft.com/office/drawing/2014/main" id="{17267E1A-34F9-3109-1198-05DC6F66D754}"/>
              </a:ext>
            </a:extLst>
          </p:cNvPr>
          <p:cNvPicPr>
            <a:picLocks noChangeAspect="1"/>
          </p:cNvPicPr>
          <p:nvPr/>
        </p:nvPicPr>
        <p:blipFill>
          <a:blip r:embed="rId2"/>
          <a:stretch>
            <a:fillRect/>
          </a:stretch>
        </p:blipFill>
        <p:spPr>
          <a:xfrm>
            <a:off x="671205" y="790963"/>
            <a:ext cx="6964426" cy="3768020"/>
          </a:xfrm>
          <a:prstGeom prst="rect">
            <a:avLst/>
          </a:prstGeom>
        </p:spPr>
      </p:pic>
      <p:sp>
        <p:nvSpPr>
          <p:cNvPr id="17" name="TextBox 16">
            <a:extLst>
              <a:ext uri="{FF2B5EF4-FFF2-40B4-BE49-F238E27FC236}">
                <a16:creationId xmlns:a16="http://schemas.microsoft.com/office/drawing/2014/main" id="{297E1C75-43A6-9992-B631-8F1DDAC5D1E4}"/>
              </a:ext>
            </a:extLst>
          </p:cNvPr>
          <p:cNvSpPr txBox="1"/>
          <p:nvPr/>
        </p:nvSpPr>
        <p:spPr>
          <a:xfrm>
            <a:off x="3490116" y="4605603"/>
            <a:ext cx="1476686" cy="307777"/>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3: Home page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35448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65049-D343-0B90-6B51-02F537959F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D4802C-2677-2A5D-A6E2-0C0E74DB8564}"/>
              </a:ext>
            </a:extLst>
          </p:cNvPr>
          <p:cNvSpPr>
            <a:spLocks noGrp="1"/>
          </p:cNvSpPr>
          <p:nvPr>
            <p:ph type="title"/>
          </p:nvPr>
        </p:nvSpPr>
        <p:spPr>
          <a:xfrm>
            <a:off x="134768" y="158674"/>
            <a:ext cx="8520602" cy="572701"/>
          </a:xfrm>
        </p:spPr>
        <p:txBody>
          <a:bodyPr>
            <a:normAutofit/>
          </a:bodyPr>
          <a:lstStyle/>
          <a:p>
            <a:pPr algn="ctr"/>
            <a:r>
              <a:rPr lang="en-US" sz="2400" dirty="0">
                <a:latin typeface="Times New Roman" panose="02020603050405020304" pitchFamily="18" charset="0"/>
                <a:cs typeface="Times New Roman" panose="02020603050405020304" pitchFamily="18" charset="0"/>
              </a:rPr>
              <a:t>9. Proposed Method: Experimental Results</a:t>
            </a:r>
            <a:endParaRPr lang="en-IN" sz="24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D313159-6FC5-6F79-5101-F1C01863F71A}"/>
              </a:ext>
            </a:extLst>
          </p:cNvPr>
          <p:cNvSpPr>
            <a:spLocks noGrp="1"/>
          </p:cNvSpPr>
          <p:nvPr>
            <p:ph type="sldNum" idx="12"/>
          </p:nvPr>
        </p:nvSpPr>
        <p:spPr/>
        <p:txBody>
          <a:bodyPr>
            <a:normAutofit fontScale="92500" lnSpcReduction="10000"/>
          </a:bodyPr>
          <a:lstStyle/>
          <a:p>
            <a:pPr marL="0" lvl="0" indent="0" algn="r" rtl="0">
              <a:spcBef>
                <a:spcPts val="0"/>
              </a:spcBef>
              <a:spcAft>
                <a:spcPts val="0"/>
              </a:spcAft>
              <a:buNone/>
            </a:pPr>
            <a:fld id="{00000000-1234-1234-1234-123412341234}" type="slidenum">
              <a:rPr lang="en-US" smtClean="0"/>
              <a:t>20</a:t>
            </a:fld>
            <a:endParaRPr lang="en-US"/>
          </a:p>
        </p:txBody>
      </p:sp>
      <p:pic>
        <p:nvPicPr>
          <p:cNvPr id="8" name="Picture 7">
            <a:extLst>
              <a:ext uri="{FF2B5EF4-FFF2-40B4-BE49-F238E27FC236}">
                <a16:creationId xmlns:a16="http://schemas.microsoft.com/office/drawing/2014/main" id="{4F5AD224-328A-B970-FDE3-E82A5CD9147C}"/>
              </a:ext>
            </a:extLst>
          </p:cNvPr>
          <p:cNvPicPr>
            <a:picLocks noChangeAspect="1"/>
          </p:cNvPicPr>
          <p:nvPr/>
        </p:nvPicPr>
        <p:blipFill>
          <a:blip r:embed="rId2"/>
          <a:stretch>
            <a:fillRect/>
          </a:stretch>
        </p:blipFill>
        <p:spPr>
          <a:xfrm>
            <a:off x="488630" y="731375"/>
            <a:ext cx="6959432" cy="3747906"/>
          </a:xfrm>
          <a:prstGeom prst="rect">
            <a:avLst/>
          </a:prstGeom>
        </p:spPr>
      </p:pic>
      <p:sp>
        <p:nvSpPr>
          <p:cNvPr id="18" name="TextBox 17">
            <a:extLst>
              <a:ext uri="{FF2B5EF4-FFF2-40B4-BE49-F238E27FC236}">
                <a16:creationId xmlns:a16="http://schemas.microsoft.com/office/drawing/2014/main" id="{FE0FC54F-F649-F3F8-A702-B6F20AC6F717}"/>
              </a:ext>
            </a:extLst>
          </p:cNvPr>
          <p:cNvSpPr txBox="1"/>
          <p:nvPr/>
        </p:nvSpPr>
        <p:spPr>
          <a:xfrm>
            <a:off x="3052871" y="4506500"/>
            <a:ext cx="1830950" cy="307777"/>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4: Add Video page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94610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F4273-CBE3-BE33-C286-373093D254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4FDDD1-7194-2932-133D-A60787D4241B}"/>
              </a:ext>
            </a:extLst>
          </p:cNvPr>
          <p:cNvSpPr>
            <a:spLocks noGrp="1"/>
          </p:cNvSpPr>
          <p:nvPr>
            <p:ph type="title"/>
          </p:nvPr>
        </p:nvSpPr>
        <p:spPr>
          <a:xfrm>
            <a:off x="163743" y="124285"/>
            <a:ext cx="8520602" cy="572701"/>
          </a:xfrm>
        </p:spPr>
        <p:txBody>
          <a:bodyPr>
            <a:normAutofit/>
          </a:bodyPr>
          <a:lstStyle/>
          <a:p>
            <a:pPr algn="ctr"/>
            <a:r>
              <a:rPr lang="en-US" sz="2400" dirty="0">
                <a:latin typeface="Times New Roman" panose="02020603050405020304" pitchFamily="18" charset="0"/>
                <a:cs typeface="Times New Roman" panose="02020603050405020304" pitchFamily="18" charset="0"/>
              </a:rPr>
              <a:t>9. Proposed Method: Experimental Results</a:t>
            </a:r>
            <a:endParaRPr lang="en-IN" sz="24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52CF6C4-0B79-4CDC-6218-D68FC9307F64}"/>
              </a:ext>
            </a:extLst>
          </p:cNvPr>
          <p:cNvSpPr>
            <a:spLocks noGrp="1"/>
          </p:cNvSpPr>
          <p:nvPr>
            <p:ph type="sldNum" idx="12"/>
          </p:nvPr>
        </p:nvSpPr>
        <p:spPr/>
        <p:txBody>
          <a:bodyPr>
            <a:normAutofit fontScale="92500" lnSpcReduction="10000"/>
          </a:bodyPr>
          <a:lstStyle/>
          <a:p>
            <a:pPr marL="0" lvl="0" indent="0" algn="r" rtl="0">
              <a:spcBef>
                <a:spcPts val="0"/>
              </a:spcBef>
              <a:spcAft>
                <a:spcPts val="0"/>
              </a:spcAft>
              <a:buNone/>
            </a:pPr>
            <a:fld id="{00000000-1234-1234-1234-123412341234}" type="slidenum">
              <a:rPr lang="en-US" smtClean="0"/>
              <a:t>21</a:t>
            </a:fld>
            <a:endParaRPr lang="en-US"/>
          </a:p>
        </p:txBody>
      </p:sp>
      <p:pic>
        <p:nvPicPr>
          <p:cNvPr id="12" name="Picture 11">
            <a:extLst>
              <a:ext uri="{FF2B5EF4-FFF2-40B4-BE49-F238E27FC236}">
                <a16:creationId xmlns:a16="http://schemas.microsoft.com/office/drawing/2014/main" id="{DA6F4D29-5FF8-4AA6-5B12-C53A840D9387}"/>
              </a:ext>
            </a:extLst>
          </p:cNvPr>
          <p:cNvPicPr>
            <a:picLocks noChangeAspect="1"/>
          </p:cNvPicPr>
          <p:nvPr/>
        </p:nvPicPr>
        <p:blipFill>
          <a:blip r:embed="rId2"/>
          <a:stretch>
            <a:fillRect/>
          </a:stretch>
        </p:blipFill>
        <p:spPr>
          <a:xfrm>
            <a:off x="438734" y="771928"/>
            <a:ext cx="6931174" cy="3643764"/>
          </a:xfrm>
          <a:prstGeom prst="rect">
            <a:avLst/>
          </a:prstGeom>
        </p:spPr>
      </p:pic>
      <p:sp>
        <p:nvSpPr>
          <p:cNvPr id="5" name="TextBox 4">
            <a:extLst>
              <a:ext uri="{FF2B5EF4-FFF2-40B4-BE49-F238E27FC236}">
                <a16:creationId xmlns:a16="http://schemas.microsoft.com/office/drawing/2014/main" id="{8A8D1AC7-7708-B33E-8E7A-3D2C5C0C19F0}"/>
              </a:ext>
            </a:extLst>
          </p:cNvPr>
          <p:cNvSpPr txBox="1"/>
          <p:nvPr/>
        </p:nvSpPr>
        <p:spPr>
          <a:xfrm>
            <a:off x="2896673" y="4608658"/>
            <a:ext cx="2015295" cy="307777"/>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5: Neutral Dashboard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33237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D7B24-01EB-6BC1-BB4B-804F48C372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64B5C9-72ED-E921-DA1F-6256801490EC}"/>
              </a:ext>
            </a:extLst>
          </p:cNvPr>
          <p:cNvSpPr>
            <a:spLocks noGrp="1"/>
          </p:cNvSpPr>
          <p:nvPr>
            <p:ph type="title"/>
          </p:nvPr>
        </p:nvSpPr>
        <p:spPr>
          <a:xfrm>
            <a:off x="241361" y="218379"/>
            <a:ext cx="8520602" cy="572701"/>
          </a:xfrm>
        </p:spPr>
        <p:txBody>
          <a:bodyPr>
            <a:normAutofit/>
          </a:bodyPr>
          <a:lstStyle/>
          <a:p>
            <a:pPr algn="ctr"/>
            <a:r>
              <a:rPr lang="en-US" sz="2400" dirty="0">
                <a:latin typeface="Times New Roman" panose="02020603050405020304" pitchFamily="18" charset="0"/>
                <a:cs typeface="Times New Roman" panose="02020603050405020304" pitchFamily="18" charset="0"/>
              </a:rPr>
              <a:t>9. Proposed Method: Experimental Results</a:t>
            </a:r>
            <a:endParaRPr lang="en-IN" sz="24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C283031-9808-AB70-02E4-0D51B4029AAC}"/>
              </a:ext>
            </a:extLst>
          </p:cNvPr>
          <p:cNvSpPr>
            <a:spLocks noGrp="1"/>
          </p:cNvSpPr>
          <p:nvPr>
            <p:ph type="sldNum" idx="12"/>
          </p:nvPr>
        </p:nvSpPr>
        <p:spPr/>
        <p:txBody>
          <a:bodyPr>
            <a:normAutofit fontScale="92500" lnSpcReduction="10000"/>
          </a:bodyPr>
          <a:lstStyle/>
          <a:p>
            <a:pPr marL="0" lvl="0" indent="0" algn="r" rtl="0">
              <a:spcBef>
                <a:spcPts val="0"/>
              </a:spcBef>
              <a:spcAft>
                <a:spcPts val="0"/>
              </a:spcAft>
              <a:buNone/>
            </a:pPr>
            <a:fld id="{00000000-1234-1234-1234-123412341234}" type="slidenum">
              <a:rPr lang="en-US" smtClean="0"/>
              <a:t>22</a:t>
            </a:fld>
            <a:endParaRPr lang="en-US"/>
          </a:p>
        </p:txBody>
      </p:sp>
      <p:pic>
        <p:nvPicPr>
          <p:cNvPr id="10" name="Picture 9">
            <a:extLst>
              <a:ext uri="{FF2B5EF4-FFF2-40B4-BE49-F238E27FC236}">
                <a16:creationId xmlns:a16="http://schemas.microsoft.com/office/drawing/2014/main" id="{C9431363-F6F6-80F0-61D2-9DE845FD78EB}"/>
              </a:ext>
            </a:extLst>
          </p:cNvPr>
          <p:cNvPicPr>
            <a:picLocks noChangeAspect="1"/>
          </p:cNvPicPr>
          <p:nvPr/>
        </p:nvPicPr>
        <p:blipFill>
          <a:blip r:embed="rId2"/>
          <a:stretch>
            <a:fillRect/>
          </a:stretch>
        </p:blipFill>
        <p:spPr>
          <a:xfrm>
            <a:off x="601785" y="865712"/>
            <a:ext cx="7111464" cy="3751632"/>
          </a:xfrm>
          <a:prstGeom prst="rect">
            <a:avLst/>
          </a:prstGeom>
        </p:spPr>
      </p:pic>
      <p:sp>
        <p:nvSpPr>
          <p:cNvPr id="6" name="TextBox 5">
            <a:extLst>
              <a:ext uri="{FF2B5EF4-FFF2-40B4-BE49-F238E27FC236}">
                <a16:creationId xmlns:a16="http://schemas.microsoft.com/office/drawing/2014/main" id="{1BB72C2A-0657-9C87-BFBA-4A668A79C6D7}"/>
              </a:ext>
            </a:extLst>
          </p:cNvPr>
          <p:cNvSpPr txBox="1"/>
          <p:nvPr/>
        </p:nvSpPr>
        <p:spPr>
          <a:xfrm>
            <a:off x="3295224" y="4617344"/>
            <a:ext cx="2026517" cy="307777"/>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6: Review Dashboard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41940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3ABD0-25C9-6443-60E6-12F12FFB8A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A2F9B-9D99-53DA-37C1-2BE146480BE6}"/>
              </a:ext>
            </a:extLst>
          </p:cNvPr>
          <p:cNvSpPr>
            <a:spLocks noGrp="1"/>
          </p:cNvSpPr>
          <p:nvPr>
            <p:ph type="title"/>
          </p:nvPr>
        </p:nvSpPr>
        <p:spPr>
          <a:xfrm>
            <a:off x="233545" y="124285"/>
            <a:ext cx="8520602" cy="572701"/>
          </a:xfrm>
        </p:spPr>
        <p:txBody>
          <a:bodyPr>
            <a:normAutofit/>
          </a:bodyPr>
          <a:lstStyle/>
          <a:p>
            <a:pPr algn="ctr"/>
            <a:r>
              <a:rPr lang="en-US" sz="2400" dirty="0">
                <a:latin typeface="Times New Roman" panose="02020603050405020304" pitchFamily="18" charset="0"/>
                <a:cs typeface="Times New Roman" panose="02020603050405020304" pitchFamily="18" charset="0"/>
              </a:rPr>
              <a:t>9. Proposed Method: Experimental Results</a:t>
            </a:r>
            <a:endParaRPr lang="en-IN" sz="24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C0C242E-367C-7304-04C4-A741B28DFC7C}"/>
              </a:ext>
            </a:extLst>
          </p:cNvPr>
          <p:cNvSpPr>
            <a:spLocks noGrp="1"/>
          </p:cNvSpPr>
          <p:nvPr>
            <p:ph type="sldNum" idx="12"/>
          </p:nvPr>
        </p:nvSpPr>
        <p:spPr/>
        <p:txBody>
          <a:bodyPr>
            <a:normAutofit fontScale="92500" lnSpcReduction="10000"/>
          </a:bodyPr>
          <a:lstStyle/>
          <a:p>
            <a:pPr marL="0" lvl="0" indent="0" algn="r" rtl="0">
              <a:spcBef>
                <a:spcPts val="0"/>
              </a:spcBef>
              <a:spcAft>
                <a:spcPts val="0"/>
              </a:spcAft>
              <a:buNone/>
            </a:pPr>
            <a:fld id="{00000000-1234-1234-1234-123412341234}" type="slidenum">
              <a:rPr lang="en-US" smtClean="0"/>
              <a:t>23</a:t>
            </a:fld>
            <a:endParaRPr lang="en-US"/>
          </a:p>
        </p:txBody>
      </p:sp>
      <p:pic>
        <p:nvPicPr>
          <p:cNvPr id="14" name="Picture 13">
            <a:extLst>
              <a:ext uri="{FF2B5EF4-FFF2-40B4-BE49-F238E27FC236}">
                <a16:creationId xmlns:a16="http://schemas.microsoft.com/office/drawing/2014/main" id="{C60ABFFB-7E66-EB26-43A5-78F2938CD6BC}"/>
              </a:ext>
            </a:extLst>
          </p:cNvPr>
          <p:cNvPicPr>
            <a:picLocks noChangeAspect="1"/>
          </p:cNvPicPr>
          <p:nvPr/>
        </p:nvPicPr>
        <p:blipFill>
          <a:blip r:embed="rId2"/>
          <a:stretch>
            <a:fillRect/>
          </a:stretch>
        </p:blipFill>
        <p:spPr>
          <a:xfrm>
            <a:off x="389854" y="800153"/>
            <a:ext cx="7191070" cy="3506124"/>
          </a:xfrm>
          <a:prstGeom prst="rect">
            <a:avLst/>
          </a:prstGeom>
        </p:spPr>
      </p:pic>
      <p:sp>
        <p:nvSpPr>
          <p:cNvPr id="5" name="TextBox 4">
            <a:extLst>
              <a:ext uri="{FF2B5EF4-FFF2-40B4-BE49-F238E27FC236}">
                <a16:creationId xmlns:a16="http://schemas.microsoft.com/office/drawing/2014/main" id="{5657759A-6C56-F170-5400-B0D79CE4273F}"/>
              </a:ext>
            </a:extLst>
          </p:cNvPr>
          <p:cNvSpPr txBox="1"/>
          <p:nvPr/>
        </p:nvSpPr>
        <p:spPr>
          <a:xfrm>
            <a:off x="2968123" y="4471196"/>
            <a:ext cx="2034531" cy="307777"/>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7: Timeline Analytics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33881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1043A-6FB4-80DF-4AE6-5E5565BFE3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5D5000-A47A-FA9E-59AD-0D1412A2548D}"/>
              </a:ext>
            </a:extLst>
          </p:cNvPr>
          <p:cNvSpPr>
            <a:spLocks noGrp="1"/>
          </p:cNvSpPr>
          <p:nvPr>
            <p:ph type="title"/>
          </p:nvPr>
        </p:nvSpPr>
        <p:spPr>
          <a:xfrm>
            <a:off x="233544" y="216746"/>
            <a:ext cx="8520602" cy="572701"/>
          </a:xfrm>
        </p:spPr>
        <p:txBody>
          <a:bodyPr>
            <a:normAutofit/>
          </a:bodyPr>
          <a:lstStyle/>
          <a:p>
            <a:pPr algn="ctr"/>
            <a:r>
              <a:rPr lang="en-US" sz="2400" dirty="0">
                <a:latin typeface="Times New Roman" panose="02020603050405020304" pitchFamily="18" charset="0"/>
                <a:cs typeface="Times New Roman" panose="02020603050405020304" pitchFamily="18" charset="0"/>
              </a:rPr>
              <a:t>9. Proposed Method: Experimental Results</a:t>
            </a:r>
            <a:endParaRPr lang="en-IN" sz="24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ABE160B-2A51-69A3-A45E-BB77502EA43E}"/>
              </a:ext>
            </a:extLst>
          </p:cNvPr>
          <p:cNvSpPr>
            <a:spLocks noGrp="1"/>
          </p:cNvSpPr>
          <p:nvPr>
            <p:ph type="sldNum" idx="12"/>
          </p:nvPr>
        </p:nvSpPr>
        <p:spPr/>
        <p:txBody>
          <a:bodyPr>
            <a:normAutofit fontScale="92500" lnSpcReduction="10000"/>
          </a:bodyPr>
          <a:lstStyle/>
          <a:p>
            <a:pPr marL="0" lvl="0" indent="0" algn="r" rtl="0">
              <a:spcBef>
                <a:spcPts val="0"/>
              </a:spcBef>
              <a:spcAft>
                <a:spcPts val="0"/>
              </a:spcAft>
              <a:buNone/>
            </a:pPr>
            <a:fld id="{00000000-1234-1234-1234-123412341234}" type="slidenum">
              <a:rPr lang="en-US" smtClean="0"/>
              <a:t>24</a:t>
            </a:fld>
            <a:endParaRPr lang="en-US"/>
          </a:p>
        </p:txBody>
      </p:sp>
      <p:pic>
        <p:nvPicPr>
          <p:cNvPr id="16" name="Picture 15">
            <a:extLst>
              <a:ext uri="{FF2B5EF4-FFF2-40B4-BE49-F238E27FC236}">
                <a16:creationId xmlns:a16="http://schemas.microsoft.com/office/drawing/2014/main" id="{8D81571D-7978-C9E3-98B3-F23208806F5A}"/>
              </a:ext>
            </a:extLst>
          </p:cNvPr>
          <p:cNvPicPr>
            <a:picLocks noChangeAspect="1"/>
          </p:cNvPicPr>
          <p:nvPr/>
        </p:nvPicPr>
        <p:blipFill>
          <a:blip r:embed="rId2"/>
          <a:stretch>
            <a:fillRect/>
          </a:stretch>
        </p:blipFill>
        <p:spPr>
          <a:xfrm>
            <a:off x="468923" y="900750"/>
            <a:ext cx="7330831" cy="3646180"/>
          </a:xfrm>
          <a:prstGeom prst="rect">
            <a:avLst/>
          </a:prstGeom>
        </p:spPr>
      </p:pic>
      <p:sp>
        <p:nvSpPr>
          <p:cNvPr id="6" name="TextBox 5">
            <a:extLst>
              <a:ext uri="{FF2B5EF4-FFF2-40B4-BE49-F238E27FC236}">
                <a16:creationId xmlns:a16="http://schemas.microsoft.com/office/drawing/2014/main" id="{05B1ECB9-0138-B010-45EA-D984C519EF48}"/>
              </a:ext>
            </a:extLst>
          </p:cNvPr>
          <p:cNvSpPr txBox="1"/>
          <p:nvPr/>
        </p:nvSpPr>
        <p:spPr>
          <a:xfrm>
            <a:off x="3384731" y="4546930"/>
            <a:ext cx="1856598" cy="307777"/>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8: DBA Dashboard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14666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CDFC1-BF81-6FB8-7289-7AC52E973195}"/>
              </a:ext>
            </a:extLst>
          </p:cNvPr>
          <p:cNvSpPr>
            <a:spLocks noGrp="1"/>
          </p:cNvSpPr>
          <p:nvPr>
            <p:ph type="title"/>
          </p:nvPr>
        </p:nvSpPr>
        <p:spPr/>
        <p:txBody>
          <a:bodyPr>
            <a:normAutofit/>
          </a:bodyPr>
          <a:lstStyle/>
          <a:p>
            <a:pPr algn="ctr"/>
            <a:r>
              <a:rPr lang="en-US" sz="2400" dirty="0">
                <a:latin typeface="Times New Roman" panose="02020603050405020304" pitchFamily="18" charset="0"/>
                <a:cs typeface="Times New Roman" panose="02020603050405020304" pitchFamily="18" charset="0"/>
              </a:rPr>
              <a:t>10. Test Cases for the Project</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07E74C6-BF2A-AC61-2CAC-73D98FFEEFF3}"/>
              </a:ext>
            </a:extLst>
          </p:cNvPr>
          <p:cNvSpPr>
            <a:spLocks noGrp="1"/>
          </p:cNvSpPr>
          <p:nvPr>
            <p:ph type="sldNum" idx="12"/>
          </p:nvPr>
        </p:nvSpPr>
        <p:spPr/>
        <p:txBody>
          <a:bodyPr>
            <a:normAutofit fontScale="92500" lnSpcReduction="10000"/>
          </a:bodyPr>
          <a:lstStyle/>
          <a:p>
            <a:pPr marL="0" lvl="0" indent="0" algn="r" rtl="0">
              <a:spcBef>
                <a:spcPts val="0"/>
              </a:spcBef>
              <a:spcAft>
                <a:spcPts val="0"/>
              </a:spcAft>
              <a:buNone/>
            </a:pPr>
            <a:fld id="{00000000-1234-1234-1234-123412341234}" type="slidenum">
              <a:rPr lang="en-US" smtClean="0"/>
              <a:t>25</a:t>
            </a:fld>
            <a:endParaRPr lang="en-US"/>
          </a:p>
        </p:txBody>
      </p:sp>
      <p:graphicFrame>
        <p:nvGraphicFramePr>
          <p:cNvPr id="7" name="Table 6">
            <a:extLst>
              <a:ext uri="{FF2B5EF4-FFF2-40B4-BE49-F238E27FC236}">
                <a16:creationId xmlns:a16="http://schemas.microsoft.com/office/drawing/2014/main" id="{F557AFD2-25D1-9D5B-3D55-5C33E1645D3A}"/>
              </a:ext>
            </a:extLst>
          </p:cNvPr>
          <p:cNvGraphicFramePr>
            <a:graphicFrameLocks noGrp="1"/>
          </p:cNvGraphicFramePr>
          <p:nvPr>
            <p:extLst>
              <p:ext uri="{D42A27DB-BD31-4B8C-83A1-F6EECF244321}">
                <p14:modId xmlns:p14="http://schemas.microsoft.com/office/powerpoint/2010/main" val="4280606757"/>
              </p:ext>
            </p:extLst>
          </p:nvPr>
        </p:nvGraphicFramePr>
        <p:xfrm>
          <a:off x="468005" y="1118090"/>
          <a:ext cx="8364297" cy="2545080"/>
        </p:xfrm>
        <a:graphic>
          <a:graphicData uri="http://schemas.openxmlformats.org/drawingml/2006/table">
            <a:tbl>
              <a:tblPr firstRow="1" bandRow="1">
                <a:tableStyleId>{3C2FFA5D-87B4-456A-9821-1D502468CF0F}</a:tableStyleId>
              </a:tblPr>
              <a:tblGrid>
                <a:gridCol w="493535">
                  <a:extLst>
                    <a:ext uri="{9D8B030D-6E8A-4147-A177-3AD203B41FA5}">
                      <a16:colId xmlns:a16="http://schemas.microsoft.com/office/drawing/2014/main" val="763689818"/>
                    </a:ext>
                  </a:extLst>
                </a:gridCol>
                <a:gridCol w="3227275">
                  <a:extLst>
                    <a:ext uri="{9D8B030D-6E8A-4147-A177-3AD203B41FA5}">
                      <a16:colId xmlns:a16="http://schemas.microsoft.com/office/drawing/2014/main" val="435314216"/>
                    </a:ext>
                  </a:extLst>
                </a:gridCol>
                <a:gridCol w="989581">
                  <a:extLst>
                    <a:ext uri="{9D8B030D-6E8A-4147-A177-3AD203B41FA5}">
                      <a16:colId xmlns:a16="http://schemas.microsoft.com/office/drawing/2014/main" val="3897352366"/>
                    </a:ext>
                  </a:extLst>
                </a:gridCol>
                <a:gridCol w="931796">
                  <a:extLst>
                    <a:ext uri="{9D8B030D-6E8A-4147-A177-3AD203B41FA5}">
                      <a16:colId xmlns:a16="http://schemas.microsoft.com/office/drawing/2014/main" val="886169855"/>
                    </a:ext>
                  </a:extLst>
                </a:gridCol>
                <a:gridCol w="1454610">
                  <a:extLst>
                    <a:ext uri="{9D8B030D-6E8A-4147-A177-3AD203B41FA5}">
                      <a16:colId xmlns:a16="http://schemas.microsoft.com/office/drawing/2014/main" val="3678020915"/>
                    </a:ext>
                  </a:extLst>
                </a:gridCol>
                <a:gridCol w="633750">
                  <a:extLst>
                    <a:ext uri="{9D8B030D-6E8A-4147-A177-3AD203B41FA5}">
                      <a16:colId xmlns:a16="http://schemas.microsoft.com/office/drawing/2014/main" val="1758850576"/>
                    </a:ext>
                  </a:extLst>
                </a:gridCol>
                <a:gridCol w="633750">
                  <a:extLst>
                    <a:ext uri="{9D8B030D-6E8A-4147-A177-3AD203B41FA5}">
                      <a16:colId xmlns:a16="http://schemas.microsoft.com/office/drawing/2014/main" val="797836267"/>
                    </a:ext>
                  </a:extLst>
                </a:gridCol>
              </a:tblGrid>
              <a:tr h="370840">
                <a:tc>
                  <a:txBody>
                    <a:bodyPr/>
                    <a:lstStyle/>
                    <a:p>
                      <a:r>
                        <a:rPr lang="en-US" dirty="0">
                          <a:latin typeface="Times New Roman" panose="02020603050405020304" pitchFamily="18" charset="0"/>
                          <a:cs typeface="Times New Roman" panose="02020603050405020304" pitchFamily="18" charset="0"/>
                        </a:rPr>
                        <a:t>S. No</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Comment / Input</a:t>
                      </a:r>
                      <a:endParaRPr lang="en-IN"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Predicted/ Output</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Confidence</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Top 3 </a:t>
                      </a:r>
                      <a:r>
                        <a:rPr lang="en-US" sz="1200" dirty="0">
                          <a:latin typeface="Times New Roman" panose="02020603050405020304" pitchFamily="18" charset="0"/>
                          <a:cs typeface="Times New Roman" panose="02020603050405020304" pitchFamily="18" charset="0"/>
                        </a:rPr>
                        <a:t>Probabilities</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Status</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Output drive link</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49023279"/>
                  </a:ext>
                </a:extLst>
              </a:tr>
              <a:tr h="370840">
                <a:tc>
                  <a:txBody>
                    <a:bodyPr/>
                    <a:lstStyle/>
                    <a:p>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'This is a great video!'</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Neutral</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0.414</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Neutral: 0.414</a:t>
                      </a:r>
                    </a:p>
                    <a:p>
                      <a:r>
                        <a:rPr lang="en-IN" sz="1200" dirty="0">
                          <a:latin typeface="Times New Roman" panose="02020603050405020304" pitchFamily="18" charset="0"/>
                          <a:cs typeface="Times New Roman" panose="02020603050405020304" pitchFamily="18" charset="0"/>
                        </a:rPr>
                        <a:t>- Obscene: 0.156</a:t>
                      </a:r>
                    </a:p>
                    <a:p>
                      <a:r>
                        <a:rPr lang="en-IN" sz="1200" dirty="0">
                          <a:latin typeface="Times New Roman" panose="02020603050405020304" pitchFamily="18" charset="0"/>
                          <a:cs typeface="Times New Roman" panose="02020603050405020304" pitchFamily="18" charset="0"/>
                        </a:rPr>
                        <a:t>- Insult: 0.124</a:t>
                      </a:r>
                    </a:p>
                  </a:txBody>
                  <a:tcPr/>
                </a:tc>
                <a:tc>
                  <a:txBody>
                    <a:bodyPr/>
                    <a:lstStyle/>
                    <a:p>
                      <a:r>
                        <a:rPr lang="en-US" dirty="0">
                          <a:latin typeface="Times New Roman" panose="02020603050405020304" pitchFamily="18" charset="0"/>
                          <a:cs typeface="Times New Roman" panose="02020603050405020304" pitchFamily="18" charset="0"/>
                        </a:rPr>
                        <a:t>Pass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hlinkClick r:id="rId2"/>
                        </a:rPr>
                        <a:t>click</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14071588"/>
                  </a:ext>
                </a:extLst>
              </a:tr>
              <a:tr h="370840">
                <a:tc>
                  <a:txBody>
                    <a:bodyPr/>
                    <a:lstStyle/>
                    <a:p>
                      <a:r>
                        <a:rPr lang="en-US"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'You are stupid idiot'</a:t>
                      </a:r>
                    </a:p>
                  </a:txBody>
                  <a:tcPr/>
                </a:tc>
                <a:tc>
                  <a:txBody>
                    <a:bodyPr/>
                    <a:lstStyle/>
                    <a:p>
                      <a:r>
                        <a:rPr lang="en-US" dirty="0">
                          <a:latin typeface="Times New Roman" panose="02020603050405020304" pitchFamily="18" charset="0"/>
                          <a:cs typeface="Times New Roman" panose="02020603050405020304" pitchFamily="18" charset="0"/>
                        </a:rPr>
                        <a:t>Toxic</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0.562</a:t>
                      </a:r>
                    </a:p>
                  </a:txBody>
                  <a:tcPr/>
                </a:tc>
                <a:tc>
                  <a:txBody>
                    <a:bodyPr/>
                    <a:lstStyle/>
                    <a:p>
                      <a:r>
                        <a:rPr lang="en-IN" sz="1200" dirty="0">
                          <a:latin typeface="Times New Roman" panose="02020603050405020304" pitchFamily="18" charset="0"/>
                          <a:cs typeface="Times New Roman" panose="02020603050405020304" pitchFamily="18" charset="0"/>
                        </a:rPr>
                        <a:t>- Insult: 0.562</a:t>
                      </a:r>
                    </a:p>
                    <a:p>
                      <a:r>
                        <a:rPr lang="en-IN" sz="1200" dirty="0">
                          <a:latin typeface="Times New Roman" panose="02020603050405020304" pitchFamily="18" charset="0"/>
                          <a:cs typeface="Times New Roman" panose="02020603050405020304" pitchFamily="18" charset="0"/>
                        </a:rPr>
                        <a:t>- Neutral: 0.144</a:t>
                      </a:r>
                    </a:p>
                    <a:p>
                      <a:r>
                        <a:rPr lang="en-IN" sz="1200" dirty="0">
                          <a:latin typeface="Times New Roman" panose="02020603050405020304" pitchFamily="18" charset="0"/>
                          <a:cs typeface="Times New Roman" panose="02020603050405020304" pitchFamily="18" charset="0"/>
                        </a:rPr>
                        <a:t>- Obscene: 0.093</a:t>
                      </a:r>
                    </a:p>
                  </a:txBody>
                  <a:tcPr/>
                </a:tc>
                <a:tc>
                  <a:txBody>
                    <a:bodyPr/>
                    <a:lstStyle/>
                    <a:p>
                      <a:r>
                        <a:rPr lang="en-US" dirty="0">
                          <a:latin typeface="Times New Roman" panose="02020603050405020304" pitchFamily="18" charset="0"/>
                          <a:cs typeface="Times New Roman" panose="02020603050405020304" pitchFamily="18" charset="0"/>
                        </a:rPr>
                        <a:t>Pass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anose="02020603050405020304" pitchFamily="18" charset="0"/>
                          <a:cs typeface="Times New Roman" panose="02020603050405020304" pitchFamily="18" charset="0"/>
                          <a:hlinkClick r:id="rId2"/>
                        </a:rPr>
                        <a:t>click</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92124382"/>
                  </a:ext>
                </a:extLst>
              </a:tr>
              <a:tr h="370840">
                <a:tc>
                  <a:txBody>
                    <a:bodyPr/>
                    <a:lstStyle/>
                    <a:p>
                      <a:r>
                        <a:rPr lang="en-US"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'go to hell bastard'</a:t>
                      </a:r>
                    </a:p>
                  </a:txBody>
                  <a:tcPr/>
                </a:tc>
                <a:tc>
                  <a:txBody>
                    <a:bodyPr/>
                    <a:lstStyle/>
                    <a:p>
                      <a:r>
                        <a:rPr lang="en-US" dirty="0">
                          <a:latin typeface="Times New Roman" panose="02020603050405020304" pitchFamily="18" charset="0"/>
                          <a:cs typeface="Times New Roman" panose="02020603050405020304" pitchFamily="18" charset="0"/>
                        </a:rPr>
                        <a:t>Toxic</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0.407</a:t>
                      </a:r>
                    </a:p>
                  </a:txBody>
                  <a:tcPr/>
                </a:tc>
                <a:tc>
                  <a:txBody>
                    <a:bodyPr/>
                    <a:lstStyle/>
                    <a:p>
                      <a:pPr marL="0" indent="0">
                        <a:buFontTx/>
                        <a:buNone/>
                      </a:pPr>
                      <a:r>
                        <a:rPr lang="en-US" sz="12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Harassment:  0.407 </a:t>
                      </a:r>
                    </a:p>
                    <a:p>
                      <a:pPr marL="0" indent="0">
                        <a:buFontTx/>
                        <a:buNone/>
                      </a:pPr>
                      <a:r>
                        <a:rPr lang="en-US" sz="12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Other: 0.328 </a:t>
                      </a:r>
                    </a:p>
                    <a:p>
                      <a:pPr marL="0" indent="0">
                        <a:buFontTx/>
                        <a:buNone/>
                      </a:pPr>
                      <a:r>
                        <a:rPr lang="en-US" sz="12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Insult: 0.126</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Pass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anose="02020603050405020304" pitchFamily="18" charset="0"/>
                          <a:cs typeface="Times New Roman" panose="02020603050405020304" pitchFamily="18" charset="0"/>
                          <a:hlinkClick r:id="rId2"/>
                        </a:rPr>
                        <a:t>click</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6126121"/>
                  </a:ext>
                </a:extLst>
              </a:tr>
            </a:tbl>
          </a:graphicData>
        </a:graphic>
      </p:graphicFrame>
    </p:spTree>
    <p:extLst>
      <p:ext uri="{BB962C8B-B14F-4D97-AF65-F5344CB8AC3E}">
        <p14:creationId xmlns:p14="http://schemas.microsoft.com/office/powerpoint/2010/main" val="30843299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7"/>
          <p:cNvSpPr txBox="1">
            <a:spLocks noGrp="1"/>
          </p:cNvSpPr>
          <p:nvPr>
            <p:ph type="title"/>
          </p:nvPr>
        </p:nvSpPr>
        <p:spPr>
          <a:xfrm>
            <a:off x="311699" y="183955"/>
            <a:ext cx="8520602" cy="572701"/>
          </a:xfrm>
          <a:prstGeom prst="rect">
            <a:avLst/>
          </a:prstGeom>
          <a:noFill/>
          <a:ln>
            <a:noFill/>
          </a:ln>
        </p:spPr>
        <p:txBody>
          <a:bodyPr spcFirstLastPara="1" wrap="square" lIns="91400" tIns="91400" rIns="91400" bIns="91400" anchor="t" anchorCtr="0">
            <a:normAutofit fontScale="90000"/>
          </a:bodyPr>
          <a:lstStyle/>
          <a:p>
            <a:pPr marL="0" lvl="0" indent="0" algn="ctr" rtl="0">
              <a:lnSpc>
                <a:spcPct val="100000"/>
              </a:lnSpc>
              <a:spcBef>
                <a:spcPts val="0"/>
              </a:spcBef>
              <a:spcAft>
                <a:spcPts val="0"/>
              </a:spcAft>
              <a:buSzPct val="71428"/>
              <a:buNone/>
            </a:pPr>
            <a:r>
              <a:rPr lang="en-US" dirty="0">
                <a:latin typeface="Times New Roman"/>
                <a:ea typeface="Times New Roman"/>
                <a:cs typeface="Times New Roman"/>
                <a:sym typeface="Times New Roman"/>
              </a:rPr>
              <a:t>11. References</a:t>
            </a:r>
            <a:endParaRPr dirty="0"/>
          </a:p>
        </p:txBody>
      </p:sp>
      <p:sp>
        <p:nvSpPr>
          <p:cNvPr id="177" name="Google Shape;177;p17"/>
          <p:cNvSpPr txBox="1">
            <a:spLocks noGrp="1"/>
          </p:cNvSpPr>
          <p:nvPr>
            <p:ph type="body" idx="1"/>
          </p:nvPr>
        </p:nvSpPr>
        <p:spPr>
          <a:xfrm>
            <a:off x="311699" y="930031"/>
            <a:ext cx="8520602" cy="3743163"/>
          </a:xfrm>
          <a:prstGeom prst="rect">
            <a:avLst/>
          </a:prstGeom>
          <a:noFill/>
          <a:ln>
            <a:noFill/>
          </a:ln>
        </p:spPr>
        <p:txBody>
          <a:bodyPr spcFirstLastPara="1" wrap="square" lIns="91400" tIns="91400" rIns="91400" bIns="91400" anchor="t" anchorCtr="0">
            <a:normAutofit fontScale="92500" lnSpcReduction="10000"/>
          </a:bodyPr>
          <a:lstStyle/>
          <a:p>
            <a:pPr marL="571500" lvl="0" algn="l" rtl="0">
              <a:lnSpc>
                <a:spcPct val="115000"/>
              </a:lnSpc>
              <a:spcBef>
                <a:spcPts val="0"/>
              </a:spcBef>
              <a:spcAft>
                <a:spcPts val="0"/>
              </a:spcAft>
              <a:buSzPct val="108108"/>
              <a:buFont typeface="+mj-lt"/>
              <a:buAutoNum type="arabicPeriod"/>
            </a:pPr>
            <a:r>
              <a:rPr lang="en-IN" sz="1500" i="0" dirty="0" err="1">
                <a:solidFill>
                  <a:schemeClr val="dk1"/>
                </a:solidFill>
                <a:latin typeface="Times New Roman"/>
                <a:ea typeface="Times New Roman"/>
                <a:cs typeface="Times New Roman"/>
                <a:sym typeface="Times New Roman"/>
              </a:rPr>
              <a:t>SecureComment</a:t>
            </a:r>
            <a:r>
              <a:rPr lang="en-IN" sz="1500" i="0" dirty="0">
                <a:solidFill>
                  <a:schemeClr val="dk1"/>
                </a:solidFill>
                <a:latin typeface="Times New Roman"/>
                <a:ea typeface="Times New Roman"/>
                <a:cs typeface="Times New Roman"/>
                <a:sym typeface="Times New Roman"/>
              </a:rPr>
              <a:t>: Safeguarding Online Discussions with Intelligent Toxic Comment </a:t>
            </a:r>
            <a:r>
              <a:rPr lang="en-IN" sz="1500" i="0" dirty="0" err="1">
                <a:solidFill>
                  <a:schemeClr val="dk1"/>
                </a:solidFill>
                <a:latin typeface="Times New Roman"/>
                <a:ea typeface="Times New Roman"/>
                <a:cs typeface="Times New Roman"/>
                <a:sym typeface="Times New Roman"/>
              </a:rPr>
              <a:t>FilteringR</a:t>
            </a:r>
            <a:r>
              <a:rPr lang="en-IN" sz="1500" i="0" dirty="0">
                <a:solidFill>
                  <a:schemeClr val="dk1"/>
                </a:solidFill>
                <a:latin typeface="Times New Roman"/>
                <a:ea typeface="Times New Roman"/>
                <a:cs typeface="Times New Roman"/>
                <a:sym typeface="Times New Roman"/>
              </a:rPr>
              <a:t>. K. </a:t>
            </a:r>
            <a:r>
              <a:rPr lang="en-IN" sz="1500" i="0" dirty="0" err="1">
                <a:solidFill>
                  <a:schemeClr val="dk1"/>
                </a:solidFill>
                <a:latin typeface="Times New Roman"/>
                <a:ea typeface="Times New Roman"/>
                <a:cs typeface="Times New Roman"/>
                <a:sym typeface="Times New Roman"/>
              </a:rPr>
              <a:t>Rayani</a:t>
            </a:r>
            <a:r>
              <a:rPr lang="en-IN" sz="1500" i="0" dirty="0">
                <a:solidFill>
                  <a:schemeClr val="dk1"/>
                </a:solidFill>
                <a:latin typeface="Times New Roman"/>
                <a:ea typeface="Times New Roman"/>
                <a:cs typeface="Times New Roman"/>
                <a:sym typeface="Times New Roman"/>
              </a:rPr>
              <a:t> et al., IATMSI 2024 (IEEE).                                                                                                                               </a:t>
            </a:r>
            <a:r>
              <a:rPr lang="en-IN" sz="1500" dirty="0" err="1">
                <a:solidFill>
                  <a:schemeClr val="dk1"/>
                </a:solidFill>
                <a:latin typeface="Times New Roman"/>
                <a:ea typeface="Times New Roman"/>
                <a:cs typeface="Times New Roman"/>
                <a:sym typeface="Times New Roman"/>
              </a:rPr>
              <a:t>doi</a:t>
            </a:r>
            <a:r>
              <a:rPr lang="en-IN" sz="1500" i="0" dirty="0">
                <a:solidFill>
                  <a:schemeClr val="dk1"/>
                </a:solidFill>
                <a:latin typeface="Times New Roman"/>
                <a:ea typeface="Times New Roman"/>
                <a:cs typeface="Times New Roman"/>
                <a:sym typeface="Times New Roman"/>
              </a:rPr>
              <a:t>: </a:t>
            </a:r>
            <a:r>
              <a:rPr lang="en-IN" sz="1500" i="0" dirty="0">
                <a:solidFill>
                  <a:schemeClr val="dk1"/>
                </a:solidFill>
                <a:latin typeface="Times New Roman"/>
                <a:ea typeface="Times New Roman"/>
                <a:cs typeface="Times New Roman"/>
                <a:sym typeface="Times New Roman"/>
                <a:hlinkClick r:id="rId3"/>
              </a:rPr>
              <a:t>https://doi.org/10.1109/IATMSI60426.2024.10503420</a:t>
            </a:r>
            <a:r>
              <a:rPr lang="en-IN" sz="1500" i="0" dirty="0">
                <a:solidFill>
                  <a:schemeClr val="dk1"/>
                </a:solidFill>
                <a:latin typeface="Times New Roman"/>
                <a:ea typeface="Times New Roman"/>
                <a:cs typeface="Times New Roman"/>
                <a:sym typeface="Times New Roman"/>
              </a:rPr>
              <a:t>.</a:t>
            </a:r>
          </a:p>
          <a:p>
            <a:pPr marL="571500" lvl="0" algn="l" rtl="0">
              <a:lnSpc>
                <a:spcPct val="115000"/>
              </a:lnSpc>
              <a:spcBef>
                <a:spcPts val="0"/>
              </a:spcBef>
              <a:spcAft>
                <a:spcPts val="0"/>
              </a:spcAft>
              <a:buSzPct val="108108"/>
              <a:buFont typeface="+mj-lt"/>
              <a:buAutoNum type="arabicPeriod"/>
            </a:pPr>
            <a:r>
              <a:rPr lang="en-IN" sz="1500" i="0" dirty="0">
                <a:solidFill>
                  <a:schemeClr val="dk1"/>
                </a:solidFill>
                <a:latin typeface="Times New Roman"/>
                <a:ea typeface="Times New Roman"/>
                <a:cs typeface="Times New Roman"/>
                <a:sym typeface="Times New Roman"/>
              </a:rPr>
              <a:t>Toxic Comment Analyzer using BERT: A Deep Learning Approach for Toxicity </a:t>
            </a:r>
            <a:r>
              <a:rPr lang="en-IN" sz="1500" i="0" dirty="0" err="1">
                <a:solidFill>
                  <a:schemeClr val="dk1"/>
                </a:solidFill>
                <a:latin typeface="Times New Roman"/>
                <a:ea typeface="Times New Roman"/>
                <a:cs typeface="Times New Roman"/>
                <a:sym typeface="Times New Roman"/>
              </a:rPr>
              <a:t>DetectionR</a:t>
            </a:r>
            <a:r>
              <a:rPr lang="en-IN" sz="1500" i="0" dirty="0">
                <a:solidFill>
                  <a:schemeClr val="dk1"/>
                </a:solidFill>
                <a:latin typeface="Times New Roman"/>
                <a:ea typeface="Times New Roman"/>
                <a:cs typeface="Times New Roman"/>
                <a:sym typeface="Times New Roman"/>
              </a:rPr>
              <a:t>. Singh, R. Kashyap, V. Sharma, ICI 2023.                                                                                                                        </a:t>
            </a:r>
            <a:r>
              <a:rPr lang="en-IN" sz="1500" i="0" dirty="0" err="1">
                <a:solidFill>
                  <a:schemeClr val="dk1"/>
                </a:solidFill>
                <a:latin typeface="Times New Roman"/>
                <a:ea typeface="Times New Roman"/>
                <a:cs typeface="Times New Roman"/>
                <a:sym typeface="Times New Roman"/>
              </a:rPr>
              <a:t>doi</a:t>
            </a:r>
            <a:r>
              <a:rPr lang="en-IN" sz="1500" i="0" dirty="0">
                <a:solidFill>
                  <a:schemeClr val="dk1"/>
                </a:solidFill>
                <a:latin typeface="Times New Roman"/>
                <a:ea typeface="Times New Roman"/>
                <a:cs typeface="Times New Roman"/>
                <a:sym typeface="Times New Roman"/>
              </a:rPr>
              <a:t>: </a:t>
            </a:r>
            <a:r>
              <a:rPr lang="en-IN" sz="1500" i="0" dirty="0">
                <a:solidFill>
                  <a:schemeClr val="dk1"/>
                </a:solidFill>
                <a:latin typeface="Times New Roman"/>
                <a:ea typeface="Times New Roman"/>
                <a:cs typeface="Times New Roman"/>
                <a:sym typeface="Times New Roman"/>
                <a:hlinkClick r:id="rId4"/>
              </a:rPr>
              <a:t>https://doi.org/10.1109/ICI60088.2023.10421672</a:t>
            </a:r>
            <a:endParaRPr lang="en-IN" sz="1500" i="0" dirty="0">
              <a:solidFill>
                <a:schemeClr val="dk1"/>
              </a:solidFill>
              <a:latin typeface="Times New Roman"/>
              <a:ea typeface="Times New Roman"/>
              <a:cs typeface="Times New Roman"/>
              <a:sym typeface="Times New Roman"/>
            </a:endParaRPr>
          </a:p>
          <a:p>
            <a:pPr marL="571500" lvl="0" algn="l" rtl="0">
              <a:lnSpc>
                <a:spcPct val="115000"/>
              </a:lnSpc>
              <a:spcBef>
                <a:spcPts val="0"/>
              </a:spcBef>
              <a:spcAft>
                <a:spcPts val="0"/>
              </a:spcAft>
              <a:buSzPct val="108108"/>
              <a:buFont typeface="+mj-lt"/>
              <a:buAutoNum type="arabicPeriod"/>
            </a:pPr>
            <a:r>
              <a:rPr lang="en-IN" sz="1500" i="0" dirty="0">
                <a:solidFill>
                  <a:schemeClr val="dk1"/>
                </a:solidFill>
                <a:latin typeface="Times New Roman"/>
                <a:ea typeface="Times New Roman"/>
                <a:cs typeface="Times New Roman"/>
                <a:sym typeface="Times New Roman"/>
              </a:rPr>
              <a:t>Toxic Comment Classification Using S-BERT and Random </a:t>
            </a:r>
            <a:r>
              <a:rPr lang="en-IN" sz="1500" i="0" dirty="0" err="1">
                <a:solidFill>
                  <a:schemeClr val="dk1"/>
                </a:solidFill>
                <a:latin typeface="Times New Roman"/>
                <a:ea typeface="Times New Roman"/>
                <a:cs typeface="Times New Roman"/>
                <a:sym typeface="Times New Roman"/>
              </a:rPr>
              <a:t>ForestA</a:t>
            </a:r>
            <a:r>
              <a:rPr lang="en-IN" sz="1500" i="0" dirty="0">
                <a:solidFill>
                  <a:schemeClr val="dk1"/>
                </a:solidFill>
                <a:latin typeface="Times New Roman"/>
                <a:ea typeface="Times New Roman"/>
                <a:cs typeface="Times New Roman"/>
                <a:sym typeface="Times New Roman"/>
              </a:rPr>
              <a:t>. A. Kumar et al., IC3/InC4 2023 (IEEE).                                                                                                                                                             </a:t>
            </a:r>
            <a:r>
              <a:rPr lang="en-IN" sz="1500" i="0" dirty="0" err="1">
                <a:solidFill>
                  <a:schemeClr val="dk1"/>
                </a:solidFill>
                <a:latin typeface="Times New Roman"/>
                <a:ea typeface="Times New Roman"/>
                <a:cs typeface="Times New Roman"/>
                <a:sym typeface="Times New Roman"/>
              </a:rPr>
              <a:t>doi</a:t>
            </a:r>
            <a:r>
              <a:rPr lang="en-IN" sz="1500" i="0" dirty="0">
                <a:solidFill>
                  <a:schemeClr val="dk1"/>
                </a:solidFill>
                <a:latin typeface="Times New Roman"/>
                <a:ea typeface="Times New Roman"/>
                <a:cs typeface="Times New Roman"/>
                <a:sym typeface="Times New Roman"/>
              </a:rPr>
              <a:t>: </a:t>
            </a:r>
            <a:r>
              <a:rPr lang="en-IN" sz="1500" i="0" dirty="0">
                <a:solidFill>
                  <a:schemeClr val="dk1"/>
                </a:solidFill>
                <a:latin typeface="Times New Roman"/>
                <a:ea typeface="Times New Roman"/>
                <a:cs typeface="Times New Roman"/>
                <a:sym typeface="Times New Roman"/>
                <a:hlinkClick r:id="rId5"/>
              </a:rPr>
              <a:t>https://doi.org/10.1109/InC457730.2023.10263218</a:t>
            </a:r>
            <a:r>
              <a:rPr lang="en-IN" sz="1500" i="0" dirty="0">
                <a:solidFill>
                  <a:schemeClr val="dk1"/>
                </a:solidFill>
                <a:latin typeface="Times New Roman"/>
                <a:ea typeface="Times New Roman"/>
                <a:cs typeface="Times New Roman"/>
                <a:sym typeface="Times New Roman"/>
              </a:rPr>
              <a:t> </a:t>
            </a:r>
          </a:p>
          <a:p>
            <a:pPr marL="571500" lvl="0" algn="l" rtl="0">
              <a:lnSpc>
                <a:spcPct val="115000"/>
              </a:lnSpc>
              <a:spcBef>
                <a:spcPts val="0"/>
              </a:spcBef>
              <a:spcAft>
                <a:spcPts val="0"/>
              </a:spcAft>
              <a:buSzPct val="108108"/>
              <a:buFont typeface="+mj-lt"/>
              <a:buAutoNum type="arabicPeriod"/>
            </a:pPr>
            <a:r>
              <a:rPr lang="en-IN" sz="1500" i="0" dirty="0">
                <a:solidFill>
                  <a:schemeClr val="dk1"/>
                </a:solidFill>
                <a:latin typeface="Times New Roman"/>
                <a:ea typeface="Times New Roman"/>
                <a:cs typeface="Times New Roman"/>
                <a:sym typeface="Times New Roman"/>
              </a:rPr>
              <a:t>Multilingual Abusive Comment Detection at Scale for Indic Languages (MACD)V. Gupta et al., </a:t>
            </a:r>
            <a:r>
              <a:rPr lang="en-IN" sz="1500" i="0" dirty="0" err="1">
                <a:solidFill>
                  <a:schemeClr val="dk1"/>
                </a:solidFill>
                <a:latin typeface="Times New Roman"/>
                <a:ea typeface="Times New Roman"/>
                <a:cs typeface="Times New Roman"/>
                <a:sym typeface="Times New Roman"/>
              </a:rPr>
              <a:t>NeurIPS</a:t>
            </a:r>
            <a:r>
              <a:rPr lang="en-IN" sz="1500" i="0" dirty="0">
                <a:solidFill>
                  <a:schemeClr val="dk1"/>
                </a:solidFill>
                <a:latin typeface="Times New Roman"/>
                <a:ea typeface="Times New Roman"/>
                <a:cs typeface="Times New Roman"/>
                <a:sym typeface="Times New Roman"/>
              </a:rPr>
              <a:t> Datasets &amp; Benchmarks Track, 2022.                                           </a:t>
            </a:r>
            <a:r>
              <a:rPr lang="en-IN" sz="1500" i="0" dirty="0" err="1">
                <a:solidFill>
                  <a:schemeClr val="dk1"/>
                </a:solidFill>
                <a:latin typeface="Times New Roman"/>
                <a:ea typeface="Times New Roman"/>
                <a:cs typeface="Times New Roman"/>
                <a:sym typeface="Times New Roman"/>
              </a:rPr>
              <a:t>doi:</a:t>
            </a:r>
            <a:r>
              <a:rPr lang="en-IN" sz="1500" i="0" dirty="0" err="1">
                <a:solidFill>
                  <a:schemeClr val="dk1"/>
                </a:solidFill>
                <a:latin typeface="Times New Roman"/>
                <a:ea typeface="Times New Roman"/>
                <a:cs typeface="Times New Roman"/>
                <a:sym typeface="Times New Roman"/>
                <a:hlinkClick r:id="rId6"/>
              </a:rPr>
              <a:t>https</a:t>
            </a:r>
            <a:r>
              <a:rPr lang="en-IN" sz="1500" i="0" dirty="0">
                <a:solidFill>
                  <a:schemeClr val="dk1"/>
                </a:solidFill>
                <a:latin typeface="Times New Roman"/>
                <a:ea typeface="Times New Roman"/>
                <a:cs typeface="Times New Roman"/>
                <a:sym typeface="Times New Roman"/>
                <a:hlinkClick r:id="rId6"/>
              </a:rPr>
              <a:t>://proceedings.neurips.cc/paper_files/paper/2022/file/a7c4163b33286261b24c72fd3d1707c9-Paper-Datasets_and_Benchmarks.pdf</a:t>
            </a:r>
            <a:r>
              <a:rPr lang="en-IN" sz="1500" i="0" dirty="0">
                <a:solidFill>
                  <a:schemeClr val="dk1"/>
                </a:solidFill>
                <a:latin typeface="Times New Roman"/>
                <a:ea typeface="Times New Roman"/>
                <a:cs typeface="Times New Roman"/>
                <a:sym typeface="Times New Roman"/>
              </a:rPr>
              <a:t> </a:t>
            </a:r>
          </a:p>
          <a:p>
            <a:pPr marL="571500" lvl="0" algn="l" rtl="0">
              <a:lnSpc>
                <a:spcPct val="115000"/>
              </a:lnSpc>
              <a:spcBef>
                <a:spcPts val="0"/>
              </a:spcBef>
              <a:spcAft>
                <a:spcPts val="0"/>
              </a:spcAft>
              <a:buSzPct val="108108"/>
              <a:buFont typeface="+mj-lt"/>
              <a:buAutoNum type="arabicPeriod"/>
            </a:pPr>
            <a:r>
              <a:rPr lang="en-US" sz="1500" i="0" dirty="0">
                <a:solidFill>
                  <a:schemeClr val="dk1"/>
                </a:solidFill>
                <a:latin typeface="Times New Roman"/>
                <a:ea typeface="Times New Roman"/>
                <a:cs typeface="Times New Roman"/>
                <a:sym typeface="Times New Roman"/>
              </a:rPr>
              <a:t>Overview of HASOC </a:t>
            </a:r>
            <a:r>
              <a:rPr lang="en-US" sz="1500" i="0" dirty="0" err="1">
                <a:solidFill>
                  <a:schemeClr val="dk1"/>
                </a:solidFill>
                <a:latin typeface="Times New Roman"/>
                <a:ea typeface="Times New Roman"/>
                <a:cs typeface="Times New Roman"/>
                <a:sym typeface="Times New Roman"/>
              </a:rPr>
              <a:t>Subtracks</a:t>
            </a:r>
            <a:r>
              <a:rPr lang="en-US" sz="1500" i="0" dirty="0">
                <a:solidFill>
                  <a:schemeClr val="dk1"/>
                </a:solidFill>
                <a:latin typeface="Times New Roman"/>
                <a:ea typeface="Times New Roman"/>
                <a:cs typeface="Times New Roman"/>
                <a:sym typeface="Times New Roman"/>
              </a:rPr>
              <a:t> at FIRE 2023: SERP Sarah Masud et al., FIRE 2023.                                </a:t>
            </a:r>
            <a:r>
              <a:rPr lang="en-US" sz="1500" i="0" dirty="0" err="1">
                <a:solidFill>
                  <a:schemeClr val="dk1"/>
                </a:solidFill>
                <a:latin typeface="Times New Roman"/>
                <a:ea typeface="Times New Roman"/>
                <a:cs typeface="Times New Roman"/>
                <a:sym typeface="Times New Roman"/>
              </a:rPr>
              <a:t>doi</a:t>
            </a:r>
            <a:r>
              <a:rPr lang="en-US" sz="1500" i="0" dirty="0">
                <a:solidFill>
                  <a:schemeClr val="dk1"/>
                </a:solidFill>
                <a:latin typeface="Times New Roman"/>
                <a:ea typeface="Times New Roman"/>
                <a:cs typeface="Times New Roman"/>
                <a:sym typeface="Times New Roman"/>
              </a:rPr>
              <a:t>: </a:t>
            </a:r>
            <a:r>
              <a:rPr lang="en-US" sz="1500" i="0" dirty="0">
                <a:solidFill>
                  <a:schemeClr val="dk1"/>
                </a:solidFill>
                <a:latin typeface="Times New Roman"/>
                <a:ea typeface="Times New Roman"/>
                <a:cs typeface="Times New Roman"/>
                <a:sym typeface="Times New Roman"/>
                <a:hlinkClick r:id="rId7"/>
              </a:rPr>
              <a:t>https://ceur-ws.org/Vol-3681/T6-2.pdf</a:t>
            </a:r>
            <a:r>
              <a:rPr lang="en-US" sz="1500" i="0" dirty="0">
                <a:solidFill>
                  <a:schemeClr val="dk1"/>
                </a:solidFill>
                <a:latin typeface="Times New Roman"/>
                <a:ea typeface="Times New Roman"/>
                <a:cs typeface="Times New Roman"/>
                <a:sym typeface="Times New Roman"/>
              </a:rPr>
              <a:t> </a:t>
            </a:r>
            <a:endParaRPr lang="en-IN" sz="1500" i="0" dirty="0">
              <a:solidFill>
                <a:schemeClr val="dk1"/>
              </a:solidFill>
              <a:latin typeface="Times New Roman"/>
              <a:ea typeface="Times New Roman"/>
              <a:cs typeface="Times New Roman"/>
              <a:sym typeface="Times New Roman"/>
            </a:endParaRPr>
          </a:p>
          <a:p>
            <a:pPr marL="228600" lvl="0" indent="0" algn="l" rtl="0">
              <a:lnSpc>
                <a:spcPct val="115000"/>
              </a:lnSpc>
              <a:spcBef>
                <a:spcPts val="0"/>
              </a:spcBef>
              <a:spcAft>
                <a:spcPts val="0"/>
              </a:spcAft>
              <a:buSzPct val="108108"/>
              <a:buNone/>
            </a:pPr>
            <a:endParaRPr sz="1500" i="0" dirty="0">
              <a:solidFill>
                <a:schemeClr val="dk1"/>
              </a:solidFill>
              <a:latin typeface="Times New Roman"/>
              <a:ea typeface="Times New Roman"/>
              <a:cs typeface="Times New Roman"/>
              <a:sym typeface="Times New Roman"/>
            </a:endParaRPr>
          </a:p>
        </p:txBody>
      </p:sp>
      <p:sp>
        <p:nvSpPr>
          <p:cNvPr id="179" name="Google Shape;179;p17"/>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8"/>
          <p:cNvSpPr txBox="1">
            <a:spLocks noGrp="1"/>
          </p:cNvSpPr>
          <p:nvPr>
            <p:ph type="body" idx="1"/>
          </p:nvPr>
        </p:nvSpPr>
        <p:spPr>
          <a:xfrm>
            <a:off x="311699" y="689809"/>
            <a:ext cx="8520602" cy="3954380"/>
          </a:xfrm>
          <a:prstGeom prst="rect">
            <a:avLst/>
          </a:prstGeom>
          <a:noFill/>
          <a:ln>
            <a:noFill/>
          </a:ln>
        </p:spPr>
        <p:txBody>
          <a:bodyPr spcFirstLastPara="1" wrap="square" lIns="91400" tIns="91400" rIns="91400" bIns="91400" anchor="t" anchorCtr="0">
            <a:normAutofit/>
          </a:bodyPr>
          <a:lstStyle/>
          <a:p>
            <a:pPr lvl="0" algn="l" rtl="0">
              <a:lnSpc>
                <a:spcPct val="115000"/>
              </a:lnSpc>
              <a:spcBef>
                <a:spcPts val="0"/>
              </a:spcBef>
              <a:spcAft>
                <a:spcPts val="0"/>
              </a:spcAft>
              <a:buSzPct val="108108"/>
              <a:buFont typeface="+mj-lt"/>
              <a:buAutoNum type="arabicPeriod" startAt="6"/>
            </a:pPr>
            <a:r>
              <a:rPr lang="en-US" sz="1400" dirty="0">
                <a:solidFill>
                  <a:schemeClr val="tx1"/>
                </a:solidFill>
                <a:latin typeface="Times New Roman" panose="02020603050405020304" pitchFamily="18" charset="0"/>
                <a:cs typeface="Times New Roman" panose="02020603050405020304" pitchFamily="18" charset="0"/>
              </a:rPr>
              <a:t>Overview of the HASOC </a:t>
            </a:r>
            <a:r>
              <a:rPr lang="en-US" sz="1400" dirty="0" err="1">
                <a:solidFill>
                  <a:schemeClr val="tx1"/>
                </a:solidFill>
                <a:latin typeface="Times New Roman" panose="02020603050405020304" pitchFamily="18" charset="0"/>
                <a:cs typeface="Times New Roman" panose="02020603050405020304" pitchFamily="18" charset="0"/>
              </a:rPr>
              <a:t>Subtracks</a:t>
            </a:r>
            <a:r>
              <a:rPr lang="en-US" sz="1400" dirty="0">
                <a:solidFill>
                  <a:schemeClr val="tx1"/>
                </a:solidFill>
                <a:latin typeface="Times New Roman" panose="02020603050405020304" pitchFamily="18" charset="0"/>
                <a:cs typeface="Times New Roman" panose="02020603050405020304" pitchFamily="18" charset="0"/>
              </a:rPr>
              <a:t> at FIRE 2023FIRE 2023 via ACM DL.                                                   </a:t>
            </a:r>
            <a:r>
              <a:rPr lang="en-US" sz="1400" dirty="0" err="1">
                <a:solidFill>
                  <a:schemeClr val="tx1"/>
                </a:solidFill>
                <a:latin typeface="Times New Roman" panose="02020603050405020304" pitchFamily="18" charset="0"/>
                <a:cs typeface="Times New Roman" panose="02020603050405020304" pitchFamily="18" charset="0"/>
              </a:rPr>
              <a:t>doi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hlinkClick r:id="rId3"/>
              </a:rPr>
              <a:t>https://dl.acm.org/doi/10.1145/3632754.3633277</a:t>
            </a:r>
            <a:r>
              <a:rPr lang="en-US" sz="1400" dirty="0">
                <a:solidFill>
                  <a:schemeClr val="tx1"/>
                </a:solidFill>
                <a:latin typeface="Times New Roman" panose="02020603050405020304" pitchFamily="18" charset="0"/>
                <a:cs typeface="Times New Roman" panose="02020603050405020304" pitchFamily="18" charset="0"/>
              </a:rPr>
              <a:t> </a:t>
            </a:r>
          </a:p>
          <a:p>
            <a:pPr lvl="0" algn="l" rtl="0">
              <a:lnSpc>
                <a:spcPct val="115000"/>
              </a:lnSpc>
              <a:spcBef>
                <a:spcPts val="0"/>
              </a:spcBef>
              <a:spcAft>
                <a:spcPts val="0"/>
              </a:spcAft>
              <a:buSzPct val="108108"/>
              <a:buFont typeface="+mj-lt"/>
              <a:buAutoNum type="arabicPeriod" startAt="6"/>
            </a:pPr>
            <a:r>
              <a:rPr lang="en-IN" sz="1400" dirty="0">
                <a:solidFill>
                  <a:schemeClr val="tx1"/>
                </a:solidFill>
                <a:latin typeface="Times New Roman" panose="02020603050405020304" pitchFamily="18" charset="0"/>
                <a:cs typeface="Times New Roman" panose="02020603050405020304" pitchFamily="18" charset="0"/>
              </a:rPr>
              <a:t>Annihilate Hates (Task 4 HASOC 2023): Hate Speech in Assamese, Bengali, </a:t>
            </a:r>
            <a:r>
              <a:rPr lang="en-IN" sz="1400" dirty="0" err="1">
                <a:solidFill>
                  <a:schemeClr val="tx1"/>
                </a:solidFill>
                <a:latin typeface="Times New Roman" panose="02020603050405020304" pitchFamily="18" charset="0"/>
                <a:cs typeface="Times New Roman" panose="02020603050405020304" pitchFamily="18" charset="0"/>
              </a:rPr>
              <a:t>BodoK</a:t>
            </a:r>
            <a:r>
              <a:rPr lang="en-IN" sz="1400" dirty="0">
                <a:solidFill>
                  <a:schemeClr val="tx1"/>
                </a:solidFill>
                <a:latin typeface="Times New Roman" panose="02020603050405020304" pitchFamily="18" charset="0"/>
                <a:cs typeface="Times New Roman" panose="02020603050405020304" pitchFamily="18" charset="0"/>
              </a:rPr>
              <a:t>. Ghosh et al., FIRE 2023.                                                                                                                                                                   </a:t>
            </a:r>
            <a:r>
              <a:rPr lang="en-IN" sz="1400" dirty="0" err="1">
                <a:solidFill>
                  <a:schemeClr val="tx1"/>
                </a:solidFill>
                <a:latin typeface="Times New Roman" panose="02020603050405020304" pitchFamily="18" charset="0"/>
                <a:cs typeface="Times New Roman" panose="02020603050405020304" pitchFamily="18" charset="0"/>
              </a:rPr>
              <a:t>doi</a:t>
            </a:r>
            <a:r>
              <a:rPr lang="en-IN" sz="1400" dirty="0">
                <a:solidFill>
                  <a:schemeClr val="tx1"/>
                </a:solidFill>
                <a:latin typeface="Times New Roman" panose="02020603050405020304" pitchFamily="18" charset="0"/>
                <a:cs typeface="Times New Roman" panose="02020603050405020304" pitchFamily="18" charset="0"/>
              </a:rPr>
              <a:t>: </a:t>
            </a:r>
            <a:r>
              <a:rPr lang="en-IN" sz="1400" dirty="0">
                <a:solidFill>
                  <a:schemeClr val="tx1"/>
                </a:solidFill>
                <a:latin typeface="Times New Roman" panose="02020603050405020304" pitchFamily="18" charset="0"/>
                <a:cs typeface="Times New Roman" panose="02020603050405020304" pitchFamily="18" charset="0"/>
                <a:hlinkClick r:id="rId4"/>
              </a:rPr>
              <a:t>https://digitalcommons.isical.ac.in/conf-articles/541/</a:t>
            </a:r>
            <a:r>
              <a:rPr lang="en-IN" sz="1400" dirty="0">
                <a:solidFill>
                  <a:schemeClr val="tx1"/>
                </a:solidFill>
                <a:latin typeface="Times New Roman" panose="02020603050405020304" pitchFamily="18" charset="0"/>
                <a:cs typeface="Times New Roman" panose="02020603050405020304" pitchFamily="18" charset="0"/>
              </a:rPr>
              <a:t> </a:t>
            </a:r>
          </a:p>
          <a:p>
            <a:pPr lvl="0" algn="l" rtl="0">
              <a:lnSpc>
                <a:spcPct val="115000"/>
              </a:lnSpc>
              <a:spcBef>
                <a:spcPts val="0"/>
              </a:spcBef>
              <a:spcAft>
                <a:spcPts val="0"/>
              </a:spcAft>
              <a:buSzPct val="108108"/>
              <a:buFont typeface="+mj-lt"/>
              <a:buAutoNum type="arabicPeriod" startAt="6"/>
            </a:pPr>
            <a:r>
              <a:rPr lang="en-IN" sz="1400" dirty="0">
                <a:solidFill>
                  <a:schemeClr val="tx1"/>
                </a:solidFill>
                <a:latin typeface="Times New Roman" panose="02020603050405020304" pitchFamily="18" charset="0"/>
                <a:cs typeface="Times New Roman" panose="02020603050405020304" pitchFamily="18" charset="0"/>
              </a:rPr>
              <a:t>Hate Speech &amp; Offensive Content Detection in Indo-Aryan </a:t>
            </a:r>
            <a:r>
              <a:rPr lang="en-IN" sz="1400" dirty="0" err="1">
                <a:solidFill>
                  <a:schemeClr val="tx1"/>
                </a:solidFill>
                <a:latin typeface="Times New Roman" panose="02020603050405020304" pitchFamily="18" charset="0"/>
                <a:cs typeface="Times New Roman" panose="02020603050405020304" pitchFamily="18" charset="0"/>
              </a:rPr>
              <a:t>LanguagesN</a:t>
            </a:r>
            <a:r>
              <a:rPr lang="en-IN" sz="1400" dirty="0">
                <a:solidFill>
                  <a:schemeClr val="tx1"/>
                </a:solidFill>
                <a:latin typeface="Times New Roman" panose="02020603050405020304" pitchFamily="18" charset="0"/>
                <a:cs typeface="Times New Roman" panose="02020603050405020304" pitchFamily="18" charset="0"/>
              </a:rPr>
              <a:t>. Narayan et al., </a:t>
            </a:r>
            <a:r>
              <a:rPr lang="en-IN" sz="1400" dirty="0" err="1">
                <a:solidFill>
                  <a:schemeClr val="tx1"/>
                </a:solidFill>
                <a:latin typeface="Times New Roman" panose="02020603050405020304" pitchFamily="18" charset="0"/>
                <a:cs typeface="Times New Roman" panose="02020603050405020304" pitchFamily="18" charset="0"/>
              </a:rPr>
              <a:t>arXiv</a:t>
            </a:r>
            <a:r>
              <a:rPr lang="en-IN" sz="1400" dirty="0">
                <a:solidFill>
                  <a:schemeClr val="tx1"/>
                </a:solidFill>
                <a:latin typeface="Times New Roman" panose="02020603050405020304" pitchFamily="18" charset="0"/>
                <a:cs typeface="Times New Roman" panose="02020603050405020304" pitchFamily="18" charset="0"/>
              </a:rPr>
              <a:t>, Dec 2023. </a:t>
            </a:r>
            <a:r>
              <a:rPr lang="en-IN" sz="1400" dirty="0" err="1">
                <a:solidFill>
                  <a:schemeClr val="tx1"/>
                </a:solidFill>
                <a:latin typeface="Times New Roman" panose="02020603050405020304" pitchFamily="18" charset="0"/>
                <a:cs typeface="Times New Roman" panose="02020603050405020304" pitchFamily="18" charset="0"/>
              </a:rPr>
              <a:t>doi</a:t>
            </a:r>
            <a:r>
              <a:rPr lang="en-IN" sz="1400" dirty="0">
                <a:solidFill>
                  <a:schemeClr val="tx1"/>
                </a:solidFill>
                <a:latin typeface="Times New Roman" panose="02020603050405020304" pitchFamily="18" charset="0"/>
                <a:cs typeface="Times New Roman" panose="02020603050405020304" pitchFamily="18" charset="0"/>
              </a:rPr>
              <a:t>: </a:t>
            </a:r>
            <a:r>
              <a:rPr lang="en-IN" sz="1400" dirty="0">
                <a:solidFill>
                  <a:schemeClr val="tx1"/>
                </a:solidFill>
                <a:latin typeface="Times New Roman" panose="02020603050405020304" pitchFamily="18" charset="0"/>
                <a:cs typeface="Times New Roman" panose="02020603050405020304" pitchFamily="18" charset="0"/>
                <a:hlinkClick r:id="rId5"/>
              </a:rPr>
              <a:t>https://arxiv.org/abs/2312.05671</a:t>
            </a:r>
            <a:r>
              <a:rPr lang="en-IN" sz="1400" dirty="0">
                <a:solidFill>
                  <a:schemeClr val="tx1"/>
                </a:solidFill>
                <a:latin typeface="Times New Roman" panose="02020603050405020304" pitchFamily="18" charset="0"/>
                <a:cs typeface="Times New Roman" panose="02020603050405020304" pitchFamily="18" charset="0"/>
              </a:rPr>
              <a:t> </a:t>
            </a:r>
          </a:p>
          <a:p>
            <a:pPr lvl="0" algn="l" rtl="0">
              <a:lnSpc>
                <a:spcPct val="115000"/>
              </a:lnSpc>
              <a:spcBef>
                <a:spcPts val="0"/>
              </a:spcBef>
              <a:spcAft>
                <a:spcPts val="0"/>
              </a:spcAft>
              <a:buSzPct val="108108"/>
              <a:buFont typeface="+mj-lt"/>
              <a:buAutoNum type="arabicPeriod" startAt="6"/>
            </a:pPr>
            <a:r>
              <a:rPr lang="en-IN" sz="1400" dirty="0" err="1">
                <a:solidFill>
                  <a:schemeClr val="tx1"/>
                </a:solidFill>
                <a:latin typeface="Times New Roman" panose="02020603050405020304" pitchFamily="18" charset="0"/>
                <a:cs typeface="Times New Roman" panose="02020603050405020304" pitchFamily="18" charset="0"/>
              </a:rPr>
              <a:t>DravidianLangTech</a:t>
            </a:r>
            <a:r>
              <a:rPr lang="en-IN" sz="1400" dirty="0">
                <a:solidFill>
                  <a:schemeClr val="tx1"/>
                </a:solidFill>
                <a:latin typeface="Times New Roman" panose="02020603050405020304" pitchFamily="18" charset="0"/>
                <a:cs typeface="Times New Roman" panose="02020603050405020304" pitchFamily="18" charset="0"/>
              </a:rPr>
              <a:t> 2025 Overview: Towards Safer Social </a:t>
            </a:r>
            <a:r>
              <a:rPr lang="en-IN" sz="1400" dirty="0" err="1">
                <a:solidFill>
                  <a:schemeClr val="tx1"/>
                </a:solidFill>
                <a:latin typeface="Times New Roman" panose="02020603050405020304" pitchFamily="18" charset="0"/>
                <a:cs typeface="Times New Roman" panose="02020603050405020304" pitchFamily="18" charset="0"/>
              </a:rPr>
              <a:t>MediaACL</a:t>
            </a:r>
            <a:r>
              <a:rPr lang="en-IN" sz="1400" dirty="0">
                <a:solidFill>
                  <a:schemeClr val="tx1"/>
                </a:solidFill>
                <a:latin typeface="Times New Roman" panose="02020603050405020304" pitchFamily="18" charset="0"/>
                <a:cs typeface="Times New Roman" panose="02020603050405020304" pitchFamily="18" charset="0"/>
              </a:rPr>
              <a:t> </a:t>
            </a:r>
            <a:r>
              <a:rPr lang="en-IN" sz="1400" dirty="0" err="1">
                <a:solidFill>
                  <a:schemeClr val="tx1"/>
                </a:solidFill>
                <a:latin typeface="Times New Roman" panose="02020603050405020304" pitchFamily="18" charset="0"/>
                <a:cs typeface="Times New Roman" panose="02020603050405020304" pitchFamily="18" charset="0"/>
              </a:rPr>
              <a:t>DravidianLangTech</a:t>
            </a:r>
            <a:r>
              <a:rPr lang="en-IN" sz="1400" dirty="0">
                <a:solidFill>
                  <a:schemeClr val="tx1"/>
                </a:solidFill>
                <a:latin typeface="Times New Roman" panose="02020603050405020304" pitchFamily="18" charset="0"/>
                <a:cs typeface="Times New Roman" panose="02020603050405020304" pitchFamily="18" charset="0"/>
              </a:rPr>
              <a:t> Workshop, 2025.  </a:t>
            </a:r>
            <a:r>
              <a:rPr lang="en-IN" sz="1400" dirty="0" err="1">
                <a:solidFill>
                  <a:schemeClr val="tx1"/>
                </a:solidFill>
                <a:latin typeface="Times New Roman" panose="02020603050405020304" pitchFamily="18" charset="0"/>
                <a:cs typeface="Times New Roman" panose="02020603050405020304" pitchFamily="18" charset="0"/>
              </a:rPr>
              <a:t>doi</a:t>
            </a:r>
            <a:r>
              <a:rPr lang="en-IN" sz="1400" dirty="0">
                <a:solidFill>
                  <a:schemeClr val="tx1"/>
                </a:solidFill>
                <a:latin typeface="Times New Roman" panose="02020603050405020304" pitchFamily="18" charset="0"/>
                <a:cs typeface="Times New Roman" panose="02020603050405020304" pitchFamily="18" charset="0"/>
              </a:rPr>
              <a:t>: </a:t>
            </a:r>
            <a:r>
              <a:rPr lang="en-IN" sz="1400" dirty="0">
                <a:solidFill>
                  <a:schemeClr val="tx1"/>
                </a:solidFill>
                <a:latin typeface="Times New Roman" panose="02020603050405020304" pitchFamily="18" charset="0"/>
                <a:cs typeface="Times New Roman" panose="02020603050405020304" pitchFamily="18" charset="0"/>
                <a:hlinkClick r:id="rId6"/>
              </a:rPr>
              <a:t>https://aclanthology.org/2025.dravidianlangtech-1.62.pdf</a:t>
            </a:r>
            <a:r>
              <a:rPr lang="en-IN" sz="1400" dirty="0">
                <a:solidFill>
                  <a:schemeClr val="tx1"/>
                </a:solidFill>
                <a:latin typeface="Times New Roman" panose="02020603050405020304" pitchFamily="18" charset="0"/>
                <a:cs typeface="Times New Roman" panose="02020603050405020304" pitchFamily="18" charset="0"/>
              </a:rPr>
              <a:t> </a:t>
            </a:r>
          </a:p>
          <a:p>
            <a:pPr lvl="0" algn="l" rtl="0">
              <a:lnSpc>
                <a:spcPct val="115000"/>
              </a:lnSpc>
              <a:spcBef>
                <a:spcPts val="0"/>
              </a:spcBef>
              <a:spcAft>
                <a:spcPts val="0"/>
              </a:spcAft>
              <a:buSzPct val="108108"/>
              <a:buFont typeface="+mj-lt"/>
              <a:buAutoNum type="arabicPeriod" startAt="6"/>
            </a:pPr>
            <a:r>
              <a:rPr lang="en-US" sz="1400" dirty="0">
                <a:solidFill>
                  <a:schemeClr val="tx1"/>
                </a:solidFill>
                <a:latin typeface="Times New Roman" panose="02020603050405020304" pitchFamily="18" charset="0"/>
                <a:cs typeface="Times New Roman" panose="02020603050405020304" pitchFamily="18" charset="0"/>
              </a:rPr>
              <a:t>Overview of Abusive Comment Detection in </a:t>
            </a:r>
            <a:r>
              <a:rPr lang="en-US" sz="1400" dirty="0" err="1">
                <a:solidFill>
                  <a:schemeClr val="tx1"/>
                </a:solidFill>
                <a:latin typeface="Times New Roman" panose="02020603050405020304" pitchFamily="18" charset="0"/>
                <a:cs typeface="Times New Roman" panose="02020603050405020304" pitchFamily="18" charset="0"/>
              </a:rPr>
              <a:t>TamilACL</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DravidianLangTech</a:t>
            </a:r>
            <a:r>
              <a:rPr lang="en-US" sz="1400" dirty="0">
                <a:solidFill>
                  <a:schemeClr val="tx1"/>
                </a:solidFill>
                <a:latin typeface="Times New Roman" panose="02020603050405020304" pitchFamily="18" charset="0"/>
                <a:cs typeface="Times New Roman" panose="02020603050405020304" pitchFamily="18" charset="0"/>
              </a:rPr>
              <a:t>, 2022.                                     </a:t>
            </a:r>
            <a:r>
              <a:rPr lang="en-US" sz="1400" dirty="0" err="1">
                <a:solidFill>
                  <a:schemeClr val="tx1"/>
                </a:solidFill>
                <a:latin typeface="Times New Roman" panose="02020603050405020304" pitchFamily="18" charset="0"/>
                <a:cs typeface="Times New Roman" panose="02020603050405020304" pitchFamily="18" charset="0"/>
              </a:rPr>
              <a:t>doi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hlinkClick r:id="rId7"/>
              </a:rPr>
              <a:t>https://aclanthology.org/2022.dravidianlangtech-1.44.pdf</a:t>
            </a:r>
            <a:r>
              <a:rPr lang="en-US" sz="1400" dirty="0">
                <a:solidFill>
                  <a:schemeClr val="tx1"/>
                </a:solidFill>
                <a:latin typeface="Times New Roman" panose="02020603050405020304" pitchFamily="18" charset="0"/>
                <a:cs typeface="Times New Roman" panose="02020603050405020304" pitchFamily="18" charset="0"/>
              </a:rPr>
              <a:t> </a:t>
            </a:r>
          </a:p>
          <a:p>
            <a:pPr marL="114300" lvl="0" indent="0" algn="l" rtl="0">
              <a:lnSpc>
                <a:spcPct val="115000"/>
              </a:lnSpc>
              <a:spcBef>
                <a:spcPts val="0"/>
              </a:spcBef>
              <a:spcAft>
                <a:spcPts val="0"/>
              </a:spcAft>
              <a:buSzPct val="108108"/>
              <a:buNone/>
            </a:pPr>
            <a:endParaRPr sz="1400" dirty="0">
              <a:solidFill>
                <a:schemeClr val="tx1"/>
              </a:solidFill>
              <a:latin typeface="Times New Roman" panose="02020603050405020304" pitchFamily="18" charset="0"/>
              <a:cs typeface="Times New Roman" panose="02020603050405020304" pitchFamily="18" charset="0"/>
            </a:endParaRPr>
          </a:p>
        </p:txBody>
      </p:sp>
      <p:sp>
        <p:nvSpPr>
          <p:cNvPr id="185" name="Google Shape;185;p18"/>
          <p:cNvSpPr txBox="1">
            <a:spLocks noGrp="1"/>
          </p:cNvSpPr>
          <p:nvPr>
            <p:ph type="sldNum" idx="12"/>
          </p:nvPr>
        </p:nvSpPr>
        <p:spPr>
          <a:xfrm>
            <a:off x="8684345" y="4700819"/>
            <a:ext cx="336813" cy="318396"/>
          </a:xfrm>
          <a:prstGeom prst="rect">
            <a:avLst/>
          </a:prstGeom>
          <a:noFill/>
          <a:ln>
            <a:noFill/>
          </a:ln>
        </p:spPr>
        <p:txBody>
          <a:bodyPr spcFirstLastPara="1" wrap="square" lIns="91400" tIns="91400" rIns="91400" bIns="91400" anchor="ctr" anchorCtr="0">
            <a:normAutofit fontScale="92500" lnSpcReduction="10000"/>
          </a:bodyPr>
          <a:lstStyle/>
          <a:p>
            <a:pPr marL="0" lvl="0" indent="0" algn="r" rtl="0">
              <a:lnSpc>
                <a:spcPct val="100000"/>
              </a:lnSpc>
              <a:spcBef>
                <a:spcPts val="0"/>
              </a:spcBef>
              <a:spcAft>
                <a:spcPts val="0"/>
              </a:spcAft>
              <a:buSzPct val="108108"/>
              <a:buNone/>
            </a:pPr>
            <a:fld id="{00000000-1234-1234-1234-123412341234}" type="slidenum">
              <a:rPr lang="en-US"/>
              <a:t>27</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1077</TotalTime>
  <Words>2242</Words>
  <Application>Microsoft Office PowerPoint</Application>
  <PresentationFormat>On-screen Show (16:9)</PresentationFormat>
  <Paragraphs>246</Paragraphs>
  <Slides>27</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Times New Roman</vt:lpstr>
      <vt:lpstr>Simple Light</vt:lpstr>
      <vt:lpstr>   Gokaraju Rangaraju Institute of Engineering and Technology  (Autonomous) Department of CSE(AI&amp;ML)  PROJECT WORK PHASE-1  (GR22A4082) Academic Year 2025-2026</vt:lpstr>
      <vt:lpstr>1. Introduction</vt:lpstr>
      <vt:lpstr>1. Introduction (contd…)</vt:lpstr>
      <vt:lpstr>2. Problem Statement</vt:lpstr>
      <vt:lpstr>3. Abstract</vt:lpstr>
      <vt:lpstr>4. Objectives of the Project </vt:lpstr>
      <vt:lpstr>PowerPoint Presentation</vt:lpstr>
      <vt:lpstr>PowerPoint Presentation</vt:lpstr>
      <vt:lpstr>PowerPoint Presentation</vt:lpstr>
      <vt:lpstr>6. Software &amp; Hardware Requirements</vt:lpstr>
      <vt:lpstr>6. Software &amp; Hardware Requirements (contd…)</vt:lpstr>
      <vt:lpstr>7. Proposed Method: Architectural Diagram</vt:lpstr>
      <vt:lpstr>System Architecture Overview</vt:lpstr>
      <vt:lpstr>8. Proposed Method: Modules</vt:lpstr>
      <vt:lpstr>Module -1: Data Ingestion &amp; Storage 📥</vt:lpstr>
      <vt:lpstr>Module - 2: Automated Classification &amp; Visualization 🤖</vt:lpstr>
      <vt:lpstr>Module - 3: Manual Moderation &amp; Feedback Loop 👨‍⚖️</vt:lpstr>
      <vt:lpstr>Module - 4: Model Improvement &amp; System Summary 📈</vt:lpstr>
      <vt:lpstr>9. Proposed Method: Experimental Results</vt:lpstr>
      <vt:lpstr>9. Proposed Method: Experimental Results</vt:lpstr>
      <vt:lpstr>9. Proposed Method: Experimental Results</vt:lpstr>
      <vt:lpstr>9. Proposed Method: Experimental Results</vt:lpstr>
      <vt:lpstr>9. Proposed Method: Experimental Results</vt:lpstr>
      <vt:lpstr>9. Proposed Method: Experimental Results</vt:lpstr>
      <vt:lpstr>10. Test Cases for the Project</vt:lpstr>
      <vt:lpstr>11.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Rangu Ravikumar</cp:lastModifiedBy>
  <cp:revision>137</cp:revision>
  <dcterms:created xsi:type="dcterms:W3CDTF">2023-10-06T13:16:31Z</dcterms:created>
  <dcterms:modified xsi:type="dcterms:W3CDTF">2025-12-05T16:50:38Z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690FDD37806748AD98CE74F8DD4F34F9</vt:lpwstr>
  </property>
  <property fmtid="{D5CDD505-2E9C-101B-9397-08002B2CF9AE}" pid="3" name="KSOProductBuildVer">
    <vt:lpwstr>1033-11.2.0.11225</vt:lpwstr>
  </property>
</Properties>
</file>